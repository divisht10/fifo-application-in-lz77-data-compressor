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Central thesis: LZ77's sliding window is literally a FIFO queue, so this project builds a small library of FIFOs (sync, async/CDC, streaming) and uses them as the engine for an LZ77 codec implemented twice — a C reference model and synthesizable Verilog. Everything is verified by self-checking testbenches under Icarus Verilog via a single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acts: (A) the LZ77 algorithm, (B) the FIFO building blocks the design is made of, and (C) tying them together into a working LZ77 compressor in software and hardware, then verifying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LZ77 is lossless: it never discards information, it just avoids repeating it. A window slides over the stream; the left part (search buffer) is history already seen, the right part (look-ahead) is upcoming bytes. When the look-ahead repeats something in history, we emit an (offset, length, next_char) token instead of raw bytes. Here 'abra' in the look-ahead already appears 7 positions back, so it is coded as copy-4-from-7.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of the C demo (SEARCH=LOOKAHEAD=15). First three bytes are literals (empty/no-match history). Token 4 copies one 'a' from 3 back. The payoff is the last token: 'abra' at the end already occurred at the start, so it is coded as copy-4-from-7-back — one 3-byte token replaces four bytes. Cursor always advances by length+1 (the match plus the breaking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for the whole FIFO library. A naive array implementation shifts all stored bytes every time a new one arrives — O(n) per byte and lots of needless toggling. A circular FIFO leaves the data in place and just advances a write and read pointer: O(1) enqueue/dequeue, ideal for streaming. This is why the project treats the FIFO as the central building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Simplest FIFO: one clock. Storage is a register array; a write and a read pointer index it. The clever bit is the wrap bit — pointers are one bit wider than the address, so when the low bits match you tell full from empty by whether the extra MSB differs. The read is registered, so dout is valid the cycle after rd_en. Depth must be a power of two for this MSB trick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self-checking testbench pushes a known sequence, then reads it back, asserting full and empty behave correctly and that writes/reads stall at the boundaries. The waveform is an illustrative timing diagram (the repo simulates under Icarus Verilog): three writes load D0-D2; because the read is registered, dout appears one clock after rd_en. empty deasserts once data is present and reasserts after the buffer drains; full never triggers here since depth &gt;&gt;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producer and consumer run on different clocks you cannot compare pointers directly — sampling a multi-bit binary pointer mid-transition gives garbage. The fix (Cliff Cummings' design): convert pointers to Gray code so exactly one bit changes per increment, then pass them through two-flop synchronizers into the other domain. Worst case you read a pointer one step stale, which is safe. Modules: fifomem, wptr_full, rptr_empty, sync_w2r, sync_r2w.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two clocks. Data is written on the faster wclk; the read side runs on a slower rclk. The read side cannot pop a byte until the Gray-coded write pointer has propagated through its two-flop synchronizer — that is the CDC latency between rempty deasserting and the write. The testbench streams a burst in and drains it out, checking every byte crosses intact and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plain sync/async FIFOs assume power-of-two depth because they exploit natural binary overflow of the wrap bit. The revised versions relax that: they keep an explicit occupancy count and roll the pointer over at DEPTH. Full is count==DEPTH, empty is count==0 — exact for any depth. Ports and behaviour are otherwise identical, so it is a drop-in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revised async FIFO combines both hard requirements: arbitrary depth AND clock-domain crossing. It keeps the two-flop Gray synchronizers (never compromising metastability safety) but uses depth-aware full detection. Practical caveat: the revised modules deliberately keep the same names as the originals, so you must not link both into one sim — the Makefile handles this by compiling each testbench against only the files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comparison slide. Sync is the cheapest for a same-clock buffer. Async adds Gray coding and two-flop synchronizers to bridge clock domains, at higher complexity. The revised variants trade the neat power-of-two trick for an explicit count so they handle any depth. Which to pick follows directly from two questions: one clock or two, and is the depth a power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streaming FIFO wraps the same ring buffer in a valid/ready handshake. s_ready is just ~full, m_valid is ~empty, and a transfer happens only when both valid and ready are high — that gives automatic backpressure. First-word-fall-through means data is presented combinationally with zero read latency, ideal for chaining blocks. It also carries a last bit so end-of-stream propagates. This is what lets compressor → FIFO → decompressor be chained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handshake: a byte transfers only on clocks where both valid and ready are asserted. When s_ready goes low (the shaded stall), the producer holds D2 — nothing is dropped, it just waits until ready returns. m_valid tracks data availability on the output side. The last pulse rides with the final byte so downstream logic knows the stream 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comes first as the golden reference. The matching loop is the heart of it: for each history position, count how far the look-ahead keeps matching, keep the strictly-longest match, then advance the cursor by length+1. Three programs: a token-dump demo, a version that makes the FIFO-as-window explicit, and lz77_robust.c which self-verifies via a compress/decompress round-trip. The classic RTL is byte-for-byte compatible with lz77_robust.c.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streaming compressor as a pipeline: bytes enter through a stream FIFO (backpressure), a search engine scans the history window for the longest prefix of the look-ahead, the best (offset,length) is tracked, and a token generator emits offset, length and the breaking character. Crucially only a sliding window is stored — no whole frame is buffered. State: hist[] history window, look[] look-ahead, and their counters. Default sizes shown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compressor is a small FSM: FILL the look-ahead, SEARCH history for the longest match, then E0/E1/E2 emit offset, length and next_char across three handshake beats, ADV slides the window by length+1, and it loops (DONE on the final token). The clever RTL line is the match source: for k&lt;d it reads history, otherwise it reads the look-ahead itself — that is what makes overlap (length&gt;offset, i.e. run-length) matches work, since the decoder copies one byte per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tb_lz77_stream.v wires the whole streaming path — compressor, stream FIFO, decompressor — and drives it with clock/reset, a byte stream with last, and a toggling m_ready to force backpressure stalls. Being self-checking, it reconstructs the data and asserts it equals the original, printing ROUND-TRIP OK. The whole repo builds and verifies under Icarus Verilog with a single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slide: the streaming compressor caught mid-operation on the abracadabra tail. The look-ahead FILLs, the FSM enters SEARCH and finds 'abra' four bytes back, then across three handshake beats (E0/E1/E2) it emits offset=7, length=4 and the next character, with m_last flagging end-of-stream. Four labelled phases map the waveform to the FSM. (Illustrative timing; the design simulates under Icarus Verilog.)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diagram tying it together. Data flows in through the stream FIFO, populates the sliding window (history + look-ahead), the matching engine finds the longest match, and every match becomes the three token fields offset/length/next_char that form the compressed output. On the left, the C model is the golden reference; on the right, the classic codec's on-wire format (4-byte length + 3-byte tokens), with the overlap case handled by copying one byte per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project set out to build is verified. All four FIFO variants pass their self-checking benches; the streaming FIFO's handshake and backpressure work; the C reference round-trips including the tricky overlap case; both RTL codecs pass; the classic codec is byte-exact against the C golden model; and the streaming path runs continuously with no whole-frame buffering. A single make reproduces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The project delivered a reusable, self-verified FIFO library; a C golden model that fixes exact behaviour; two synthesizable LZ77 codecs that match it byte-for-byte; and complete end-to-end verification via one make. The unifying idea throughout: the LZ77 sliding window is a FIFO, so getting the FIFOs right is most of the compressor.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directions in three buckets. Performance: pipeline and parallelize the matching engine toward real-time line-rate compression. Ratio: a bigger search window plus a Huffman entropy back-end would push this toward a DEFLATE-style pipeline. Silicon: take the RTL through FPGA implementation (Fmax, resource use) and eventually an ASIC-hardened compression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2A"/>
          </a:solidFill>
          <a:ln/>
        </p:spPr>
      </p:sp>
      <p:sp>
        <p:nvSpPr>
          <p:cNvPr id="3" name="Shape 1"/>
          <p:cNvSpPr/>
          <p:nvPr/>
        </p:nvSpPr>
        <p:spPr>
          <a:xfrm>
            <a:off x="566928" y="640080"/>
            <a:ext cx="310896" cy="310896"/>
          </a:xfrm>
          <a:prstGeom prst="roundRect">
            <a:avLst>
              <a:gd name="adj" fmla="val 22000"/>
            </a:avLst>
          </a:prstGeom>
          <a:solidFill>
            <a:srgbClr val="18C2B8"/>
          </a:solidFill>
          <a:ln w="17780">
            <a:solidFill>
              <a:srgbClr val="18C2B8"/>
            </a:solidFill>
            <a:prstDash val="solid"/>
          </a:ln>
        </p:spPr>
      </p:sp>
      <p:sp>
        <p:nvSpPr>
          <p:cNvPr id="4" name="Shape 2"/>
          <p:cNvSpPr/>
          <p:nvPr/>
        </p:nvSpPr>
        <p:spPr>
          <a:xfrm>
            <a:off x="1005840" y="640080"/>
            <a:ext cx="310896" cy="310896"/>
          </a:xfrm>
          <a:prstGeom prst="roundRect">
            <a:avLst>
              <a:gd name="adj" fmla="val 22000"/>
            </a:avLst>
          </a:prstGeom>
          <a:solidFill>
            <a:srgbClr val="18C2B8"/>
          </a:solidFill>
          <a:ln w="17780">
            <a:solidFill>
              <a:srgbClr val="18C2B8"/>
            </a:solidFill>
            <a:prstDash val="solid"/>
          </a:ln>
        </p:spPr>
      </p:sp>
      <p:sp>
        <p:nvSpPr>
          <p:cNvPr id="5" name="Shape 3"/>
          <p:cNvSpPr/>
          <p:nvPr/>
        </p:nvSpPr>
        <p:spPr>
          <a:xfrm>
            <a:off x="1444752" y="640080"/>
            <a:ext cx="310896" cy="310896"/>
          </a:xfrm>
          <a:prstGeom prst="roundRect">
            <a:avLst>
              <a:gd name="adj" fmla="val 22000"/>
            </a:avLst>
          </a:prstGeom>
          <a:solidFill>
            <a:srgbClr val="18C2B8"/>
          </a:solidFill>
          <a:ln w="17780">
            <a:solidFill>
              <a:srgbClr val="18C2B8"/>
            </a:solidFill>
            <a:prstDash val="solid"/>
          </a:ln>
        </p:spPr>
      </p:sp>
      <p:sp>
        <p:nvSpPr>
          <p:cNvPr id="6" name="Shape 4"/>
          <p:cNvSpPr/>
          <p:nvPr/>
        </p:nvSpPr>
        <p:spPr>
          <a:xfrm>
            <a:off x="1883664" y="640080"/>
            <a:ext cx="310896" cy="310896"/>
          </a:xfrm>
          <a:prstGeom prst="roundRect">
            <a:avLst>
              <a:gd name="adj" fmla="val 22000"/>
            </a:avLst>
          </a:prstGeom>
          <a:solidFill>
            <a:srgbClr val="18C2B8"/>
          </a:solidFill>
          <a:ln w="17780">
            <a:solidFill>
              <a:srgbClr val="18C2B8"/>
            </a:solidFill>
            <a:prstDash val="solid"/>
          </a:ln>
        </p:spPr>
      </p:sp>
      <p:sp>
        <p:nvSpPr>
          <p:cNvPr id="7" name="Shape 5"/>
          <p:cNvSpPr/>
          <p:nvPr/>
        </p:nvSpPr>
        <p:spPr>
          <a:xfrm>
            <a:off x="2322576" y="640080"/>
            <a:ext cx="310896" cy="310896"/>
          </a:xfrm>
          <a:prstGeom prst="roundRect">
            <a:avLst>
              <a:gd name="adj" fmla="val 22000"/>
            </a:avLst>
          </a:prstGeom>
          <a:solidFill>
            <a:srgbClr val="FFFFFF">
              <a:alpha val="0"/>
            </a:srgbClr>
          </a:solidFill>
          <a:ln w="17780">
            <a:solidFill>
              <a:srgbClr val="18C2B8"/>
            </a:solidFill>
            <a:prstDash val="solid"/>
          </a:ln>
        </p:spPr>
      </p:sp>
      <p:sp>
        <p:nvSpPr>
          <p:cNvPr id="8" name="Shape 6"/>
          <p:cNvSpPr/>
          <p:nvPr/>
        </p:nvSpPr>
        <p:spPr>
          <a:xfrm>
            <a:off x="2761488" y="640080"/>
            <a:ext cx="310896" cy="310896"/>
          </a:xfrm>
          <a:prstGeom prst="roundRect">
            <a:avLst>
              <a:gd name="adj" fmla="val 22000"/>
            </a:avLst>
          </a:prstGeom>
          <a:solidFill>
            <a:srgbClr val="FFFFFF">
              <a:alpha val="0"/>
            </a:srgbClr>
          </a:solidFill>
          <a:ln w="17780">
            <a:solidFill>
              <a:srgbClr val="18C2B8"/>
            </a:solidFill>
            <a:prstDash val="solid"/>
          </a:ln>
        </p:spPr>
      </p:sp>
      <p:sp>
        <p:nvSpPr>
          <p:cNvPr id="9" name="Shape 7"/>
          <p:cNvSpPr/>
          <p:nvPr/>
        </p:nvSpPr>
        <p:spPr>
          <a:xfrm>
            <a:off x="8869680" y="5074920"/>
            <a:ext cx="603504" cy="603504"/>
          </a:xfrm>
          <a:prstGeom prst="roundRect">
            <a:avLst>
              <a:gd name="adj" fmla="val 21212"/>
            </a:avLst>
          </a:prstGeom>
          <a:solidFill>
            <a:srgbClr val="18C2B8">
              <a:alpha val="45000"/>
            </a:srgbClr>
          </a:solidFill>
          <a:ln w="12700">
            <a:solidFill>
              <a:srgbClr val="2C4C68"/>
            </a:solidFill>
            <a:prstDash val="solid"/>
          </a:ln>
        </p:spPr>
      </p:sp>
      <p:sp>
        <p:nvSpPr>
          <p:cNvPr id="10" name="Shape 8"/>
          <p:cNvSpPr/>
          <p:nvPr/>
        </p:nvSpPr>
        <p:spPr>
          <a:xfrm>
            <a:off x="9582912" y="5074920"/>
            <a:ext cx="603504" cy="603504"/>
          </a:xfrm>
          <a:prstGeom prst="roundRect">
            <a:avLst>
              <a:gd name="adj" fmla="val 21212"/>
            </a:avLst>
          </a:prstGeom>
          <a:solidFill>
            <a:srgbClr val="16324F">
              <a:alpha val="65000"/>
            </a:srgbClr>
          </a:solidFill>
          <a:ln w="12700">
            <a:solidFill>
              <a:srgbClr val="2C4C68"/>
            </a:solidFill>
            <a:prstDash val="solid"/>
          </a:ln>
        </p:spPr>
      </p:sp>
      <p:sp>
        <p:nvSpPr>
          <p:cNvPr id="11" name="Shape 9"/>
          <p:cNvSpPr/>
          <p:nvPr/>
        </p:nvSpPr>
        <p:spPr>
          <a:xfrm>
            <a:off x="10296144" y="5074920"/>
            <a:ext cx="603504" cy="603504"/>
          </a:xfrm>
          <a:prstGeom prst="roundRect">
            <a:avLst>
              <a:gd name="adj" fmla="val 21212"/>
            </a:avLst>
          </a:prstGeom>
          <a:solidFill>
            <a:srgbClr val="16324F">
              <a:alpha val="65000"/>
            </a:srgbClr>
          </a:solidFill>
          <a:ln w="12700">
            <a:solidFill>
              <a:srgbClr val="2C4C68"/>
            </a:solidFill>
            <a:prstDash val="solid"/>
          </a:ln>
        </p:spPr>
      </p:sp>
      <p:sp>
        <p:nvSpPr>
          <p:cNvPr id="12" name="Shape 10"/>
          <p:cNvSpPr/>
          <p:nvPr/>
        </p:nvSpPr>
        <p:spPr>
          <a:xfrm>
            <a:off x="11009376" y="5074920"/>
            <a:ext cx="603504" cy="603504"/>
          </a:xfrm>
          <a:prstGeom prst="roundRect">
            <a:avLst>
              <a:gd name="adj" fmla="val 21212"/>
            </a:avLst>
          </a:prstGeom>
          <a:solidFill>
            <a:srgbClr val="18C2B8">
              <a:alpha val="45000"/>
            </a:srgbClr>
          </a:solidFill>
          <a:ln w="12700">
            <a:solidFill>
              <a:srgbClr val="2C4C68"/>
            </a:solidFill>
            <a:prstDash val="solid"/>
          </a:ln>
        </p:spPr>
      </p:sp>
      <p:sp>
        <p:nvSpPr>
          <p:cNvPr id="13" name="Shape 11"/>
          <p:cNvSpPr/>
          <p:nvPr/>
        </p:nvSpPr>
        <p:spPr>
          <a:xfrm>
            <a:off x="8869680" y="5788152"/>
            <a:ext cx="603504" cy="603504"/>
          </a:xfrm>
          <a:prstGeom prst="roundRect">
            <a:avLst>
              <a:gd name="adj" fmla="val 21212"/>
            </a:avLst>
          </a:prstGeom>
          <a:solidFill>
            <a:srgbClr val="16324F">
              <a:alpha val="65000"/>
            </a:srgbClr>
          </a:solidFill>
          <a:ln w="12700">
            <a:solidFill>
              <a:srgbClr val="2C4C68"/>
            </a:solidFill>
            <a:prstDash val="solid"/>
          </a:ln>
        </p:spPr>
      </p:sp>
      <p:sp>
        <p:nvSpPr>
          <p:cNvPr id="14" name="Shape 12"/>
          <p:cNvSpPr/>
          <p:nvPr/>
        </p:nvSpPr>
        <p:spPr>
          <a:xfrm>
            <a:off x="9582912" y="5788152"/>
            <a:ext cx="603504" cy="603504"/>
          </a:xfrm>
          <a:prstGeom prst="roundRect">
            <a:avLst>
              <a:gd name="adj" fmla="val 21212"/>
            </a:avLst>
          </a:prstGeom>
          <a:solidFill>
            <a:srgbClr val="16324F">
              <a:alpha val="65000"/>
            </a:srgbClr>
          </a:solidFill>
          <a:ln w="12700">
            <a:solidFill>
              <a:srgbClr val="2C4C68"/>
            </a:solidFill>
            <a:prstDash val="solid"/>
          </a:ln>
        </p:spPr>
      </p:sp>
      <p:sp>
        <p:nvSpPr>
          <p:cNvPr id="15" name="Shape 13"/>
          <p:cNvSpPr/>
          <p:nvPr/>
        </p:nvSpPr>
        <p:spPr>
          <a:xfrm>
            <a:off x="10296144" y="5788152"/>
            <a:ext cx="603504" cy="603504"/>
          </a:xfrm>
          <a:prstGeom prst="roundRect">
            <a:avLst>
              <a:gd name="adj" fmla="val 21212"/>
            </a:avLst>
          </a:prstGeom>
          <a:solidFill>
            <a:srgbClr val="18C2B8">
              <a:alpha val="45000"/>
            </a:srgbClr>
          </a:solidFill>
          <a:ln w="12700">
            <a:solidFill>
              <a:srgbClr val="2C4C68"/>
            </a:solidFill>
            <a:prstDash val="solid"/>
          </a:ln>
        </p:spPr>
      </p:sp>
      <p:sp>
        <p:nvSpPr>
          <p:cNvPr id="16" name="Text 14"/>
          <p:cNvSpPr/>
          <p:nvPr/>
        </p:nvSpPr>
        <p:spPr>
          <a:xfrm>
            <a:off x="566928" y="1417320"/>
            <a:ext cx="10058400" cy="310896"/>
          </a:xfrm>
          <a:prstGeom prst="rect">
            <a:avLst/>
          </a:prstGeom>
          <a:noFill/>
          <a:ln/>
        </p:spPr>
        <p:txBody>
          <a:bodyPr wrap="square" lIns="0" tIns="0" rIns="0" bIns="0" rtlCol="0" anchor="ctr"/>
          <a:lstStyle/>
          <a:p>
            <a:pPr indent="0" marL="0">
              <a:buNone/>
            </a:pPr>
            <a:r>
              <a:rPr lang="en-US" sz="1300" b="1" spc="300" kern="0" dirty="0">
                <a:solidFill>
                  <a:srgbClr val="18C2B8"/>
                </a:solidFill>
                <a:latin typeface="Calibri" pitchFamily="34" charset="0"/>
                <a:ea typeface="Calibri" pitchFamily="34" charset="-122"/>
                <a:cs typeface="Calibri" pitchFamily="34" charset="-120"/>
              </a:rPr>
              <a:t>HARDWARE DATA COMPRESSION  ·  RTL  ·  VLSI</a:t>
            </a:r>
            <a:endParaRPr lang="en-US" sz="1300" dirty="0"/>
          </a:p>
        </p:txBody>
      </p:sp>
      <p:sp>
        <p:nvSpPr>
          <p:cNvPr id="17" name="Text 15"/>
          <p:cNvSpPr/>
          <p:nvPr/>
        </p:nvSpPr>
        <p:spPr>
          <a:xfrm>
            <a:off x="548640" y="1783080"/>
            <a:ext cx="10607040" cy="1737360"/>
          </a:xfrm>
          <a:prstGeom prst="rect">
            <a:avLst/>
          </a:prstGeom>
          <a:noFill/>
          <a:ln/>
        </p:spPr>
        <p:txBody>
          <a:bodyPr wrap="square" lIns="0" tIns="0" rIns="0" bIns="0" rtlCol="0" anchor="ctr"/>
          <a:lstStyle/>
          <a:p>
            <a:pPr indent="0" marL="0">
              <a:lnSpc>
                <a:spcPct val="98000"/>
              </a:lnSpc>
              <a:buNone/>
            </a:pPr>
            <a:r>
              <a:rPr lang="en-US" sz="4600" b="1" dirty="0">
                <a:solidFill>
                  <a:srgbClr val="FFFFFF"/>
                </a:solidFill>
                <a:latin typeface="Cambria" pitchFamily="34" charset="0"/>
                <a:ea typeface="Cambria" pitchFamily="34" charset="-122"/>
                <a:cs typeface="Cambria" pitchFamily="34" charset="-120"/>
              </a:rPr>
              <a:t>FIFO-Based Hardware Implementation of an LZ77 Data Compressor</a:t>
            </a:r>
            <a:endParaRPr lang="en-US" sz="4600" dirty="0"/>
          </a:p>
        </p:txBody>
      </p:sp>
      <p:sp>
        <p:nvSpPr>
          <p:cNvPr id="18" name="Text 16"/>
          <p:cNvSpPr/>
          <p:nvPr/>
        </p:nvSpPr>
        <p:spPr>
          <a:xfrm>
            <a:off x="566928" y="3611880"/>
            <a:ext cx="9966960" cy="640080"/>
          </a:xfrm>
          <a:prstGeom prst="rect">
            <a:avLst/>
          </a:prstGeom>
          <a:noFill/>
          <a:ln/>
        </p:spPr>
        <p:txBody>
          <a:bodyPr wrap="square" lIns="0" tIns="0" rIns="0" bIns="0" rtlCol="0" anchor="ctr"/>
          <a:lstStyle/>
          <a:p>
            <a:pPr indent="0" marL="0">
              <a:buNone/>
            </a:pPr>
            <a:r>
              <a:rPr lang="en-US" sz="1650" dirty="0">
                <a:solidFill>
                  <a:srgbClr val="C7D6E4"/>
                </a:solidFill>
                <a:latin typeface="Calibri" pitchFamily="34" charset="0"/>
                <a:ea typeface="Calibri" pitchFamily="34" charset="-122"/>
                <a:cs typeface="Calibri" pitchFamily="34" charset="-120"/>
              </a:rPr>
              <a:t>The sliding window </a:t>
            </a:r>
            <a:pPr indent="0" marL="0">
              <a:buNone/>
            </a:pPr>
            <a:r>
              <a:rPr lang="en-US" sz="1650" b="1" i="1" dirty="0">
                <a:solidFill>
                  <a:srgbClr val="F4A825"/>
                </a:solidFill>
                <a:latin typeface="Calibri" pitchFamily="34" charset="0"/>
                <a:ea typeface="Calibri" pitchFamily="34" charset="-122"/>
                <a:cs typeface="Calibri" pitchFamily="34" charset="-120"/>
              </a:rPr>
              <a:t>is</a:t>
            </a:r>
            <a:pPr indent="0" marL="0">
              <a:buNone/>
            </a:pPr>
            <a:r>
              <a:rPr lang="en-US" sz="1650" dirty="0">
                <a:solidFill>
                  <a:srgbClr val="C7D6E4"/>
                </a:solidFill>
                <a:latin typeface="Calibri" pitchFamily="34" charset="0"/>
                <a:ea typeface="Calibri" pitchFamily="34" charset="-122"/>
                <a:cs typeface="Calibri" pitchFamily="34" charset="-120"/>
              </a:rPr>
              <a:t> a FIFO — a reusable FIFO library driving an LZ77 codec in C and synthesizable Verilog.</a:t>
            </a:r>
            <a:endParaRPr lang="en-US" sz="1650" dirty="0"/>
          </a:p>
        </p:txBody>
      </p:sp>
      <p:sp>
        <p:nvSpPr>
          <p:cNvPr id="19" name="Shape 17"/>
          <p:cNvSpPr/>
          <p:nvPr/>
        </p:nvSpPr>
        <p:spPr>
          <a:xfrm>
            <a:off x="566928" y="4892040"/>
            <a:ext cx="6309360" cy="1234440"/>
          </a:xfrm>
          <a:prstGeom prst="roundRect">
            <a:avLst>
              <a:gd name="adj" fmla="val 7407"/>
            </a:avLst>
          </a:prstGeom>
          <a:solidFill>
            <a:srgbClr val="12283D"/>
          </a:solidFill>
          <a:ln w="12700">
            <a:solidFill>
              <a:srgbClr val="274863"/>
            </a:solidFill>
            <a:prstDash val="solid"/>
          </a:ln>
          <a:effectLst>
            <a:outerShdw sx="100000" sy="100000" kx="0" ky="0" algn="bl" rotWithShape="0" blurRad="127000" dist="38100" dir="5400000">
              <a:srgbClr val="000000">
                <a:alpha val="35000"/>
              </a:srgbClr>
            </a:outerShdw>
          </a:effectLst>
        </p:spPr>
      </p:sp>
      <p:sp>
        <p:nvSpPr>
          <p:cNvPr id="20" name="Text 18"/>
          <p:cNvSpPr/>
          <p:nvPr/>
        </p:nvSpPr>
        <p:spPr>
          <a:xfrm>
            <a:off x="822960" y="5047488"/>
            <a:ext cx="5486400" cy="237744"/>
          </a:xfrm>
          <a:prstGeom prst="rect">
            <a:avLst/>
          </a:prstGeom>
          <a:noFill/>
          <a:ln/>
        </p:spPr>
        <p:txBody>
          <a:bodyPr wrap="square" lIns="0" tIns="0" rIns="0" bIns="0" rtlCol="0" anchor="ctr"/>
          <a:lstStyle/>
          <a:p>
            <a:pPr indent="0" marL="0">
              <a:buNone/>
            </a:pPr>
            <a:r>
              <a:rPr lang="en-US" sz="1050" b="1" spc="200" kern="0" dirty="0">
                <a:solidFill>
                  <a:srgbClr val="18C2B8"/>
                </a:solidFill>
                <a:latin typeface="Calibri" pitchFamily="34" charset="0"/>
                <a:ea typeface="Calibri" pitchFamily="34" charset="-122"/>
                <a:cs typeface="Calibri" pitchFamily="34" charset="-120"/>
              </a:rPr>
              <a:t>PROJECT AUTHORS</a:t>
            </a:r>
            <a:endParaRPr lang="en-US" sz="1050" dirty="0"/>
          </a:p>
        </p:txBody>
      </p:sp>
      <p:sp>
        <p:nvSpPr>
          <p:cNvPr id="21" name="Text 19"/>
          <p:cNvSpPr/>
          <p:nvPr/>
        </p:nvSpPr>
        <p:spPr>
          <a:xfrm>
            <a:off x="822960" y="5321808"/>
            <a:ext cx="5669280" cy="731520"/>
          </a:xfrm>
          <a:prstGeom prst="rect">
            <a:avLst/>
          </a:prstGeom>
          <a:noFill/>
          <a:ln/>
        </p:spPr>
        <p:txBody>
          <a:bodyPr wrap="square" lIns="0" tIns="0" rIns="0" bIns="0" rtlCol="0" anchor="ctr"/>
          <a:lstStyle/>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Divisht Dahiya</a:t>
            </a:r>
            <a:pPr indent="0" marL="0">
              <a:lnSpc>
                <a:spcPct val="115000"/>
              </a:lnSpc>
              <a:buNone/>
            </a:pPr>
            <a:r>
              <a:rPr lang="en-US" sz="1500" dirty="0">
                <a:solidFill>
                  <a:srgbClr val="9DB4C7"/>
                </a:solidFill>
                <a:latin typeface="Calibri" pitchFamily="34" charset="0"/>
                <a:ea typeface="Calibri" pitchFamily="34" charset="-122"/>
                <a:cs typeface="Calibri" pitchFamily="34" charset="-120"/>
              </a:rPr>
              <a:t>   IIT Gandhinagar</a:t>
            </a:r>
            <a:pPr indent="0" marL="0">
              <a:lnSpc>
                <a:spcPct val="115000"/>
              </a:lnSpc>
              <a:buNone/>
            </a:pPr>
            <a:r>
              <a:rPr lang="en-US" sz="1500" dirty="0">
                <a:solidFill>
                  <a:srgbClr val="000000"/>
                </a:solidFill>
                <a:latin typeface="Calibri" pitchFamily="34" charset="0"/>
                <a:ea typeface="Calibri" pitchFamily="34" charset="-122"/>
                <a:cs typeface="Calibri" pitchFamily="34" charset="-120"/>
              </a:rPr>
              <a:t>
</a:t>
            </a:r>
            <a:endParaRPr lang="en-US" sz="1500" dirty="0"/>
          </a:p>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Aryan Mor</a:t>
            </a:r>
            <a:pPr indent="0" marL="0">
              <a:lnSpc>
                <a:spcPct val="115000"/>
              </a:lnSpc>
              <a:buNone/>
            </a:pPr>
            <a:r>
              <a:rPr lang="en-US" sz="1500" dirty="0">
                <a:solidFill>
                  <a:srgbClr val="9DB4C7"/>
                </a:solidFill>
                <a:latin typeface="Calibri" pitchFamily="34" charset="0"/>
                <a:ea typeface="Calibri" pitchFamily="34" charset="-122"/>
                <a:cs typeface="Calibri" pitchFamily="34" charset="-120"/>
              </a:rPr>
              <a:t>   NIT Kurukshetra</a:t>
            </a:r>
            <a:endParaRPr lang="en-US" sz="1500" dirty="0"/>
          </a:p>
        </p:txBody>
      </p:sp>
      <p:sp>
        <p:nvSpPr>
          <p:cNvPr id="22" name="Shape 20"/>
          <p:cNvSpPr/>
          <p:nvPr/>
        </p:nvSpPr>
        <p:spPr>
          <a:xfrm>
            <a:off x="7360920" y="5074920"/>
            <a:ext cx="1417320" cy="365760"/>
          </a:xfrm>
          <a:prstGeom prst="roundRect">
            <a:avLst>
              <a:gd name="adj" fmla="val 50000"/>
            </a:avLst>
          </a:prstGeom>
          <a:solidFill>
            <a:srgbClr val="14A8A0"/>
          </a:solidFill>
          <a:ln/>
        </p:spPr>
      </p:sp>
      <p:sp>
        <p:nvSpPr>
          <p:cNvPr id="23" name="Text 21"/>
          <p:cNvSpPr/>
          <p:nvPr/>
        </p:nvSpPr>
        <p:spPr>
          <a:xfrm>
            <a:off x="7360920" y="5074920"/>
            <a:ext cx="14173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Verilog RTL</a:t>
            </a:r>
            <a:endParaRPr lang="en-US" sz="1100" dirty="0"/>
          </a:p>
        </p:txBody>
      </p:sp>
      <p:sp>
        <p:nvSpPr>
          <p:cNvPr id="24" name="Shape 22"/>
          <p:cNvSpPr/>
          <p:nvPr/>
        </p:nvSpPr>
        <p:spPr>
          <a:xfrm>
            <a:off x="8887968" y="5074920"/>
            <a:ext cx="914400" cy="365760"/>
          </a:xfrm>
          <a:prstGeom prst="roundRect">
            <a:avLst>
              <a:gd name="adj" fmla="val 50000"/>
            </a:avLst>
          </a:prstGeom>
          <a:solidFill>
            <a:srgbClr val="1B3A5B"/>
          </a:solidFill>
          <a:ln/>
        </p:spPr>
      </p:sp>
      <p:sp>
        <p:nvSpPr>
          <p:cNvPr id="25" name="Text 23"/>
          <p:cNvSpPr/>
          <p:nvPr/>
        </p:nvSpPr>
        <p:spPr>
          <a:xfrm>
            <a:off x="8887968" y="5074920"/>
            <a:ext cx="914400" cy="365760"/>
          </a:xfrm>
          <a:prstGeom prst="rect">
            <a:avLst/>
          </a:prstGeom>
          <a:noFill/>
          <a:ln/>
        </p:spPr>
        <p:txBody>
          <a:bodyPr wrap="square" lIns="0" tIns="0" rIns="0" bIns="0" rtlCol="0" anchor="ctr"/>
          <a:lstStyle/>
          <a:p>
            <a:pPr algn="ctr" indent="0" marL="0">
              <a:buNone/>
            </a:pPr>
            <a:r>
              <a:rPr lang="en-US" sz="1100" b="1" dirty="0">
                <a:solidFill>
                  <a:srgbClr val="CFE6E4"/>
                </a:solidFill>
                <a:latin typeface="Calibri" pitchFamily="34" charset="0"/>
                <a:ea typeface="Calibri" pitchFamily="34" charset="-122"/>
                <a:cs typeface="Calibri" pitchFamily="34" charset="-120"/>
              </a:rPr>
              <a:t>C model</a:t>
            </a:r>
            <a:endParaRPr lang="en-US" sz="1100" dirty="0"/>
          </a:p>
        </p:txBody>
      </p:sp>
      <p:sp>
        <p:nvSpPr>
          <p:cNvPr id="26" name="Shape 24"/>
          <p:cNvSpPr/>
          <p:nvPr/>
        </p:nvSpPr>
        <p:spPr>
          <a:xfrm>
            <a:off x="9893808" y="5074920"/>
            <a:ext cx="1737360" cy="365760"/>
          </a:xfrm>
          <a:prstGeom prst="roundRect">
            <a:avLst>
              <a:gd name="adj" fmla="val 50000"/>
            </a:avLst>
          </a:prstGeom>
          <a:solidFill>
            <a:srgbClr val="1B3A5B"/>
          </a:solidFill>
          <a:ln/>
        </p:spPr>
      </p:sp>
      <p:sp>
        <p:nvSpPr>
          <p:cNvPr id="27" name="Text 25"/>
          <p:cNvSpPr/>
          <p:nvPr/>
        </p:nvSpPr>
        <p:spPr>
          <a:xfrm>
            <a:off x="9893808" y="5074920"/>
            <a:ext cx="1737360" cy="365760"/>
          </a:xfrm>
          <a:prstGeom prst="rect">
            <a:avLst/>
          </a:prstGeom>
          <a:noFill/>
          <a:ln/>
        </p:spPr>
        <p:txBody>
          <a:bodyPr wrap="square" lIns="0" tIns="0" rIns="0" bIns="0" rtlCol="0" anchor="ctr"/>
          <a:lstStyle/>
          <a:p>
            <a:pPr algn="ctr" indent="0" marL="0">
              <a:buNone/>
            </a:pPr>
            <a:r>
              <a:rPr lang="en-US" sz="1100" b="1" dirty="0">
                <a:solidFill>
                  <a:srgbClr val="CFE6E4"/>
                </a:solidFill>
                <a:latin typeface="Calibri" pitchFamily="34" charset="0"/>
                <a:ea typeface="Calibri" pitchFamily="34" charset="-122"/>
                <a:cs typeface="Calibri" pitchFamily="34" charset="-120"/>
              </a:rPr>
              <a:t>Icarus Verilog</a:t>
            </a:r>
            <a:endParaRPr lang="en-US" sz="1100" dirty="0"/>
          </a:p>
        </p:txBody>
      </p:sp>
      <p:sp>
        <p:nvSpPr>
          <p:cNvPr id="28" name="Shape 26"/>
          <p:cNvSpPr/>
          <p:nvPr/>
        </p:nvSpPr>
        <p:spPr>
          <a:xfrm>
            <a:off x="7360920" y="5559552"/>
            <a:ext cx="1874520" cy="365760"/>
          </a:xfrm>
          <a:prstGeom prst="roundRect">
            <a:avLst>
              <a:gd name="adj" fmla="val 50000"/>
            </a:avLst>
          </a:prstGeom>
          <a:solidFill>
            <a:srgbClr val="1B3A5B"/>
          </a:solidFill>
          <a:ln/>
        </p:spPr>
      </p:sp>
      <p:sp>
        <p:nvSpPr>
          <p:cNvPr id="29" name="Text 27"/>
          <p:cNvSpPr/>
          <p:nvPr/>
        </p:nvSpPr>
        <p:spPr>
          <a:xfrm>
            <a:off x="7360920" y="5559552"/>
            <a:ext cx="1874520" cy="365760"/>
          </a:xfrm>
          <a:prstGeom prst="rect">
            <a:avLst/>
          </a:prstGeom>
          <a:noFill/>
          <a:ln/>
        </p:spPr>
        <p:txBody>
          <a:bodyPr wrap="square" lIns="0" tIns="0" rIns="0" bIns="0" rtlCol="0" anchor="ctr"/>
          <a:lstStyle/>
          <a:p>
            <a:pPr algn="ctr" indent="0" marL="0">
              <a:buNone/>
            </a:pPr>
            <a:r>
              <a:rPr lang="en-US" sz="1100" b="1" dirty="0">
                <a:solidFill>
                  <a:srgbClr val="CFE6E4"/>
                </a:solidFill>
                <a:latin typeface="Calibri" pitchFamily="34" charset="0"/>
                <a:ea typeface="Calibri" pitchFamily="34" charset="-122"/>
                <a:cs typeface="Calibri" pitchFamily="34" charset="-120"/>
              </a:rPr>
              <a:t>self-checking TBs</a:t>
            </a:r>
            <a:endParaRPr lang="en-US" sz="1100" dirty="0"/>
          </a:p>
        </p:txBody>
      </p:sp>
      <p:sp>
        <p:nvSpPr>
          <p:cNvPr id="30" name="Shape 28"/>
          <p:cNvSpPr/>
          <p:nvPr/>
        </p:nvSpPr>
        <p:spPr>
          <a:xfrm>
            <a:off x="9345168" y="5559552"/>
            <a:ext cx="2286000" cy="365760"/>
          </a:xfrm>
          <a:prstGeom prst="roundRect">
            <a:avLst>
              <a:gd name="adj" fmla="val 50000"/>
            </a:avLst>
          </a:prstGeom>
          <a:solidFill>
            <a:srgbClr val="1B3A5B"/>
          </a:solidFill>
          <a:ln/>
        </p:spPr>
      </p:sp>
      <p:sp>
        <p:nvSpPr>
          <p:cNvPr id="31" name="Text 29"/>
          <p:cNvSpPr/>
          <p:nvPr/>
        </p:nvSpPr>
        <p:spPr>
          <a:xfrm>
            <a:off x="9345168" y="5559552"/>
            <a:ext cx="2286000" cy="365760"/>
          </a:xfrm>
          <a:prstGeom prst="rect">
            <a:avLst/>
          </a:prstGeom>
          <a:noFill/>
          <a:ln/>
        </p:spPr>
        <p:txBody>
          <a:bodyPr wrap="square" lIns="0" tIns="0" rIns="0" bIns="0" rtlCol="0" anchor="ctr"/>
          <a:lstStyle/>
          <a:p>
            <a:pPr algn="ctr" indent="0" marL="0">
              <a:buNone/>
            </a:pPr>
            <a:r>
              <a:rPr lang="en-US" sz="1100" b="1" dirty="0">
                <a:solidFill>
                  <a:srgbClr val="CFE6E4"/>
                </a:solidFill>
                <a:latin typeface="Calibri" pitchFamily="34" charset="0"/>
                <a:ea typeface="Calibri" pitchFamily="34" charset="-122"/>
                <a:cs typeface="Calibri" pitchFamily="34" charset="-120"/>
              </a:rPr>
              <a:t>single-command  make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ROADMAP</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Agenda</a:t>
            </a:r>
            <a:endParaRPr lang="en-US" sz="3100" dirty="0"/>
          </a:p>
        </p:txBody>
      </p:sp>
      <p:sp>
        <p:nvSpPr>
          <p:cNvPr id="5" name="Shape 3"/>
          <p:cNvSpPr/>
          <p:nvPr/>
        </p:nvSpPr>
        <p:spPr>
          <a:xfrm>
            <a:off x="9966960" y="457200"/>
            <a:ext cx="237744" cy="237744"/>
          </a:xfrm>
          <a:prstGeom prst="roundRect">
            <a:avLst>
              <a:gd name="adj" fmla="val 22000"/>
            </a:avLst>
          </a:prstGeom>
          <a:solidFill>
            <a:srgbClr val="14A8A0"/>
          </a:solidFill>
          <a:ln w="17780">
            <a:solidFill>
              <a:srgbClr val="14A8A0"/>
            </a:solidFill>
            <a:prstDash val="solid"/>
          </a:ln>
        </p:spPr>
      </p:sp>
      <p:sp>
        <p:nvSpPr>
          <p:cNvPr id="6" name="Shape 4"/>
          <p:cNvSpPr/>
          <p:nvPr/>
        </p:nvSpPr>
        <p:spPr>
          <a:xfrm>
            <a:off x="10296144" y="457200"/>
            <a:ext cx="237744" cy="237744"/>
          </a:xfrm>
          <a:prstGeom prst="roundRect">
            <a:avLst>
              <a:gd name="adj" fmla="val 22000"/>
            </a:avLst>
          </a:prstGeom>
          <a:solidFill>
            <a:srgbClr val="14A8A0"/>
          </a:solidFill>
          <a:ln w="17780">
            <a:solidFill>
              <a:srgbClr val="14A8A0"/>
            </a:solidFill>
            <a:prstDash val="solid"/>
          </a:ln>
        </p:spPr>
      </p:sp>
      <p:sp>
        <p:nvSpPr>
          <p:cNvPr id="7" name="Shape 5"/>
          <p:cNvSpPr/>
          <p:nvPr/>
        </p:nvSpPr>
        <p:spPr>
          <a:xfrm>
            <a:off x="10625328" y="457200"/>
            <a:ext cx="237744" cy="237744"/>
          </a:xfrm>
          <a:prstGeom prst="roundRect">
            <a:avLst>
              <a:gd name="adj" fmla="val 22000"/>
            </a:avLst>
          </a:prstGeom>
          <a:solidFill>
            <a:srgbClr val="14A8A0"/>
          </a:solidFill>
          <a:ln w="17780">
            <a:solidFill>
              <a:srgbClr val="14A8A0"/>
            </a:solidFill>
            <a:prstDash val="solid"/>
          </a:ln>
        </p:spPr>
      </p:sp>
      <p:sp>
        <p:nvSpPr>
          <p:cNvPr id="8" name="Shape 6"/>
          <p:cNvSpPr/>
          <p:nvPr/>
        </p:nvSpPr>
        <p:spPr>
          <a:xfrm>
            <a:off x="10954512" y="457200"/>
            <a:ext cx="237744" cy="237744"/>
          </a:xfrm>
          <a:prstGeom prst="roundRect">
            <a:avLst>
              <a:gd name="adj" fmla="val 22000"/>
            </a:avLst>
          </a:prstGeom>
          <a:solidFill>
            <a:srgbClr val="FFFFFF">
              <a:alpha val="0"/>
            </a:srgbClr>
          </a:solidFill>
          <a:ln w="17780">
            <a:solidFill>
              <a:srgbClr val="14A8A0"/>
            </a:solidFill>
            <a:prstDash val="solid"/>
          </a:ln>
        </p:spPr>
      </p:sp>
      <p:sp>
        <p:nvSpPr>
          <p:cNvPr id="9" name="Shape 7"/>
          <p:cNvSpPr/>
          <p:nvPr/>
        </p:nvSpPr>
        <p:spPr>
          <a:xfrm>
            <a:off x="11283696" y="457200"/>
            <a:ext cx="237744" cy="237744"/>
          </a:xfrm>
          <a:prstGeom prst="roundRect">
            <a:avLst>
              <a:gd name="adj" fmla="val 22000"/>
            </a:avLst>
          </a:prstGeom>
          <a:solidFill>
            <a:srgbClr val="FFFFFF">
              <a:alpha val="0"/>
            </a:srgbClr>
          </a:solidFill>
          <a:ln w="17780">
            <a:solidFill>
              <a:srgbClr val="14A8A0"/>
            </a:solidFill>
            <a:prstDash val="solid"/>
          </a:ln>
        </p:spPr>
      </p:sp>
      <p:sp>
        <p:nvSpPr>
          <p:cNvPr id="10" name="Shape 8"/>
          <p:cNvSpPr/>
          <p:nvPr/>
        </p:nvSpPr>
        <p:spPr>
          <a:xfrm>
            <a:off x="566928" y="1600200"/>
            <a:ext cx="3529584" cy="4160520"/>
          </a:xfrm>
          <a:prstGeom prst="roundRect">
            <a:avLst>
              <a:gd name="adj" fmla="val 3109"/>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11" name="Shape 9"/>
          <p:cNvSpPr/>
          <p:nvPr/>
        </p:nvSpPr>
        <p:spPr>
          <a:xfrm>
            <a:off x="566928" y="1600200"/>
            <a:ext cx="3529584" cy="868680"/>
          </a:xfrm>
          <a:prstGeom prst="roundRect">
            <a:avLst>
              <a:gd name="adj" fmla="val 12632"/>
            </a:avLst>
          </a:prstGeom>
          <a:solidFill>
            <a:srgbClr val="14A8A0"/>
          </a:solidFill>
          <a:ln/>
        </p:spPr>
      </p:sp>
      <p:sp>
        <p:nvSpPr>
          <p:cNvPr id="12" name="Shape 10"/>
          <p:cNvSpPr/>
          <p:nvPr/>
        </p:nvSpPr>
        <p:spPr>
          <a:xfrm>
            <a:off x="566928" y="2148840"/>
            <a:ext cx="3529584" cy="320040"/>
          </a:xfrm>
          <a:prstGeom prst="rect">
            <a:avLst/>
          </a:prstGeom>
          <a:solidFill>
            <a:srgbClr val="14A8A0"/>
          </a:solidFill>
          <a:ln/>
        </p:spPr>
      </p:sp>
      <p:sp>
        <p:nvSpPr>
          <p:cNvPr id="13" name="Text 11"/>
          <p:cNvSpPr/>
          <p:nvPr/>
        </p:nvSpPr>
        <p:spPr>
          <a:xfrm>
            <a:off x="822960" y="1764792"/>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a:t>
            </a:r>
            <a:endParaRPr lang="en-US" sz="2600" dirty="0"/>
          </a:p>
        </p:txBody>
      </p:sp>
      <p:sp>
        <p:nvSpPr>
          <p:cNvPr id="14" name="Text 12"/>
          <p:cNvSpPr/>
          <p:nvPr/>
        </p:nvSpPr>
        <p:spPr>
          <a:xfrm>
            <a:off x="1435608" y="1764792"/>
            <a:ext cx="2523744"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Algorithm</a:t>
            </a:r>
            <a:endParaRPr lang="en-US" sz="1800" dirty="0"/>
          </a:p>
        </p:txBody>
      </p:sp>
      <p:sp>
        <p:nvSpPr>
          <p:cNvPr id="15" name="Text 13"/>
          <p:cNvSpPr/>
          <p:nvPr/>
        </p:nvSpPr>
        <p:spPr>
          <a:xfrm>
            <a:off x="859536" y="2743200"/>
            <a:ext cx="2980944" cy="27889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Introduction to data compression</a:t>
            </a:r>
            <a:endParaRPr lang="en-US" sz="1350" dirty="0"/>
          </a:p>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The LZ77 sliding-window scheme</a:t>
            </a:r>
            <a:endParaRPr lang="en-US" sz="1350" dirty="0"/>
          </a:p>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Worked example &amp; token grammar</a:t>
            </a:r>
            <a:endParaRPr lang="en-US" sz="1350" dirty="0"/>
          </a:p>
        </p:txBody>
      </p:sp>
      <p:sp>
        <p:nvSpPr>
          <p:cNvPr id="16" name="Shape 14"/>
          <p:cNvSpPr/>
          <p:nvPr/>
        </p:nvSpPr>
        <p:spPr>
          <a:xfrm>
            <a:off x="4370832" y="1600200"/>
            <a:ext cx="3529584" cy="4160520"/>
          </a:xfrm>
          <a:prstGeom prst="roundRect">
            <a:avLst>
              <a:gd name="adj" fmla="val 3109"/>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17" name="Shape 15"/>
          <p:cNvSpPr/>
          <p:nvPr/>
        </p:nvSpPr>
        <p:spPr>
          <a:xfrm>
            <a:off x="4370832" y="1600200"/>
            <a:ext cx="3529584" cy="868680"/>
          </a:xfrm>
          <a:prstGeom prst="roundRect">
            <a:avLst>
              <a:gd name="adj" fmla="val 12632"/>
            </a:avLst>
          </a:prstGeom>
          <a:solidFill>
            <a:srgbClr val="F4A825"/>
          </a:solidFill>
          <a:ln/>
        </p:spPr>
      </p:sp>
      <p:sp>
        <p:nvSpPr>
          <p:cNvPr id="18" name="Shape 16"/>
          <p:cNvSpPr/>
          <p:nvPr/>
        </p:nvSpPr>
        <p:spPr>
          <a:xfrm>
            <a:off x="4370832" y="2148840"/>
            <a:ext cx="3529584" cy="320040"/>
          </a:xfrm>
          <a:prstGeom prst="rect">
            <a:avLst/>
          </a:prstGeom>
          <a:solidFill>
            <a:srgbClr val="F4A825"/>
          </a:solidFill>
          <a:ln/>
        </p:spPr>
      </p:sp>
      <p:sp>
        <p:nvSpPr>
          <p:cNvPr id="19" name="Text 17"/>
          <p:cNvSpPr/>
          <p:nvPr/>
        </p:nvSpPr>
        <p:spPr>
          <a:xfrm>
            <a:off x="4626864" y="1764792"/>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B</a:t>
            </a:r>
            <a:endParaRPr lang="en-US" sz="2600" dirty="0"/>
          </a:p>
        </p:txBody>
      </p:sp>
      <p:sp>
        <p:nvSpPr>
          <p:cNvPr id="20" name="Text 18"/>
          <p:cNvSpPr/>
          <p:nvPr/>
        </p:nvSpPr>
        <p:spPr>
          <a:xfrm>
            <a:off x="5239512" y="1764792"/>
            <a:ext cx="2523744"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FIFO Building Blocks</a:t>
            </a:r>
            <a:endParaRPr lang="en-US" sz="1800" dirty="0"/>
          </a:p>
        </p:txBody>
      </p:sp>
      <p:sp>
        <p:nvSpPr>
          <p:cNvPr id="21" name="Text 19"/>
          <p:cNvSpPr/>
          <p:nvPr/>
        </p:nvSpPr>
        <p:spPr>
          <a:xfrm>
            <a:off x="4663440" y="2743200"/>
            <a:ext cx="2980944" cy="27889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Why a FIFO? (vs. array shifting)</a:t>
            </a:r>
            <a:endParaRPr lang="en-US" sz="1350" dirty="0"/>
          </a:p>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Synchronous &amp; Asynchronous FIFO</a:t>
            </a:r>
            <a:endParaRPr lang="en-US" sz="1350" dirty="0"/>
          </a:p>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Revised (arbitrary-depth) FIFOs</a:t>
            </a:r>
            <a:endParaRPr lang="en-US" sz="1350" dirty="0"/>
          </a:p>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Comparison  ·  Stream (valid/ready) FIFO</a:t>
            </a:r>
            <a:endParaRPr lang="en-US" sz="1350" dirty="0"/>
          </a:p>
        </p:txBody>
      </p:sp>
      <p:sp>
        <p:nvSpPr>
          <p:cNvPr id="22" name="Shape 20"/>
          <p:cNvSpPr/>
          <p:nvPr/>
        </p:nvSpPr>
        <p:spPr>
          <a:xfrm>
            <a:off x="8174736" y="1600200"/>
            <a:ext cx="3529584" cy="4160520"/>
          </a:xfrm>
          <a:prstGeom prst="roundRect">
            <a:avLst>
              <a:gd name="adj" fmla="val 3109"/>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23" name="Shape 21"/>
          <p:cNvSpPr/>
          <p:nvPr/>
        </p:nvSpPr>
        <p:spPr>
          <a:xfrm>
            <a:off x="8174736" y="1600200"/>
            <a:ext cx="3529584" cy="868680"/>
          </a:xfrm>
          <a:prstGeom prst="roundRect">
            <a:avLst>
              <a:gd name="adj" fmla="val 12632"/>
            </a:avLst>
          </a:prstGeom>
          <a:solidFill>
            <a:srgbClr val="1B3A5B"/>
          </a:solidFill>
          <a:ln/>
        </p:spPr>
      </p:sp>
      <p:sp>
        <p:nvSpPr>
          <p:cNvPr id="24" name="Shape 22"/>
          <p:cNvSpPr/>
          <p:nvPr/>
        </p:nvSpPr>
        <p:spPr>
          <a:xfrm>
            <a:off x="8174736" y="2148840"/>
            <a:ext cx="3529584" cy="320040"/>
          </a:xfrm>
          <a:prstGeom prst="rect">
            <a:avLst/>
          </a:prstGeom>
          <a:solidFill>
            <a:srgbClr val="1B3A5B"/>
          </a:solidFill>
          <a:ln/>
        </p:spPr>
      </p:sp>
      <p:sp>
        <p:nvSpPr>
          <p:cNvPr id="25" name="Text 23"/>
          <p:cNvSpPr/>
          <p:nvPr/>
        </p:nvSpPr>
        <p:spPr>
          <a:xfrm>
            <a:off x="8430768" y="1764792"/>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C</a:t>
            </a:r>
            <a:endParaRPr lang="en-US" sz="2600" dirty="0"/>
          </a:p>
        </p:txBody>
      </p:sp>
      <p:sp>
        <p:nvSpPr>
          <p:cNvPr id="26" name="Text 24"/>
          <p:cNvSpPr/>
          <p:nvPr/>
        </p:nvSpPr>
        <p:spPr>
          <a:xfrm>
            <a:off x="9043416" y="1764792"/>
            <a:ext cx="2523744"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LZ77 Implementation</a:t>
            </a:r>
            <a:endParaRPr lang="en-US" sz="1800" dirty="0"/>
          </a:p>
        </p:txBody>
      </p:sp>
      <p:sp>
        <p:nvSpPr>
          <p:cNvPr id="27" name="Text 25"/>
          <p:cNvSpPr/>
          <p:nvPr/>
        </p:nvSpPr>
        <p:spPr>
          <a:xfrm>
            <a:off x="8467344" y="2743200"/>
            <a:ext cx="2980944" cy="27889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C software reference model</a:t>
            </a:r>
            <a:endParaRPr lang="en-US" sz="1350" dirty="0"/>
          </a:p>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Hardware LZ77 stream compressor</a:t>
            </a:r>
            <a:endParaRPr lang="en-US" sz="1350" dirty="0"/>
          </a:p>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RTL, testbenches &amp; simulation</a:t>
            </a:r>
            <a:endParaRPr lang="en-US" sz="1350" dirty="0"/>
          </a:p>
          <a:p>
            <a:pPr marL="177800" indent="-177800">
              <a:spcAft>
                <a:spcPts val="900"/>
              </a:spcAft>
              <a:buSzPct val="100000"/>
              <a:buChar char="•"/>
            </a:pPr>
            <a:r>
              <a:rPr lang="en-US" sz="1350" dirty="0">
                <a:solidFill>
                  <a:srgbClr val="16324F"/>
                </a:solidFill>
                <a:latin typeface="Calibri" pitchFamily="34" charset="0"/>
                <a:ea typeface="Calibri" pitchFamily="34" charset="-122"/>
                <a:cs typeface="Calibri" pitchFamily="34" charset="-120"/>
              </a:rPr>
              <a:t>Results  ·  Conclusion  ·  Future scope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THE ALGORITHM</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What is LZ77?</a:t>
            </a:r>
            <a:endParaRPr lang="en-US" sz="3100" dirty="0"/>
          </a:p>
        </p:txBody>
      </p:sp>
      <p:sp>
        <p:nvSpPr>
          <p:cNvPr id="5" name="Shape 3"/>
          <p:cNvSpPr/>
          <p:nvPr/>
        </p:nvSpPr>
        <p:spPr>
          <a:xfrm>
            <a:off x="566928" y="1645920"/>
            <a:ext cx="384048" cy="384048"/>
          </a:xfrm>
          <a:prstGeom prst="ellipse">
            <a:avLst/>
          </a:prstGeom>
          <a:solidFill>
            <a:srgbClr val="14A8A0"/>
          </a:solidFill>
          <a:ln/>
        </p:spPr>
      </p:sp>
      <p:sp>
        <p:nvSpPr>
          <p:cNvPr id="6" name="Text 4"/>
          <p:cNvSpPr/>
          <p:nvPr/>
        </p:nvSpPr>
        <p:spPr>
          <a:xfrm>
            <a:off x="566928" y="1636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133856" y="1600200"/>
            <a:ext cx="4160520" cy="292608"/>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Lossless</a:t>
            </a:r>
            <a:endParaRPr lang="en-US" sz="1600" dirty="0"/>
          </a:p>
        </p:txBody>
      </p:sp>
      <p:sp>
        <p:nvSpPr>
          <p:cNvPr id="8" name="Text 6"/>
          <p:cNvSpPr/>
          <p:nvPr/>
        </p:nvSpPr>
        <p:spPr>
          <a:xfrm>
            <a:off x="1133856" y="1901952"/>
            <a:ext cx="4160520" cy="566928"/>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Output decompresses to the exact original bytes — nothing is approximated.</a:t>
            </a:r>
            <a:endParaRPr lang="en-US" sz="1250" dirty="0"/>
          </a:p>
        </p:txBody>
      </p:sp>
      <p:sp>
        <p:nvSpPr>
          <p:cNvPr id="9" name="Shape 7"/>
          <p:cNvSpPr/>
          <p:nvPr/>
        </p:nvSpPr>
        <p:spPr>
          <a:xfrm>
            <a:off x="566928" y="2606040"/>
            <a:ext cx="384048" cy="384048"/>
          </a:xfrm>
          <a:prstGeom prst="ellipse">
            <a:avLst/>
          </a:prstGeom>
          <a:solidFill>
            <a:srgbClr val="14A8A0"/>
          </a:solidFill>
          <a:ln/>
        </p:spPr>
      </p:sp>
      <p:sp>
        <p:nvSpPr>
          <p:cNvPr id="10" name="Text 8"/>
          <p:cNvSpPr/>
          <p:nvPr/>
        </p:nvSpPr>
        <p:spPr>
          <a:xfrm>
            <a:off x="566928"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133856" y="2560320"/>
            <a:ext cx="4160520" cy="292608"/>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Sliding window</a:t>
            </a:r>
            <a:endParaRPr lang="en-US" sz="1600" dirty="0"/>
          </a:p>
        </p:txBody>
      </p:sp>
      <p:sp>
        <p:nvSpPr>
          <p:cNvPr id="12" name="Text 10"/>
          <p:cNvSpPr/>
          <p:nvPr/>
        </p:nvSpPr>
        <p:spPr>
          <a:xfrm>
            <a:off x="1133856" y="2862072"/>
            <a:ext cx="4160520" cy="566928"/>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A window slides across the stream; recently seen bytes stay available as a dictionary.</a:t>
            </a:r>
            <a:endParaRPr lang="en-US" sz="1250" dirty="0"/>
          </a:p>
        </p:txBody>
      </p:sp>
      <p:sp>
        <p:nvSpPr>
          <p:cNvPr id="13" name="Shape 11"/>
          <p:cNvSpPr/>
          <p:nvPr/>
        </p:nvSpPr>
        <p:spPr>
          <a:xfrm>
            <a:off x="566928" y="3566160"/>
            <a:ext cx="384048" cy="384048"/>
          </a:xfrm>
          <a:prstGeom prst="ellipse">
            <a:avLst/>
          </a:prstGeom>
          <a:solidFill>
            <a:srgbClr val="14A8A0"/>
          </a:solidFill>
          <a:ln/>
        </p:spPr>
      </p:sp>
      <p:sp>
        <p:nvSpPr>
          <p:cNvPr id="14" name="Text 12"/>
          <p:cNvSpPr/>
          <p:nvPr/>
        </p:nvSpPr>
        <p:spPr>
          <a:xfrm>
            <a:off x="566928" y="3557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133856" y="3520440"/>
            <a:ext cx="4160520" cy="292608"/>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Back-references</a:t>
            </a:r>
            <a:endParaRPr lang="en-US" sz="1600" dirty="0"/>
          </a:p>
        </p:txBody>
      </p:sp>
      <p:sp>
        <p:nvSpPr>
          <p:cNvPr id="16" name="Text 14"/>
          <p:cNvSpPr/>
          <p:nvPr/>
        </p:nvSpPr>
        <p:spPr>
          <a:xfrm>
            <a:off x="1133856" y="3822192"/>
            <a:ext cx="4160520" cy="566928"/>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Repeated strings are replaced by a pointer to an earlier copy, not stored again.</a:t>
            </a:r>
            <a:endParaRPr lang="en-US" sz="1250" dirty="0"/>
          </a:p>
        </p:txBody>
      </p:sp>
      <p:sp>
        <p:nvSpPr>
          <p:cNvPr id="17" name="Shape 15"/>
          <p:cNvSpPr/>
          <p:nvPr/>
        </p:nvSpPr>
        <p:spPr>
          <a:xfrm>
            <a:off x="566928" y="4709160"/>
            <a:ext cx="4709160" cy="1417320"/>
          </a:xfrm>
          <a:prstGeom prst="roundRect">
            <a:avLst>
              <a:gd name="adj" fmla="val 6452"/>
            </a:avLst>
          </a:prstGeom>
          <a:solidFill>
            <a:srgbClr val="0D1B2A"/>
          </a:solidFill>
          <a:ln/>
          <a:effectLst>
            <a:outerShdw sx="100000" sy="100000" kx="0" ky="0" algn="bl" rotWithShape="0" blurRad="114300" dist="38100" dir="5400000">
              <a:srgbClr val="1B3A5B">
                <a:alpha val="20000"/>
              </a:srgbClr>
            </a:outerShdw>
          </a:effectLst>
        </p:spPr>
      </p:sp>
      <p:sp>
        <p:nvSpPr>
          <p:cNvPr id="18" name="Text 16"/>
          <p:cNvSpPr/>
          <p:nvPr/>
        </p:nvSpPr>
        <p:spPr>
          <a:xfrm>
            <a:off x="841248" y="4846320"/>
            <a:ext cx="4160520" cy="256032"/>
          </a:xfrm>
          <a:prstGeom prst="rect">
            <a:avLst/>
          </a:prstGeom>
          <a:noFill/>
          <a:ln/>
        </p:spPr>
        <p:txBody>
          <a:bodyPr wrap="square" lIns="0" tIns="0" rIns="0" bIns="0" rtlCol="0" anchor="ctr"/>
          <a:lstStyle/>
          <a:p>
            <a:pPr indent="0" marL="0">
              <a:buNone/>
            </a:pPr>
            <a:r>
              <a:rPr lang="en-US" sz="1050" b="1" spc="150" kern="0" dirty="0">
                <a:solidFill>
                  <a:srgbClr val="18C2B8"/>
                </a:solidFill>
                <a:latin typeface="Calibri" pitchFamily="34" charset="0"/>
                <a:ea typeface="Calibri" pitchFamily="34" charset="-122"/>
                <a:cs typeface="Calibri" pitchFamily="34" charset="-120"/>
              </a:rPr>
              <a:t>EACH MATCH BECOMES ONE TOKEN</a:t>
            </a:r>
            <a:endParaRPr lang="en-US" sz="1050" dirty="0"/>
          </a:p>
        </p:txBody>
      </p:sp>
      <p:sp>
        <p:nvSpPr>
          <p:cNvPr id="19" name="Text 17"/>
          <p:cNvSpPr/>
          <p:nvPr/>
        </p:nvSpPr>
        <p:spPr>
          <a:xfrm>
            <a:off x="841248" y="5138928"/>
            <a:ext cx="4160520" cy="457200"/>
          </a:xfrm>
          <a:prstGeom prst="rect">
            <a:avLst/>
          </a:prstGeom>
          <a:noFill/>
          <a:ln/>
        </p:spPr>
        <p:txBody>
          <a:bodyPr wrap="square" lIns="0" tIns="0" rIns="0" bIns="0" rtlCol="0" anchor="ctr"/>
          <a:lstStyle/>
          <a:p>
            <a:pPr algn="ctr" indent="0" marL="0">
              <a:buNone/>
            </a:pPr>
            <a:r>
              <a:rPr lang="en-US" sz="2100" b="1" dirty="0">
                <a:solidFill>
                  <a:srgbClr val="F4A825"/>
                </a:solidFill>
                <a:latin typeface="Courier New" pitchFamily="34" charset="0"/>
                <a:ea typeface="Courier New" pitchFamily="34" charset="-122"/>
                <a:cs typeface="Courier New" pitchFamily="34" charset="-120"/>
              </a:rPr>
              <a:t>( offset</a:t>
            </a:r>
            <a:pPr algn="ctr" indent="0" marL="0">
              <a:buNone/>
            </a:pPr>
            <a:r>
              <a:rPr lang="en-US" sz="2100" dirty="0">
                <a:solidFill>
                  <a:srgbClr val="8FA6B8"/>
                </a:solidFill>
                <a:latin typeface="Courier New" pitchFamily="34" charset="0"/>
                <a:ea typeface="Courier New" pitchFamily="34" charset="-122"/>
                <a:cs typeface="Courier New" pitchFamily="34" charset="-120"/>
              </a:rPr>
              <a:t> , </a:t>
            </a:r>
            <a:pPr algn="ctr" indent="0" marL="0">
              <a:buNone/>
            </a:pPr>
            <a:r>
              <a:rPr lang="en-US" sz="2100" b="1" dirty="0">
                <a:solidFill>
                  <a:srgbClr val="18C2B8"/>
                </a:solidFill>
                <a:latin typeface="Courier New" pitchFamily="34" charset="0"/>
                <a:ea typeface="Courier New" pitchFamily="34" charset="-122"/>
                <a:cs typeface="Courier New" pitchFamily="34" charset="-120"/>
              </a:rPr>
              <a:t>length</a:t>
            </a:r>
            <a:pPr algn="ctr" indent="0" marL="0">
              <a:buNone/>
            </a:pPr>
            <a:r>
              <a:rPr lang="en-US" sz="2100" dirty="0">
                <a:solidFill>
                  <a:srgbClr val="8FA6B8"/>
                </a:solidFill>
                <a:latin typeface="Courier New" pitchFamily="34" charset="0"/>
                <a:ea typeface="Courier New" pitchFamily="34" charset="-122"/>
                <a:cs typeface="Courier New" pitchFamily="34" charset="-120"/>
              </a:rPr>
              <a:t> , </a:t>
            </a:r>
            <a:pPr algn="ctr" indent="0" marL="0">
              <a:buNone/>
            </a:pPr>
            <a:r>
              <a:rPr lang="en-US" sz="2100" b="1" dirty="0">
                <a:solidFill>
                  <a:srgbClr val="FFFFFF"/>
                </a:solidFill>
                <a:latin typeface="Courier New" pitchFamily="34" charset="0"/>
                <a:ea typeface="Courier New" pitchFamily="34" charset="-122"/>
                <a:cs typeface="Courier New" pitchFamily="34" charset="-120"/>
              </a:rPr>
              <a:t>next_char</a:t>
            </a:r>
            <a:pPr algn="ctr" indent="0" marL="0">
              <a:buNone/>
            </a:pPr>
            <a:r>
              <a:rPr lang="en-US" sz="2100" dirty="0">
                <a:solidFill>
                  <a:srgbClr val="8FA6B8"/>
                </a:solidFill>
                <a:latin typeface="Courier New" pitchFamily="34" charset="0"/>
                <a:ea typeface="Courier New" pitchFamily="34" charset="-122"/>
                <a:cs typeface="Courier New" pitchFamily="34" charset="-120"/>
              </a:rPr>
              <a:t> )</a:t>
            </a:r>
            <a:endParaRPr lang="en-US" sz="2100" dirty="0"/>
          </a:p>
        </p:txBody>
      </p:sp>
      <p:sp>
        <p:nvSpPr>
          <p:cNvPr id="20" name="Text 18"/>
          <p:cNvSpPr/>
          <p:nvPr/>
        </p:nvSpPr>
        <p:spPr>
          <a:xfrm>
            <a:off x="841248" y="5650992"/>
            <a:ext cx="4160520" cy="365760"/>
          </a:xfrm>
          <a:prstGeom prst="rect">
            <a:avLst/>
          </a:prstGeom>
          <a:noFill/>
          <a:ln/>
        </p:spPr>
        <p:txBody>
          <a:bodyPr wrap="square" lIns="0" tIns="0" rIns="0" bIns="0" rtlCol="0" anchor="ctr"/>
          <a:lstStyle/>
          <a:p>
            <a:pPr algn="ctr" indent="0" marL="0">
              <a:buNone/>
            </a:pPr>
            <a:r>
              <a:rPr lang="en-US" sz="1100" i="1" dirty="0">
                <a:solidFill>
                  <a:srgbClr val="9DB4C7"/>
                </a:solidFill>
                <a:latin typeface="Calibri" pitchFamily="34" charset="0"/>
                <a:ea typeface="Calibri" pitchFamily="34" charset="-122"/>
                <a:cs typeface="Calibri" pitchFamily="34" charset="-120"/>
              </a:rPr>
              <a:t>how far back  ·  how many bytes  ·  the byte that breaks the match</a:t>
            </a:r>
            <a:endParaRPr lang="en-US" sz="1100" dirty="0"/>
          </a:p>
        </p:txBody>
      </p:sp>
      <p:sp>
        <p:nvSpPr>
          <p:cNvPr id="21" name="Shape 19"/>
          <p:cNvSpPr/>
          <p:nvPr/>
        </p:nvSpPr>
        <p:spPr>
          <a:xfrm>
            <a:off x="5669280" y="1508760"/>
            <a:ext cx="5943600" cy="4160520"/>
          </a:xfrm>
          <a:prstGeom prst="roundRect">
            <a:avLst>
              <a:gd name="adj" fmla="val 263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22" name="Text 20"/>
          <p:cNvSpPr/>
          <p:nvPr/>
        </p:nvSpPr>
        <p:spPr>
          <a:xfrm>
            <a:off x="5989320" y="1645920"/>
            <a:ext cx="5303520" cy="320040"/>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The sliding window</a:t>
            </a:r>
            <a:endParaRPr lang="en-US" sz="1600" dirty="0"/>
          </a:p>
        </p:txBody>
      </p:sp>
      <p:sp>
        <p:nvSpPr>
          <p:cNvPr id="23" name="Shape 21"/>
          <p:cNvSpPr/>
          <p:nvPr/>
        </p:nvSpPr>
        <p:spPr>
          <a:xfrm>
            <a:off x="5998464" y="2423160"/>
            <a:ext cx="3310128" cy="384048"/>
          </a:xfrm>
          <a:prstGeom prst="roundRect">
            <a:avLst>
              <a:gd name="adj" fmla="val 14286"/>
            </a:avLst>
          </a:prstGeom>
          <a:solidFill>
            <a:srgbClr val="14A8A0">
              <a:alpha val="20000"/>
            </a:srgbClr>
          </a:solidFill>
          <a:ln/>
        </p:spPr>
      </p:sp>
      <p:sp>
        <p:nvSpPr>
          <p:cNvPr id="24" name="Shape 22"/>
          <p:cNvSpPr/>
          <p:nvPr/>
        </p:nvSpPr>
        <p:spPr>
          <a:xfrm>
            <a:off x="9198864" y="2423160"/>
            <a:ext cx="1938528" cy="384048"/>
          </a:xfrm>
          <a:prstGeom prst="roundRect">
            <a:avLst>
              <a:gd name="adj" fmla="val 14286"/>
            </a:avLst>
          </a:prstGeom>
          <a:solidFill>
            <a:srgbClr val="F4A825">
              <a:alpha val="20000"/>
            </a:srgbClr>
          </a:solidFill>
          <a:ln/>
        </p:spPr>
      </p:sp>
      <p:sp>
        <p:nvSpPr>
          <p:cNvPr id="25" name="Text 23"/>
          <p:cNvSpPr/>
          <p:nvPr/>
        </p:nvSpPr>
        <p:spPr>
          <a:xfrm>
            <a:off x="5998464" y="2423160"/>
            <a:ext cx="3310128" cy="384048"/>
          </a:xfrm>
          <a:prstGeom prst="rect">
            <a:avLst/>
          </a:prstGeom>
          <a:noFill/>
          <a:ln/>
        </p:spPr>
        <p:txBody>
          <a:bodyPr wrap="square" lIns="0" tIns="0" rIns="0" bIns="0" rtlCol="0" anchor="ctr"/>
          <a:lstStyle/>
          <a:p>
            <a:pPr algn="ctr" indent="0" marL="0">
              <a:buNone/>
            </a:pPr>
            <a:r>
              <a:rPr lang="en-US" sz="900" b="1" dirty="0">
                <a:solidFill>
                  <a:srgbClr val="0C7A76"/>
                </a:solidFill>
                <a:latin typeface="Calibri" pitchFamily="34" charset="0"/>
                <a:ea typeface="Calibri" pitchFamily="34" charset="-122"/>
                <a:cs typeface="Calibri" pitchFamily="34" charset="-120"/>
              </a:rPr>
              <a:t>SEARCH BUFFER (history)</a:t>
            </a:r>
            <a:endParaRPr lang="en-US" sz="900" dirty="0"/>
          </a:p>
        </p:txBody>
      </p:sp>
      <p:sp>
        <p:nvSpPr>
          <p:cNvPr id="26" name="Text 24"/>
          <p:cNvSpPr/>
          <p:nvPr/>
        </p:nvSpPr>
        <p:spPr>
          <a:xfrm>
            <a:off x="9198864" y="2423160"/>
            <a:ext cx="1938528" cy="384048"/>
          </a:xfrm>
          <a:prstGeom prst="rect">
            <a:avLst/>
          </a:prstGeom>
          <a:noFill/>
          <a:ln/>
        </p:spPr>
        <p:txBody>
          <a:bodyPr wrap="square" lIns="0" tIns="0" rIns="0" bIns="0" rtlCol="0" anchor="ctr"/>
          <a:lstStyle/>
          <a:p>
            <a:pPr algn="ctr" indent="0" marL="0">
              <a:buNone/>
            </a:pPr>
            <a:r>
              <a:rPr lang="en-US" sz="900" b="1" dirty="0">
                <a:solidFill>
                  <a:srgbClr val="B07A0E"/>
                </a:solidFill>
                <a:latin typeface="Calibri" pitchFamily="34" charset="0"/>
                <a:ea typeface="Calibri" pitchFamily="34" charset="-122"/>
                <a:cs typeface="Calibri" pitchFamily="34" charset="-120"/>
              </a:rPr>
              <a:t>LOOK-AHEAD</a:t>
            </a:r>
            <a:endParaRPr lang="en-US" sz="900" dirty="0"/>
          </a:p>
        </p:txBody>
      </p:sp>
      <p:sp>
        <p:nvSpPr>
          <p:cNvPr id="27" name="Shape 25"/>
          <p:cNvSpPr/>
          <p:nvPr/>
        </p:nvSpPr>
        <p:spPr>
          <a:xfrm>
            <a:off x="6053328" y="2880360"/>
            <a:ext cx="384048" cy="438912"/>
          </a:xfrm>
          <a:prstGeom prst="roundRect">
            <a:avLst>
              <a:gd name="adj" fmla="val 11905"/>
            </a:avLst>
          </a:prstGeom>
          <a:solidFill>
            <a:srgbClr val="D9EEEC"/>
          </a:solidFill>
          <a:ln w="16510">
            <a:solidFill>
              <a:srgbClr val="14A8A0"/>
            </a:solidFill>
            <a:prstDash val="solid"/>
          </a:ln>
        </p:spPr>
      </p:sp>
      <p:sp>
        <p:nvSpPr>
          <p:cNvPr id="28" name="Text 26"/>
          <p:cNvSpPr/>
          <p:nvPr/>
        </p:nvSpPr>
        <p:spPr>
          <a:xfrm>
            <a:off x="60533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a</a:t>
            </a:r>
            <a:endParaRPr lang="en-US" sz="1500" dirty="0"/>
          </a:p>
        </p:txBody>
      </p:sp>
      <p:sp>
        <p:nvSpPr>
          <p:cNvPr id="29" name="Shape 27"/>
          <p:cNvSpPr/>
          <p:nvPr/>
        </p:nvSpPr>
        <p:spPr>
          <a:xfrm>
            <a:off x="6510528" y="2880360"/>
            <a:ext cx="384048" cy="438912"/>
          </a:xfrm>
          <a:prstGeom prst="roundRect">
            <a:avLst>
              <a:gd name="adj" fmla="val 11905"/>
            </a:avLst>
          </a:prstGeom>
          <a:solidFill>
            <a:srgbClr val="D9EEEC"/>
          </a:solidFill>
          <a:ln w="16510">
            <a:solidFill>
              <a:srgbClr val="14A8A0"/>
            </a:solidFill>
            <a:prstDash val="solid"/>
          </a:ln>
        </p:spPr>
      </p:sp>
      <p:sp>
        <p:nvSpPr>
          <p:cNvPr id="30" name="Text 28"/>
          <p:cNvSpPr/>
          <p:nvPr/>
        </p:nvSpPr>
        <p:spPr>
          <a:xfrm>
            <a:off x="65105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b</a:t>
            </a:r>
            <a:endParaRPr lang="en-US" sz="1500" dirty="0"/>
          </a:p>
        </p:txBody>
      </p:sp>
      <p:sp>
        <p:nvSpPr>
          <p:cNvPr id="31" name="Shape 29"/>
          <p:cNvSpPr/>
          <p:nvPr/>
        </p:nvSpPr>
        <p:spPr>
          <a:xfrm>
            <a:off x="6967728" y="2880360"/>
            <a:ext cx="384048" cy="438912"/>
          </a:xfrm>
          <a:prstGeom prst="roundRect">
            <a:avLst>
              <a:gd name="adj" fmla="val 11905"/>
            </a:avLst>
          </a:prstGeom>
          <a:solidFill>
            <a:srgbClr val="D9EEEC"/>
          </a:solidFill>
          <a:ln w="16510">
            <a:solidFill>
              <a:srgbClr val="14A8A0"/>
            </a:solidFill>
            <a:prstDash val="solid"/>
          </a:ln>
        </p:spPr>
      </p:sp>
      <p:sp>
        <p:nvSpPr>
          <p:cNvPr id="32" name="Text 30"/>
          <p:cNvSpPr/>
          <p:nvPr/>
        </p:nvSpPr>
        <p:spPr>
          <a:xfrm>
            <a:off x="69677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r</a:t>
            </a:r>
            <a:endParaRPr lang="en-US" sz="1500" dirty="0"/>
          </a:p>
        </p:txBody>
      </p:sp>
      <p:sp>
        <p:nvSpPr>
          <p:cNvPr id="33" name="Shape 31"/>
          <p:cNvSpPr/>
          <p:nvPr/>
        </p:nvSpPr>
        <p:spPr>
          <a:xfrm>
            <a:off x="7424928" y="2880360"/>
            <a:ext cx="384048" cy="438912"/>
          </a:xfrm>
          <a:prstGeom prst="roundRect">
            <a:avLst>
              <a:gd name="adj" fmla="val 11905"/>
            </a:avLst>
          </a:prstGeom>
          <a:solidFill>
            <a:srgbClr val="D9EEEC"/>
          </a:solidFill>
          <a:ln w="16510">
            <a:solidFill>
              <a:srgbClr val="14A8A0"/>
            </a:solidFill>
            <a:prstDash val="solid"/>
          </a:ln>
        </p:spPr>
      </p:sp>
      <p:sp>
        <p:nvSpPr>
          <p:cNvPr id="34" name="Text 32"/>
          <p:cNvSpPr/>
          <p:nvPr/>
        </p:nvSpPr>
        <p:spPr>
          <a:xfrm>
            <a:off x="74249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a</a:t>
            </a:r>
            <a:endParaRPr lang="en-US" sz="1500" dirty="0"/>
          </a:p>
        </p:txBody>
      </p:sp>
      <p:sp>
        <p:nvSpPr>
          <p:cNvPr id="35" name="Shape 33"/>
          <p:cNvSpPr/>
          <p:nvPr/>
        </p:nvSpPr>
        <p:spPr>
          <a:xfrm>
            <a:off x="7882128" y="2880360"/>
            <a:ext cx="384048" cy="438912"/>
          </a:xfrm>
          <a:prstGeom prst="roundRect">
            <a:avLst>
              <a:gd name="adj" fmla="val 11905"/>
            </a:avLst>
          </a:prstGeom>
          <a:solidFill>
            <a:srgbClr val="D9EEEC"/>
          </a:solidFill>
          <a:ln w="16510">
            <a:solidFill>
              <a:srgbClr val="14A8A0"/>
            </a:solidFill>
            <a:prstDash val="solid"/>
          </a:ln>
        </p:spPr>
      </p:sp>
      <p:sp>
        <p:nvSpPr>
          <p:cNvPr id="36" name="Text 34"/>
          <p:cNvSpPr/>
          <p:nvPr/>
        </p:nvSpPr>
        <p:spPr>
          <a:xfrm>
            <a:off x="78821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c</a:t>
            </a:r>
            <a:endParaRPr lang="en-US" sz="1500" dirty="0"/>
          </a:p>
        </p:txBody>
      </p:sp>
      <p:sp>
        <p:nvSpPr>
          <p:cNvPr id="37" name="Shape 35"/>
          <p:cNvSpPr/>
          <p:nvPr/>
        </p:nvSpPr>
        <p:spPr>
          <a:xfrm>
            <a:off x="8339328" y="2880360"/>
            <a:ext cx="384048" cy="438912"/>
          </a:xfrm>
          <a:prstGeom prst="roundRect">
            <a:avLst>
              <a:gd name="adj" fmla="val 11905"/>
            </a:avLst>
          </a:prstGeom>
          <a:solidFill>
            <a:srgbClr val="D9EEEC"/>
          </a:solidFill>
          <a:ln w="16510">
            <a:solidFill>
              <a:srgbClr val="14A8A0"/>
            </a:solidFill>
            <a:prstDash val="solid"/>
          </a:ln>
        </p:spPr>
      </p:sp>
      <p:sp>
        <p:nvSpPr>
          <p:cNvPr id="38" name="Text 36"/>
          <p:cNvSpPr/>
          <p:nvPr/>
        </p:nvSpPr>
        <p:spPr>
          <a:xfrm>
            <a:off x="83393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a</a:t>
            </a:r>
            <a:endParaRPr lang="en-US" sz="1500" dirty="0"/>
          </a:p>
        </p:txBody>
      </p:sp>
      <p:sp>
        <p:nvSpPr>
          <p:cNvPr id="39" name="Shape 37"/>
          <p:cNvSpPr/>
          <p:nvPr/>
        </p:nvSpPr>
        <p:spPr>
          <a:xfrm>
            <a:off x="8796528" y="2880360"/>
            <a:ext cx="384048" cy="438912"/>
          </a:xfrm>
          <a:prstGeom prst="roundRect">
            <a:avLst>
              <a:gd name="adj" fmla="val 11905"/>
            </a:avLst>
          </a:prstGeom>
          <a:solidFill>
            <a:srgbClr val="D9EEEC"/>
          </a:solidFill>
          <a:ln w="16510">
            <a:solidFill>
              <a:srgbClr val="14A8A0"/>
            </a:solidFill>
            <a:prstDash val="solid"/>
          </a:ln>
        </p:spPr>
      </p:sp>
      <p:sp>
        <p:nvSpPr>
          <p:cNvPr id="40" name="Text 38"/>
          <p:cNvSpPr/>
          <p:nvPr/>
        </p:nvSpPr>
        <p:spPr>
          <a:xfrm>
            <a:off x="87965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d</a:t>
            </a:r>
            <a:endParaRPr lang="en-US" sz="1500" dirty="0"/>
          </a:p>
        </p:txBody>
      </p:sp>
      <p:sp>
        <p:nvSpPr>
          <p:cNvPr id="41" name="Shape 39"/>
          <p:cNvSpPr/>
          <p:nvPr/>
        </p:nvSpPr>
        <p:spPr>
          <a:xfrm>
            <a:off x="9253728" y="2880360"/>
            <a:ext cx="384048" cy="438912"/>
          </a:xfrm>
          <a:prstGeom prst="roundRect">
            <a:avLst>
              <a:gd name="adj" fmla="val 11905"/>
            </a:avLst>
          </a:prstGeom>
          <a:solidFill>
            <a:srgbClr val="FDEFCF"/>
          </a:solidFill>
          <a:ln w="16510">
            <a:solidFill>
              <a:srgbClr val="F4A825"/>
            </a:solidFill>
            <a:prstDash val="solid"/>
          </a:ln>
        </p:spPr>
      </p:sp>
      <p:sp>
        <p:nvSpPr>
          <p:cNvPr id="42" name="Text 40"/>
          <p:cNvSpPr/>
          <p:nvPr/>
        </p:nvSpPr>
        <p:spPr>
          <a:xfrm>
            <a:off x="92537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a</a:t>
            </a:r>
            <a:endParaRPr lang="en-US" sz="1500" dirty="0"/>
          </a:p>
        </p:txBody>
      </p:sp>
      <p:sp>
        <p:nvSpPr>
          <p:cNvPr id="43" name="Shape 41"/>
          <p:cNvSpPr/>
          <p:nvPr/>
        </p:nvSpPr>
        <p:spPr>
          <a:xfrm>
            <a:off x="9710928" y="2880360"/>
            <a:ext cx="384048" cy="438912"/>
          </a:xfrm>
          <a:prstGeom prst="roundRect">
            <a:avLst>
              <a:gd name="adj" fmla="val 11905"/>
            </a:avLst>
          </a:prstGeom>
          <a:solidFill>
            <a:srgbClr val="FDEFCF"/>
          </a:solidFill>
          <a:ln w="16510">
            <a:solidFill>
              <a:srgbClr val="F4A825"/>
            </a:solidFill>
            <a:prstDash val="solid"/>
          </a:ln>
        </p:spPr>
      </p:sp>
      <p:sp>
        <p:nvSpPr>
          <p:cNvPr id="44" name="Text 42"/>
          <p:cNvSpPr/>
          <p:nvPr/>
        </p:nvSpPr>
        <p:spPr>
          <a:xfrm>
            <a:off x="97109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b</a:t>
            </a:r>
            <a:endParaRPr lang="en-US" sz="1500" dirty="0"/>
          </a:p>
        </p:txBody>
      </p:sp>
      <p:sp>
        <p:nvSpPr>
          <p:cNvPr id="45" name="Shape 43"/>
          <p:cNvSpPr/>
          <p:nvPr/>
        </p:nvSpPr>
        <p:spPr>
          <a:xfrm>
            <a:off x="10168128" y="2880360"/>
            <a:ext cx="384048" cy="438912"/>
          </a:xfrm>
          <a:prstGeom prst="roundRect">
            <a:avLst>
              <a:gd name="adj" fmla="val 11905"/>
            </a:avLst>
          </a:prstGeom>
          <a:solidFill>
            <a:srgbClr val="FDEFCF"/>
          </a:solidFill>
          <a:ln w="16510">
            <a:solidFill>
              <a:srgbClr val="F4A825"/>
            </a:solidFill>
            <a:prstDash val="solid"/>
          </a:ln>
        </p:spPr>
      </p:sp>
      <p:sp>
        <p:nvSpPr>
          <p:cNvPr id="46" name="Text 44"/>
          <p:cNvSpPr/>
          <p:nvPr/>
        </p:nvSpPr>
        <p:spPr>
          <a:xfrm>
            <a:off x="101681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r</a:t>
            </a:r>
            <a:endParaRPr lang="en-US" sz="1500" dirty="0"/>
          </a:p>
        </p:txBody>
      </p:sp>
      <p:sp>
        <p:nvSpPr>
          <p:cNvPr id="47" name="Shape 45"/>
          <p:cNvSpPr/>
          <p:nvPr/>
        </p:nvSpPr>
        <p:spPr>
          <a:xfrm>
            <a:off x="10625328" y="2880360"/>
            <a:ext cx="384048" cy="438912"/>
          </a:xfrm>
          <a:prstGeom prst="roundRect">
            <a:avLst>
              <a:gd name="adj" fmla="val 11905"/>
            </a:avLst>
          </a:prstGeom>
          <a:solidFill>
            <a:srgbClr val="FDEFCF"/>
          </a:solidFill>
          <a:ln w="16510">
            <a:solidFill>
              <a:srgbClr val="F4A825"/>
            </a:solidFill>
            <a:prstDash val="solid"/>
          </a:ln>
        </p:spPr>
      </p:sp>
      <p:sp>
        <p:nvSpPr>
          <p:cNvPr id="48" name="Text 46"/>
          <p:cNvSpPr/>
          <p:nvPr/>
        </p:nvSpPr>
        <p:spPr>
          <a:xfrm>
            <a:off x="10625328" y="2880360"/>
            <a:ext cx="384048" cy="438912"/>
          </a:xfrm>
          <a:prstGeom prst="rect">
            <a:avLst/>
          </a:prstGeom>
          <a:noFill/>
          <a:ln/>
        </p:spPr>
        <p:txBody>
          <a:bodyPr wrap="square" lIns="0" tIns="0" rIns="0" bIns="0" rtlCol="0" anchor="ctr"/>
          <a:lstStyle/>
          <a:p>
            <a:pPr algn="ctr" indent="0" marL="0">
              <a:buNone/>
            </a:pPr>
            <a:r>
              <a:rPr lang="en-US" sz="1500" b="1" dirty="0">
                <a:solidFill>
                  <a:srgbClr val="16324F"/>
                </a:solidFill>
                <a:latin typeface="Courier New" pitchFamily="34" charset="0"/>
                <a:ea typeface="Courier New" pitchFamily="34" charset="-122"/>
                <a:cs typeface="Courier New" pitchFamily="34" charset="-120"/>
              </a:rPr>
              <a:t>a</a:t>
            </a:r>
            <a:endParaRPr lang="en-US" sz="1500" dirty="0"/>
          </a:p>
        </p:txBody>
      </p:sp>
      <p:sp>
        <p:nvSpPr>
          <p:cNvPr id="49" name="Shape 47"/>
          <p:cNvSpPr/>
          <p:nvPr/>
        </p:nvSpPr>
        <p:spPr>
          <a:xfrm>
            <a:off x="9217152" y="2313432"/>
            <a:ext cx="0" cy="1188720"/>
          </a:xfrm>
          <a:prstGeom prst="line">
            <a:avLst/>
          </a:prstGeom>
          <a:noFill/>
          <a:ln w="25400">
            <a:solidFill>
              <a:srgbClr val="E5635E"/>
            </a:solidFill>
            <a:prstDash val="dash"/>
          </a:ln>
        </p:spPr>
      </p:sp>
      <p:sp>
        <p:nvSpPr>
          <p:cNvPr id="50" name="Text 48"/>
          <p:cNvSpPr/>
          <p:nvPr/>
        </p:nvSpPr>
        <p:spPr>
          <a:xfrm>
            <a:off x="8714232" y="3538728"/>
            <a:ext cx="1005840" cy="219456"/>
          </a:xfrm>
          <a:prstGeom prst="rect">
            <a:avLst/>
          </a:prstGeom>
          <a:noFill/>
          <a:ln/>
        </p:spPr>
        <p:txBody>
          <a:bodyPr wrap="square" lIns="0" tIns="0" rIns="0" bIns="0" rtlCol="0" anchor="ctr"/>
          <a:lstStyle/>
          <a:p>
            <a:pPr algn="ctr" indent="0" marL="0">
              <a:buNone/>
            </a:pPr>
            <a:r>
              <a:rPr lang="en-US" sz="950" b="1" i="1" dirty="0">
                <a:solidFill>
                  <a:srgbClr val="E5635E"/>
                </a:solidFill>
                <a:latin typeface="Calibri" pitchFamily="34" charset="0"/>
                <a:ea typeface="Calibri" pitchFamily="34" charset="-122"/>
                <a:cs typeface="Calibri" pitchFamily="34" charset="-120"/>
              </a:rPr>
              <a:t>cursor</a:t>
            </a:r>
            <a:endParaRPr lang="en-US" sz="950" dirty="0"/>
          </a:p>
        </p:txBody>
      </p:sp>
      <p:sp>
        <p:nvSpPr>
          <p:cNvPr id="51" name="Text 49"/>
          <p:cNvSpPr/>
          <p:nvPr/>
        </p:nvSpPr>
        <p:spPr>
          <a:xfrm>
            <a:off x="6053328" y="3931920"/>
            <a:ext cx="5212080" cy="274320"/>
          </a:xfrm>
          <a:prstGeom prst="rect">
            <a:avLst/>
          </a:prstGeom>
          <a:noFill/>
          <a:ln/>
        </p:spPr>
        <p:txBody>
          <a:bodyPr wrap="square" lIns="0" tIns="0" rIns="0" bIns="0" rtlCol="0" anchor="ctr"/>
          <a:lstStyle/>
          <a:p>
            <a:pPr indent="0" marL="0">
              <a:buNone/>
            </a:pPr>
            <a:r>
              <a:rPr lang="en-US" sz="1200" b="1" dirty="0">
                <a:solidFill>
                  <a:srgbClr val="16324F"/>
                </a:solidFill>
                <a:latin typeface="Calibri" pitchFamily="34" charset="0"/>
                <a:ea typeface="Calibri" pitchFamily="34" charset="-122"/>
                <a:cs typeface="Calibri" pitchFamily="34" charset="-120"/>
              </a:rPr>
              <a:t>Longest match found in history</a:t>
            </a:r>
            <a:endParaRPr lang="en-US" sz="1200" dirty="0"/>
          </a:p>
        </p:txBody>
      </p:sp>
      <p:sp>
        <p:nvSpPr>
          <p:cNvPr id="52" name="Shape 50"/>
          <p:cNvSpPr/>
          <p:nvPr/>
        </p:nvSpPr>
        <p:spPr>
          <a:xfrm>
            <a:off x="6053328" y="4251960"/>
            <a:ext cx="0" cy="164592"/>
          </a:xfrm>
          <a:prstGeom prst="line">
            <a:avLst/>
          </a:prstGeom>
          <a:noFill/>
          <a:ln w="25400">
            <a:solidFill>
              <a:srgbClr val="14A8A0"/>
            </a:solidFill>
            <a:prstDash val="solid"/>
          </a:ln>
        </p:spPr>
      </p:sp>
      <p:sp>
        <p:nvSpPr>
          <p:cNvPr id="53" name="Shape 51"/>
          <p:cNvSpPr/>
          <p:nvPr/>
        </p:nvSpPr>
        <p:spPr>
          <a:xfrm>
            <a:off x="6053328" y="4416552"/>
            <a:ext cx="1755648" cy="0"/>
          </a:xfrm>
          <a:prstGeom prst="line">
            <a:avLst/>
          </a:prstGeom>
          <a:noFill/>
          <a:ln w="25400">
            <a:solidFill>
              <a:srgbClr val="14A8A0"/>
            </a:solidFill>
            <a:prstDash val="solid"/>
          </a:ln>
        </p:spPr>
      </p:sp>
      <p:sp>
        <p:nvSpPr>
          <p:cNvPr id="54" name="Shape 52"/>
          <p:cNvSpPr/>
          <p:nvPr/>
        </p:nvSpPr>
        <p:spPr>
          <a:xfrm>
            <a:off x="7808976" y="4251960"/>
            <a:ext cx="0" cy="164592"/>
          </a:xfrm>
          <a:prstGeom prst="line">
            <a:avLst/>
          </a:prstGeom>
          <a:noFill/>
          <a:ln w="25400">
            <a:solidFill>
              <a:srgbClr val="14A8A0"/>
            </a:solidFill>
            <a:prstDash val="solid"/>
          </a:ln>
        </p:spPr>
      </p:sp>
      <p:sp>
        <p:nvSpPr>
          <p:cNvPr id="55" name="Shape 53"/>
          <p:cNvSpPr/>
          <p:nvPr/>
        </p:nvSpPr>
        <p:spPr>
          <a:xfrm>
            <a:off x="9253728" y="4251960"/>
            <a:ext cx="0" cy="164592"/>
          </a:xfrm>
          <a:prstGeom prst="line">
            <a:avLst/>
          </a:prstGeom>
          <a:noFill/>
          <a:ln w="25400">
            <a:solidFill>
              <a:srgbClr val="F4A825"/>
            </a:solidFill>
            <a:prstDash val="solid"/>
          </a:ln>
        </p:spPr>
      </p:sp>
      <p:sp>
        <p:nvSpPr>
          <p:cNvPr id="56" name="Shape 54"/>
          <p:cNvSpPr/>
          <p:nvPr/>
        </p:nvSpPr>
        <p:spPr>
          <a:xfrm>
            <a:off x="9253728" y="4416552"/>
            <a:ext cx="1755648" cy="0"/>
          </a:xfrm>
          <a:prstGeom prst="line">
            <a:avLst/>
          </a:prstGeom>
          <a:noFill/>
          <a:ln w="25400">
            <a:solidFill>
              <a:srgbClr val="F4A825"/>
            </a:solidFill>
            <a:prstDash val="solid"/>
          </a:ln>
        </p:spPr>
      </p:sp>
      <p:sp>
        <p:nvSpPr>
          <p:cNvPr id="57" name="Shape 55"/>
          <p:cNvSpPr/>
          <p:nvPr/>
        </p:nvSpPr>
        <p:spPr>
          <a:xfrm>
            <a:off x="11009376" y="4251960"/>
            <a:ext cx="0" cy="164592"/>
          </a:xfrm>
          <a:prstGeom prst="line">
            <a:avLst/>
          </a:prstGeom>
          <a:noFill/>
          <a:ln w="25400">
            <a:solidFill>
              <a:srgbClr val="F4A825"/>
            </a:solidFill>
            <a:prstDash val="solid"/>
          </a:ln>
        </p:spPr>
      </p:sp>
      <p:sp>
        <p:nvSpPr>
          <p:cNvPr id="58" name="Text 56"/>
          <p:cNvSpPr/>
          <p:nvPr/>
        </p:nvSpPr>
        <p:spPr>
          <a:xfrm>
            <a:off x="6053328" y="4507992"/>
            <a:ext cx="5212080" cy="274320"/>
          </a:xfrm>
          <a:prstGeom prst="rect">
            <a:avLst/>
          </a:prstGeom>
          <a:noFill/>
          <a:ln/>
        </p:spPr>
        <p:txBody>
          <a:bodyPr wrap="square" lIns="0" tIns="0" rIns="0" bIns="0" rtlCol="0" anchor="ctr"/>
          <a:lstStyle/>
          <a:p>
            <a:pPr indent="0" marL="0">
              <a:buNone/>
            </a:pPr>
            <a:r>
              <a:rPr lang="en-US" sz="1150" b="1" dirty="0">
                <a:solidFill>
                  <a:srgbClr val="0C7A76"/>
                </a:solidFill>
                <a:latin typeface="Courier New" pitchFamily="34" charset="0"/>
                <a:ea typeface="Courier New" pitchFamily="34" charset="-122"/>
                <a:cs typeface="Courier New" pitchFamily="34" charset="-120"/>
              </a:rPr>
              <a:t>"abra"  →  copy 4 bytes from 7 back</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THE ALGORITHM</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Worked Example  ·  "abracadabra"</a:t>
            </a:r>
            <a:endParaRPr lang="en-US" sz="3100" dirty="0"/>
          </a:p>
        </p:txBody>
      </p:sp>
      <p:sp>
        <p:nvSpPr>
          <p:cNvPr id="5" name="Text 3"/>
          <p:cNvSpPr/>
          <p:nvPr/>
        </p:nvSpPr>
        <p:spPr>
          <a:xfrm>
            <a:off x="566928" y="1289304"/>
            <a:ext cx="1828800" cy="256032"/>
          </a:xfrm>
          <a:prstGeom prst="rect">
            <a:avLst/>
          </a:prstGeom>
          <a:noFill/>
          <a:ln/>
        </p:spPr>
        <p:txBody>
          <a:bodyPr wrap="square" lIns="0" tIns="0" rIns="0" bIns="0" rtlCol="0" anchor="ctr"/>
          <a:lstStyle/>
          <a:p>
            <a:pPr indent="0" marL="0">
              <a:buNone/>
            </a:pPr>
            <a:r>
              <a:rPr lang="en-US" sz="1100" b="1" spc="150" kern="0" dirty="0">
                <a:solidFill>
                  <a:srgbClr val="5A6B7B"/>
                </a:solidFill>
                <a:latin typeface="Calibri" pitchFamily="34" charset="0"/>
                <a:ea typeface="Calibri" pitchFamily="34" charset="-122"/>
                <a:cs typeface="Calibri" pitchFamily="34" charset="-120"/>
              </a:rPr>
              <a:t>INPUT</a:t>
            </a:r>
            <a:endParaRPr lang="en-US" sz="1100" dirty="0"/>
          </a:p>
        </p:txBody>
      </p:sp>
      <p:sp>
        <p:nvSpPr>
          <p:cNvPr id="6" name="Shape 4"/>
          <p:cNvSpPr/>
          <p:nvPr/>
        </p:nvSpPr>
        <p:spPr>
          <a:xfrm>
            <a:off x="868680" y="1600200"/>
            <a:ext cx="475488" cy="566928"/>
          </a:xfrm>
          <a:prstGeom prst="roundRect">
            <a:avLst>
              <a:gd name="adj" fmla="val 11538"/>
            </a:avLst>
          </a:prstGeom>
          <a:solidFill>
            <a:srgbClr val="F1F5F9"/>
          </a:solidFill>
          <a:ln w="12700">
            <a:solidFill>
              <a:srgbClr val="D3DEE8"/>
            </a:solidFill>
            <a:prstDash val="solid"/>
          </a:ln>
        </p:spPr>
      </p:sp>
      <p:sp>
        <p:nvSpPr>
          <p:cNvPr id="7" name="Text 5"/>
          <p:cNvSpPr/>
          <p:nvPr/>
        </p:nvSpPr>
        <p:spPr>
          <a:xfrm>
            <a:off x="868680"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a</a:t>
            </a:r>
            <a:endParaRPr lang="en-US" sz="2000" dirty="0"/>
          </a:p>
        </p:txBody>
      </p:sp>
      <p:sp>
        <p:nvSpPr>
          <p:cNvPr id="8" name="Text 6"/>
          <p:cNvSpPr/>
          <p:nvPr/>
        </p:nvSpPr>
        <p:spPr>
          <a:xfrm>
            <a:off x="868680"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0</a:t>
            </a:r>
            <a:endParaRPr lang="en-US" sz="900" dirty="0"/>
          </a:p>
        </p:txBody>
      </p:sp>
      <p:sp>
        <p:nvSpPr>
          <p:cNvPr id="9" name="Shape 7"/>
          <p:cNvSpPr/>
          <p:nvPr/>
        </p:nvSpPr>
        <p:spPr>
          <a:xfrm>
            <a:off x="1435608" y="1600200"/>
            <a:ext cx="475488" cy="566928"/>
          </a:xfrm>
          <a:prstGeom prst="roundRect">
            <a:avLst>
              <a:gd name="adj" fmla="val 11538"/>
            </a:avLst>
          </a:prstGeom>
          <a:solidFill>
            <a:srgbClr val="F1F5F9"/>
          </a:solidFill>
          <a:ln w="12700">
            <a:solidFill>
              <a:srgbClr val="D3DEE8"/>
            </a:solidFill>
            <a:prstDash val="solid"/>
          </a:ln>
        </p:spPr>
      </p:sp>
      <p:sp>
        <p:nvSpPr>
          <p:cNvPr id="10" name="Text 8"/>
          <p:cNvSpPr/>
          <p:nvPr/>
        </p:nvSpPr>
        <p:spPr>
          <a:xfrm>
            <a:off x="1435608"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b</a:t>
            </a:r>
            <a:endParaRPr lang="en-US" sz="2000" dirty="0"/>
          </a:p>
        </p:txBody>
      </p:sp>
      <p:sp>
        <p:nvSpPr>
          <p:cNvPr id="11" name="Text 9"/>
          <p:cNvSpPr/>
          <p:nvPr/>
        </p:nvSpPr>
        <p:spPr>
          <a:xfrm>
            <a:off x="1435608"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1</a:t>
            </a:r>
            <a:endParaRPr lang="en-US" sz="900" dirty="0"/>
          </a:p>
        </p:txBody>
      </p:sp>
      <p:sp>
        <p:nvSpPr>
          <p:cNvPr id="12" name="Shape 10"/>
          <p:cNvSpPr/>
          <p:nvPr/>
        </p:nvSpPr>
        <p:spPr>
          <a:xfrm>
            <a:off x="2002536" y="1600200"/>
            <a:ext cx="475488" cy="566928"/>
          </a:xfrm>
          <a:prstGeom prst="roundRect">
            <a:avLst>
              <a:gd name="adj" fmla="val 11538"/>
            </a:avLst>
          </a:prstGeom>
          <a:solidFill>
            <a:srgbClr val="F1F5F9"/>
          </a:solidFill>
          <a:ln w="12700">
            <a:solidFill>
              <a:srgbClr val="D3DEE8"/>
            </a:solidFill>
            <a:prstDash val="solid"/>
          </a:ln>
        </p:spPr>
      </p:sp>
      <p:sp>
        <p:nvSpPr>
          <p:cNvPr id="13" name="Text 11"/>
          <p:cNvSpPr/>
          <p:nvPr/>
        </p:nvSpPr>
        <p:spPr>
          <a:xfrm>
            <a:off x="2002536"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r</a:t>
            </a:r>
            <a:endParaRPr lang="en-US" sz="2000" dirty="0"/>
          </a:p>
        </p:txBody>
      </p:sp>
      <p:sp>
        <p:nvSpPr>
          <p:cNvPr id="14" name="Text 12"/>
          <p:cNvSpPr/>
          <p:nvPr/>
        </p:nvSpPr>
        <p:spPr>
          <a:xfrm>
            <a:off x="2002536"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2</a:t>
            </a:r>
            <a:endParaRPr lang="en-US" sz="900" dirty="0"/>
          </a:p>
        </p:txBody>
      </p:sp>
      <p:sp>
        <p:nvSpPr>
          <p:cNvPr id="15" name="Shape 13"/>
          <p:cNvSpPr/>
          <p:nvPr/>
        </p:nvSpPr>
        <p:spPr>
          <a:xfrm>
            <a:off x="2569464" y="1600200"/>
            <a:ext cx="475488" cy="566928"/>
          </a:xfrm>
          <a:prstGeom prst="roundRect">
            <a:avLst>
              <a:gd name="adj" fmla="val 11538"/>
            </a:avLst>
          </a:prstGeom>
          <a:solidFill>
            <a:srgbClr val="F1F5F9"/>
          </a:solidFill>
          <a:ln w="12700">
            <a:solidFill>
              <a:srgbClr val="D3DEE8"/>
            </a:solidFill>
            <a:prstDash val="solid"/>
          </a:ln>
        </p:spPr>
      </p:sp>
      <p:sp>
        <p:nvSpPr>
          <p:cNvPr id="16" name="Text 14"/>
          <p:cNvSpPr/>
          <p:nvPr/>
        </p:nvSpPr>
        <p:spPr>
          <a:xfrm>
            <a:off x="2569464"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a</a:t>
            </a:r>
            <a:endParaRPr lang="en-US" sz="2000" dirty="0"/>
          </a:p>
        </p:txBody>
      </p:sp>
      <p:sp>
        <p:nvSpPr>
          <p:cNvPr id="17" name="Text 15"/>
          <p:cNvSpPr/>
          <p:nvPr/>
        </p:nvSpPr>
        <p:spPr>
          <a:xfrm>
            <a:off x="2569464"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3</a:t>
            </a:r>
            <a:endParaRPr lang="en-US" sz="900" dirty="0"/>
          </a:p>
        </p:txBody>
      </p:sp>
      <p:sp>
        <p:nvSpPr>
          <p:cNvPr id="18" name="Shape 16"/>
          <p:cNvSpPr/>
          <p:nvPr/>
        </p:nvSpPr>
        <p:spPr>
          <a:xfrm>
            <a:off x="3136392" y="1600200"/>
            <a:ext cx="475488" cy="566928"/>
          </a:xfrm>
          <a:prstGeom prst="roundRect">
            <a:avLst>
              <a:gd name="adj" fmla="val 11538"/>
            </a:avLst>
          </a:prstGeom>
          <a:solidFill>
            <a:srgbClr val="F1F5F9"/>
          </a:solidFill>
          <a:ln w="12700">
            <a:solidFill>
              <a:srgbClr val="D3DEE8"/>
            </a:solidFill>
            <a:prstDash val="solid"/>
          </a:ln>
        </p:spPr>
      </p:sp>
      <p:sp>
        <p:nvSpPr>
          <p:cNvPr id="19" name="Text 17"/>
          <p:cNvSpPr/>
          <p:nvPr/>
        </p:nvSpPr>
        <p:spPr>
          <a:xfrm>
            <a:off x="3136392"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c</a:t>
            </a:r>
            <a:endParaRPr lang="en-US" sz="2000" dirty="0"/>
          </a:p>
        </p:txBody>
      </p:sp>
      <p:sp>
        <p:nvSpPr>
          <p:cNvPr id="20" name="Text 18"/>
          <p:cNvSpPr/>
          <p:nvPr/>
        </p:nvSpPr>
        <p:spPr>
          <a:xfrm>
            <a:off x="3136392"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4</a:t>
            </a:r>
            <a:endParaRPr lang="en-US" sz="900" dirty="0"/>
          </a:p>
        </p:txBody>
      </p:sp>
      <p:sp>
        <p:nvSpPr>
          <p:cNvPr id="21" name="Shape 19"/>
          <p:cNvSpPr/>
          <p:nvPr/>
        </p:nvSpPr>
        <p:spPr>
          <a:xfrm>
            <a:off x="3703320" y="1600200"/>
            <a:ext cx="475488" cy="566928"/>
          </a:xfrm>
          <a:prstGeom prst="roundRect">
            <a:avLst>
              <a:gd name="adj" fmla="val 11538"/>
            </a:avLst>
          </a:prstGeom>
          <a:solidFill>
            <a:srgbClr val="F1F5F9"/>
          </a:solidFill>
          <a:ln w="12700">
            <a:solidFill>
              <a:srgbClr val="D3DEE8"/>
            </a:solidFill>
            <a:prstDash val="solid"/>
          </a:ln>
        </p:spPr>
      </p:sp>
      <p:sp>
        <p:nvSpPr>
          <p:cNvPr id="22" name="Text 20"/>
          <p:cNvSpPr/>
          <p:nvPr/>
        </p:nvSpPr>
        <p:spPr>
          <a:xfrm>
            <a:off x="3703320"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a</a:t>
            </a:r>
            <a:endParaRPr lang="en-US" sz="2000" dirty="0"/>
          </a:p>
        </p:txBody>
      </p:sp>
      <p:sp>
        <p:nvSpPr>
          <p:cNvPr id="23" name="Text 21"/>
          <p:cNvSpPr/>
          <p:nvPr/>
        </p:nvSpPr>
        <p:spPr>
          <a:xfrm>
            <a:off x="3703320"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5</a:t>
            </a:r>
            <a:endParaRPr lang="en-US" sz="900" dirty="0"/>
          </a:p>
        </p:txBody>
      </p:sp>
      <p:sp>
        <p:nvSpPr>
          <p:cNvPr id="24" name="Shape 22"/>
          <p:cNvSpPr/>
          <p:nvPr/>
        </p:nvSpPr>
        <p:spPr>
          <a:xfrm>
            <a:off x="4270248" y="1600200"/>
            <a:ext cx="475488" cy="566928"/>
          </a:xfrm>
          <a:prstGeom prst="roundRect">
            <a:avLst>
              <a:gd name="adj" fmla="val 11538"/>
            </a:avLst>
          </a:prstGeom>
          <a:solidFill>
            <a:srgbClr val="F1F5F9"/>
          </a:solidFill>
          <a:ln w="12700">
            <a:solidFill>
              <a:srgbClr val="D3DEE8"/>
            </a:solidFill>
            <a:prstDash val="solid"/>
          </a:ln>
        </p:spPr>
      </p:sp>
      <p:sp>
        <p:nvSpPr>
          <p:cNvPr id="25" name="Text 23"/>
          <p:cNvSpPr/>
          <p:nvPr/>
        </p:nvSpPr>
        <p:spPr>
          <a:xfrm>
            <a:off x="4270248"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d</a:t>
            </a:r>
            <a:endParaRPr lang="en-US" sz="2000" dirty="0"/>
          </a:p>
        </p:txBody>
      </p:sp>
      <p:sp>
        <p:nvSpPr>
          <p:cNvPr id="26" name="Text 24"/>
          <p:cNvSpPr/>
          <p:nvPr/>
        </p:nvSpPr>
        <p:spPr>
          <a:xfrm>
            <a:off x="4270248"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6</a:t>
            </a:r>
            <a:endParaRPr lang="en-US" sz="900" dirty="0"/>
          </a:p>
        </p:txBody>
      </p:sp>
      <p:sp>
        <p:nvSpPr>
          <p:cNvPr id="27" name="Shape 25"/>
          <p:cNvSpPr/>
          <p:nvPr/>
        </p:nvSpPr>
        <p:spPr>
          <a:xfrm>
            <a:off x="4837176" y="1600200"/>
            <a:ext cx="475488" cy="566928"/>
          </a:xfrm>
          <a:prstGeom prst="roundRect">
            <a:avLst>
              <a:gd name="adj" fmla="val 11538"/>
            </a:avLst>
          </a:prstGeom>
          <a:solidFill>
            <a:srgbClr val="F1F5F9"/>
          </a:solidFill>
          <a:ln w="12700">
            <a:solidFill>
              <a:srgbClr val="D3DEE8"/>
            </a:solidFill>
            <a:prstDash val="solid"/>
          </a:ln>
        </p:spPr>
      </p:sp>
      <p:sp>
        <p:nvSpPr>
          <p:cNvPr id="28" name="Text 26"/>
          <p:cNvSpPr/>
          <p:nvPr/>
        </p:nvSpPr>
        <p:spPr>
          <a:xfrm>
            <a:off x="4837176"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a</a:t>
            </a:r>
            <a:endParaRPr lang="en-US" sz="2000" dirty="0"/>
          </a:p>
        </p:txBody>
      </p:sp>
      <p:sp>
        <p:nvSpPr>
          <p:cNvPr id="29" name="Text 27"/>
          <p:cNvSpPr/>
          <p:nvPr/>
        </p:nvSpPr>
        <p:spPr>
          <a:xfrm>
            <a:off x="4837176"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7</a:t>
            </a:r>
            <a:endParaRPr lang="en-US" sz="900" dirty="0"/>
          </a:p>
        </p:txBody>
      </p:sp>
      <p:sp>
        <p:nvSpPr>
          <p:cNvPr id="30" name="Shape 28"/>
          <p:cNvSpPr/>
          <p:nvPr/>
        </p:nvSpPr>
        <p:spPr>
          <a:xfrm>
            <a:off x="5404104" y="1600200"/>
            <a:ext cx="475488" cy="566928"/>
          </a:xfrm>
          <a:prstGeom prst="roundRect">
            <a:avLst>
              <a:gd name="adj" fmla="val 11538"/>
            </a:avLst>
          </a:prstGeom>
          <a:solidFill>
            <a:srgbClr val="F1F5F9"/>
          </a:solidFill>
          <a:ln w="12700">
            <a:solidFill>
              <a:srgbClr val="D3DEE8"/>
            </a:solidFill>
            <a:prstDash val="solid"/>
          </a:ln>
        </p:spPr>
      </p:sp>
      <p:sp>
        <p:nvSpPr>
          <p:cNvPr id="31" name="Text 29"/>
          <p:cNvSpPr/>
          <p:nvPr/>
        </p:nvSpPr>
        <p:spPr>
          <a:xfrm>
            <a:off x="5404104"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b</a:t>
            </a:r>
            <a:endParaRPr lang="en-US" sz="2000" dirty="0"/>
          </a:p>
        </p:txBody>
      </p:sp>
      <p:sp>
        <p:nvSpPr>
          <p:cNvPr id="32" name="Text 30"/>
          <p:cNvSpPr/>
          <p:nvPr/>
        </p:nvSpPr>
        <p:spPr>
          <a:xfrm>
            <a:off x="5404104"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8</a:t>
            </a:r>
            <a:endParaRPr lang="en-US" sz="900" dirty="0"/>
          </a:p>
        </p:txBody>
      </p:sp>
      <p:sp>
        <p:nvSpPr>
          <p:cNvPr id="33" name="Shape 31"/>
          <p:cNvSpPr/>
          <p:nvPr/>
        </p:nvSpPr>
        <p:spPr>
          <a:xfrm>
            <a:off x="5971032" y="1600200"/>
            <a:ext cx="475488" cy="566928"/>
          </a:xfrm>
          <a:prstGeom prst="roundRect">
            <a:avLst>
              <a:gd name="adj" fmla="val 11538"/>
            </a:avLst>
          </a:prstGeom>
          <a:solidFill>
            <a:srgbClr val="F1F5F9"/>
          </a:solidFill>
          <a:ln w="12700">
            <a:solidFill>
              <a:srgbClr val="D3DEE8"/>
            </a:solidFill>
            <a:prstDash val="solid"/>
          </a:ln>
        </p:spPr>
      </p:sp>
      <p:sp>
        <p:nvSpPr>
          <p:cNvPr id="34" name="Text 32"/>
          <p:cNvSpPr/>
          <p:nvPr/>
        </p:nvSpPr>
        <p:spPr>
          <a:xfrm>
            <a:off x="5971032"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r</a:t>
            </a:r>
            <a:endParaRPr lang="en-US" sz="2000" dirty="0"/>
          </a:p>
        </p:txBody>
      </p:sp>
      <p:sp>
        <p:nvSpPr>
          <p:cNvPr id="35" name="Text 33"/>
          <p:cNvSpPr/>
          <p:nvPr/>
        </p:nvSpPr>
        <p:spPr>
          <a:xfrm>
            <a:off x="5971032"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9</a:t>
            </a:r>
            <a:endParaRPr lang="en-US" sz="900" dirty="0"/>
          </a:p>
        </p:txBody>
      </p:sp>
      <p:sp>
        <p:nvSpPr>
          <p:cNvPr id="36" name="Shape 34"/>
          <p:cNvSpPr/>
          <p:nvPr/>
        </p:nvSpPr>
        <p:spPr>
          <a:xfrm>
            <a:off x="6537960" y="1600200"/>
            <a:ext cx="475488" cy="566928"/>
          </a:xfrm>
          <a:prstGeom prst="roundRect">
            <a:avLst>
              <a:gd name="adj" fmla="val 11538"/>
            </a:avLst>
          </a:prstGeom>
          <a:solidFill>
            <a:srgbClr val="F1F5F9"/>
          </a:solidFill>
          <a:ln w="12700">
            <a:solidFill>
              <a:srgbClr val="D3DEE8"/>
            </a:solidFill>
            <a:prstDash val="solid"/>
          </a:ln>
        </p:spPr>
      </p:sp>
      <p:sp>
        <p:nvSpPr>
          <p:cNvPr id="37" name="Text 35"/>
          <p:cNvSpPr/>
          <p:nvPr/>
        </p:nvSpPr>
        <p:spPr>
          <a:xfrm>
            <a:off x="6537960" y="1600200"/>
            <a:ext cx="475488" cy="566928"/>
          </a:xfrm>
          <a:prstGeom prst="rect">
            <a:avLst/>
          </a:prstGeom>
          <a:noFill/>
          <a:ln/>
        </p:spPr>
        <p:txBody>
          <a:bodyPr wrap="square" lIns="0" tIns="0" rIns="0" bIns="0" rtlCol="0" anchor="ctr"/>
          <a:lstStyle/>
          <a:p>
            <a:pPr algn="ctr" indent="0" marL="0">
              <a:buNone/>
            </a:pPr>
            <a:r>
              <a:rPr lang="en-US" sz="2000" b="1" dirty="0">
                <a:solidFill>
                  <a:srgbClr val="16324F"/>
                </a:solidFill>
                <a:latin typeface="Courier New" pitchFamily="34" charset="0"/>
                <a:ea typeface="Courier New" pitchFamily="34" charset="-122"/>
                <a:cs typeface="Courier New" pitchFamily="34" charset="-120"/>
              </a:rPr>
              <a:t>a</a:t>
            </a:r>
            <a:endParaRPr lang="en-US" sz="2000" dirty="0"/>
          </a:p>
        </p:txBody>
      </p:sp>
      <p:sp>
        <p:nvSpPr>
          <p:cNvPr id="38" name="Text 36"/>
          <p:cNvSpPr/>
          <p:nvPr/>
        </p:nvSpPr>
        <p:spPr>
          <a:xfrm>
            <a:off x="6537960" y="2185416"/>
            <a:ext cx="475488" cy="201168"/>
          </a:xfrm>
          <a:prstGeom prst="rect">
            <a:avLst/>
          </a:prstGeom>
          <a:noFill/>
          <a:ln/>
        </p:spPr>
        <p:txBody>
          <a:bodyPr wrap="square" lIns="0" tIns="0" rIns="0" bIns="0" rtlCol="0" anchor="ctr"/>
          <a:lstStyle/>
          <a:p>
            <a:pPr algn="ctr" indent="0" marL="0">
              <a:buNone/>
            </a:pPr>
            <a:r>
              <a:rPr lang="en-US" sz="900" dirty="0">
                <a:solidFill>
                  <a:srgbClr val="5A6B7B"/>
                </a:solidFill>
                <a:latin typeface="Calibri" pitchFamily="34" charset="0"/>
                <a:ea typeface="Calibri" pitchFamily="34" charset="-122"/>
                <a:cs typeface="Calibri" pitchFamily="34" charset="-120"/>
              </a:rPr>
              <a:t>10</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651760"/>
          <a:ext cx="7360920" cy="914400"/>
        </p:xfrm>
        <a:graphic>
          <a:graphicData uri="http://schemas.openxmlformats.org/drawingml/2006/table">
            <a:tbl>
              <a:tblPr/>
              <a:tblGrid>
                <a:gridCol w="502920"/>
                <a:gridCol w="960120"/>
                <a:gridCol w="960120"/>
                <a:gridCol w="1234440"/>
                <a:gridCol w="3703320"/>
              </a:tblGrid>
              <a:tr h="47548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16324F"/>
                    </a:solidFill>
                  </a:tcPr>
                </a:tc>
                <a:tc>
                  <a:txBody>
                    <a:bodyPr/>
                    <a:lstStyle/>
                    <a:p>
                      <a:pPr algn="ctr" indent="0" marL="0">
                        <a:buNone/>
                      </a:pPr>
                      <a:r>
                        <a:rPr lang="en-US" sz="1250" b="1" dirty="0">
                          <a:solidFill>
                            <a:srgbClr val="F4A825"/>
                          </a:solidFill>
                          <a:latin typeface="Calibri" pitchFamily="34" charset="0"/>
                          <a:ea typeface="Calibri" pitchFamily="34" charset="-122"/>
                          <a:cs typeface="Calibri" pitchFamily="34" charset="-120"/>
                        </a:rPr>
                        <a:t>offset</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16324F"/>
                    </a:solidFill>
                  </a:tcPr>
                </a:tc>
                <a:tc>
                  <a:txBody>
                    <a:bodyPr/>
                    <a:lstStyle/>
                    <a:p>
                      <a:pPr algn="ctr" indent="0" marL="0">
                        <a:buNone/>
                      </a:pPr>
                      <a:r>
                        <a:rPr lang="en-US" sz="1250" b="1" dirty="0">
                          <a:solidFill>
                            <a:srgbClr val="18C2B8"/>
                          </a:solidFill>
                          <a:latin typeface="Calibri" pitchFamily="34" charset="0"/>
                          <a:ea typeface="Calibri" pitchFamily="34" charset="-122"/>
                          <a:cs typeface="Calibri" pitchFamily="34" charset="-120"/>
                        </a:rPr>
                        <a:t>length</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16324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next_char</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16324F"/>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the token means</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16324F"/>
                    </a:solidFill>
                  </a:tcPr>
                </a:tc>
              </a:tr>
              <a:tr h="475488">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6324F"/>
                          </a:solidFill>
                          <a:latin typeface="Courier New" pitchFamily="34" charset="0"/>
                          <a:ea typeface="Courier New" pitchFamily="34" charset="-122"/>
                          <a:cs typeface="Courier New" pitchFamily="34" charset="-120"/>
                        </a:rPr>
                        <a:t>'a'</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A6B7B"/>
                          </a:solidFill>
                          <a:latin typeface="Calibri" pitchFamily="34" charset="0"/>
                          <a:ea typeface="Calibri" pitchFamily="34" charset="-122"/>
                          <a:cs typeface="Calibri" pitchFamily="34" charset="-120"/>
                        </a:rPr>
                        <a:t>literal — nothing seen yet</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r>
              <a:tr h="475488">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16324F"/>
                          </a:solidFill>
                          <a:latin typeface="Courier New" pitchFamily="34" charset="0"/>
                          <a:ea typeface="Courier New" pitchFamily="34" charset="-122"/>
                          <a:cs typeface="Courier New" pitchFamily="34" charset="-120"/>
                        </a:rPr>
                        <a:t>'b'</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l" indent="0" marL="0">
                        <a:buNone/>
                      </a:pPr>
                      <a:r>
                        <a:rPr lang="en-US" sz="1250" dirty="0">
                          <a:solidFill>
                            <a:srgbClr val="5A6B7B"/>
                          </a:solidFill>
                          <a:latin typeface="Calibri" pitchFamily="34" charset="0"/>
                          <a:ea typeface="Calibri" pitchFamily="34" charset="-122"/>
                          <a:cs typeface="Calibri" pitchFamily="34" charset="-120"/>
                        </a:rPr>
                        <a:t>literal</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r>
              <a:tr h="475488">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0</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6324F"/>
                          </a:solidFill>
                          <a:latin typeface="Courier New" pitchFamily="34" charset="0"/>
                          <a:ea typeface="Courier New" pitchFamily="34" charset="-122"/>
                          <a:cs typeface="Courier New" pitchFamily="34" charset="-120"/>
                        </a:rPr>
                        <a:t>'r'</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A6B7B"/>
                          </a:solidFill>
                          <a:latin typeface="Calibri" pitchFamily="34" charset="0"/>
                          <a:ea typeface="Calibri" pitchFamily="34" charset="-122"/>
                          <a:cs typeface="Calibri" pitchFamily="34" charset="-120"/>
                        </a:rPr>
                        <a:t>literal</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r>
              <a:tr h="475488">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3</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16324F"/>
                          </a:solidFill>
                          <a:latin typeface="Courier New" pitchFamily="34" charset="0"/>
                          <a:ea typeface="Courier New" pitchFamily="34" charset="-122"/>
                          <a:cs typeface="Courier New" pitchFamily="34" charset="-120"/>
                        </a:rPr>
                        <a:t>'c'</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copy 1 from 3 back ('a'), then 'c'</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r>
              <a:tr h="475488">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5</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6324F"/>
                          </a:solidFill>
                          <a:latin typeface="Courier New" pitchFamily="34" charset="0"/>
                          <a:ea typeface="Courier New" pitchFamily="34" charset="-122"/>
                          <a:cs typeface="Courier New" pitchFamily="34" charset="-120"/>
                        </a:rPr>
                        <a:t>'d'</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copy 1 from 5 back ('a'), then 'd'</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r>
              <a:tr h="475488">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7</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0C7A76"/>
                          </a:solidFill>
                          <a:latin typeface="Courier New" pitchFamily="34" charset="0"/>
                          <a:ea typeface="Courier New" pitchFamily="34" charset="-122"/>
                          <a:cs typeface="Courier New" pitchFamily="34" charset="-120"/>
                        </a:rPr>
                        <a:t>4</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16324F"/>
                          </a:solidFill>
                          <a:latin typeface="Courier New" pitchFamily="34" charset="0"/>
                          <a:ea typeface="Courier New" pitchFamily="34" charset="-122"/>
                          <a:cs typeface="Courier New" pitchFamily="34" charset="-120"/>
                        </a:rPr>
                        <a:t>EOF</a:t>
                      </a:r>
                      <a:endParaRPr lang="en-US" sz="1250" dirty="0">
                        <a:latin typeface="Courier New" charset="0"/>
                        <a:ea typeface="Courier New" charset="0"/>
                        <a:cs typeface="Courier New"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copy 4 from 7 back  →  "abra"</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r>
            </a:tbl>
          </a:graphicData>
        </a:graphic>
      </p:graphicFrame>
      <p:sp>
        <p:nvSpPr>
          <p:cNvPr id="40" name="Shape 37"/>
          <p:cNvSpPr/>
          <p:nvPr/>
        </p:nvSpPr>
        <p:spPr>
          <a:xfrm>
            <a:off x="8183880" y="1600200"/>
            <a:ext cx="3429000" cy="4526280"/>
          </a:xfrm>
          <a:prstGeom prst="roundRect">
            <a:avLst>
              <a:gd name="adj" fmla="val 3200"/>
            </a:avLst>
          </a:prstGeom>
          <a:solidFill>
            <a:srgbClr val="0D1B2A"/>
          </a:solidFill>
          <a:ln/>
          <a:effectLst>
            <a:outerShdw sx="100000" sy="100000" kx="0" ky="0" algn="bl" rotWithShape="0" blurRad="114300" dist="38100" dir="5400000">
              <a:srgbClr val="1B3A5B">
                <a:alpha val="20000"/>
              </a:srgbClr>
            </a:outerShdw>
          </a:effectLst>
        </p:spPr>
      </p:sp>
      <p:sp>
        <p:nvSpPr>
          <p:cNvPr id="41" name="Text 38"/>
          <p:cNvSpPr/>
          <p:nvPr/>
        </p:nvSpPr>
        <p:spPr>
          <a:xfrm>
            <a:off x="8458200" y="1737360"/>
            <a:ext cx="288036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Token formation</a:t>
            </a:r>
            <a:endParaRPr lang="en-US" sz="1600" dirty="0"/>
          </a:p>
        </p:txBody>
      </p:sp>
      <p:sp>
        <p:nvSpPr>
          <p:cNvPr id="42" name="Shape 39"/>
          <p:cNvSpPr/>
          <p:nvPr/>
        </p:nvSpPr>
        <p:spPr>
          <a:xfrm>
            <a:off x="8476488" y="2194560"/>
            <a:ext cx="365760" cy="365760"/>
          </a:xfrm>
          <a:prstGeom prst="ellipse">
            <a:avLst/>
          </a:prstGeom>
          <a:solidFill>
            <a:srgbClr val="14A8A0"/>
          </a:solidFill>
          <a:ln/>
        </p:spPr>
      </p:sp>
      <p:sp>
        <p:nvSpPr>
          <p:cNvPr id="43" name="Text 40"/>
          <p:cNvSpPr/>
          <p:nvPr/>
        </p:nvSpPr>
        <p:spPr>
          <a:xfrm>
            <a:off x="8476488" y="21854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44" name="Text 41"/>
          <p:cNvSpPr/>
          <p:nvPr/>
        </p:nvSpPr>
        <p:spPr>
          <a:xfrm>
            <a:off x="8961120" y="2157984"/>
            <a:ext cx="2423160" cy="274320"/>
          </a:xfrm>
          <a:prstGeom prst="rect">
            <a:avLst/>
          </a:prstGeom>
          <a:noFill/>
          <a:ln/>
        </p:spPr>
        <p:txBody>
          <a:bodyPr wrap="square" lIns="0" tIns="0" rIns="0" bIns="0" rtlCol="0" anchor="ctr"/>
          <a:lstStyle/>
          <a:p>
            <a:pPr indent="0" marL="0">
              <a:buNone/>
            </a:pPr>
            <a:r>
              <a:rPr lang="en-US" sz="1400" b="1" dirty="0">
                <a:solidFill>
                  <a:srgbClr val="F4A825"/>
                </a:solidFill>
                <a:latin typeface="Cambria" pitchFamily="34" charset="0"/>
                <a:ea typeface="Cambria" pitchFamily="34" charset="-122"/>
                <a:cs typeface="Cambria" pitchFamily="34" charset="-120"/>
              </a:rPr>
              <a:t>Scan</a:t>
            </a:r>
            <a:endParaRPr lang="en-US" sz="1400" dirty="0"/>
          </a:p>
        </p:txBody>
      </p:sp>
      <p:sp>
        <p:nvSpPr>
          <p:cNvPr id="45" name="Text 42"/>
          <p:cNvSpPr/>
          <p:nvPr/>
        </p:nvSpPr>
        <p:spPr>
          <a:xfrm>
            <a:off x="8961120" y="2432304"/>
            <a:ext cx="2468880" cy="566928"/>
          </a:xfrm>
          <a:prstGeom prst="rect">
            <a:avLst/>
          </a:prstGeom>
          <a:noFill/>
          <a:ln/>
        </p:spPr>
        <p:txBody>
          <a:bodyPr wrap="square" lIns="0" tIns="0" rIns="0" bIns="0" rtlCol="0" anchor="ctr"/>
          <a:lstStyle/>
          <a:p>
            <a:pPr indent="0" marL="0">
              <a:buNone/>
            </a:pPr>
            <a:r>
              <a:rPr lang="en-US" sz="1150" dirty="0">
                <a:solidFill>
                  <a:srgbClr val="C7D6E4"/>
                </a:solidFill>
                <a:latin typeface="Calibri" pitchFamily="34" charset="0"/>
                <a:ea typeface="Calibri" pitchFamily="34" charset="-122"/>
                <a:cs typeface="Calibri" pitchFamily="34" charset="-120"/>
              </a:rPr>
              <a:t>Search the history buffer for the longest prefix of the look-ahead.</a:t>
            </a:r>
            <a:endParaRPr lang="en-US" sz="1150" dirty="0"/>
          </a:p>
        </p:txBody>
      </p:sp>
      <p:sp>
        <p:nvSpPr>
          <p:cNvPr id="46" name="Shape 43"/>
          <p:cNvSpPr/>
          <p:nvPr/>
        </p:nvSpPr>
        <p:spPr>
          <a:xfrm>
            <a:off x="8476488" y="3154680"/>
            <a:ext cx="365760" cy="365760"/>
          </a:xfrm>
          <a:prstGeom prst="ellipse">
            <a:avLst/>
          </a:prstGeom>
          <a:solidFill>
            <a:srgbClr val="14A8A0"/>
          </a:solidFill>
          <a:ln/>
        </p:spPr>
      </p:sp>
      <p:sp>
        <p:nvSpPr>
          <p:cNvPr id="47" name="Text 44"/>
          <p:cNvSpPr/>
          <p:nvPr/>
        </p:nvSpPr>
        <p:spPr>
          <a:xfrm>
            <a:off x="8476488" y="31455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48" name="Text 45"/>
          <p:cNvSpPr/>
          <p:nvPr/>
        </p:nvSpPr>
        <p:spPr>
          <a:xfrm>
            <a:off x="8961120" y="3118104"/>
            <a:ext cx="2423160" cy="274320"/>
          </a:xfrm>
          <a:prstGeom prst="rect">
            <a:avLst/>
          </a:prstGeom>
          <a:noFill/>
          <a:ln/>
        </p:spPr>
        <p:txBody>
          <a:bodyPr wrap="square" lIns="0" tIns="0" rIns="0" bIns="0" rtlCol="0" anchor="ctr"/>
          <a:lstStyle/>
          <a:p>
            <a:pPr indent="0" marL="0">
              <a:buNone/>
            </a:pPr>
            <a:r>
              <a:rPr lang="en-US" sz="1400" b="1" dirty="0">
                <a:solidFill>
                  <a:srgbClr val="F4A825"/>
                </a:solidFill>
                <a:latin typeface="Cambria" pitchFamily="34" charset="0"/>
                <a:ea typeface="Cambria" pitchFamily="34" charset="-122"/>
                <a:cs typeface="Cambria" pitchFamily="34" charset="-120"/>
              </a:rPr>
              <a:t>Encode</a:t>
            </a:r>
            <a:endParaRPr lang="en-US" sz="1400" dirty="0"/>
          </a:p>
        </p:txBody>
      </p:sp>
      <p:sp>
        <p:nvSpPr>
          <p:cNvPr id="49" name="Text 46"/>
          <p:cNvSpPr/>
          <p:nvPr/>
        </p:nvSpPr>
        <p:spPr>
          <a:xfrm>
            <a:off x="8961120" y="3392424"/>
            <a:ext cx="2468880" cy="566928"/>
          </a:xfrm>
          <a:prstGeom prst="rect">
            <a:avLst/>
          </a:prstGeom>
          <a:noFill/>
          <a:ln/>
        </p:spPr>
        <p:txBody>
          <a:bodyPr wrap="square" lIns="0" tIns="0" rIns="0" bIns="0" rtlCol="0" anchor="ctr"/>
          <a:lstStyle/>
          <a:p>
            <a:pPr indent="0" marL="0">
              <a:buNone/>
            </a:pPr>
            <a:r>
              <a:rPr lang="en-US" sz="1150" dirty="0">
                <a:solidFill>
                  <a:srgbClr val="C7D6E4"/>
                </a:solidFill>
                <a:latin typeface="Calibri" pitchFamily="34" charset="0"/>
                <a:ea typeface="Calibri" pitchFamily="34" charset="-122"/>
                <a:cs typeface="Calibri" pitchFamily="34" charset="-120"/>
              </a:rPr>
              <a:t>Emit (offset, length) for that match — or (0,0) if none.</a:t>
            </a:r>
            <a:endParaRPr lang="en-US" sz="1150" dirty="0"/>
          </a:p>
        </p:txBody>
      </p:sp>
      <p:sp>
        <p:nvSpPr>
          <p:cNvPr id="50" name="Shape 47"/>
          <p:cNvSpPr/>
          <p:nvPr/>
        </p:nvSpPr>
        <p:spPr>
          <a:xfrm>
            <a:off x="8476488" y="4114800"/>
            <a:ext cx="365760" cy="365760"/>
          </a:xfrm>
          <a:prstGeom prst="ellipse">
            <a:avLst/>
          </a:prstGeom>
          <a:solidFill>
            <a:srgbClr val="14A8A0"/>
          </a:solidFill>
          <a:ln/>
        </p:spPr>
      </p:sp>
      <p:sp>
        <p:nvSpPr>
          <p:cNvPr id="51" name="Text 48"/>
          <p:cNvSpPr/>
          <p:nvPr/>
        </p:nvSpPr>
        <p:spPr>
          <a:xfrm>
            <a:off x="8476488" y="41056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52" name="Text 49"/>
          <p:cNvSpPr/>
          <p:nvPr/>
        </p:nvSpPr>
        <p:spPr>
          <a:xfrm>
            <a:off x="8961120" y="4078224"/>
            <a:ext cx="2423160" cy="274320"/>
          </a:xfrm>
          <a:prstGeom prst="rect">
            <a:avLst/>
          </a:prstGeom>
          <a:noFill/>
          <a:ln/>
        </p:spPr>
        <p:txBody>
          <a:bodyPr wrap="square" lIns="0" tIns="0" rIns="0" bIns="0" rtlCol="0" anchor="ctr"/>
          <a:lstStyle/>
          <a:p>
            <a:pPr indent="0" marL="0">
              <a:buNone/>
            </a:pPr>
            <a:r>
              <a:rPr lang="en-US" sz="1400" b="1" dirty="0">
                <a:solidFill>
                  <a:srgbClr val="F4A825"/>
                </a:solidFill>
                <a:latin typeface="Cambria" pitchFamily="34" charset="0"/>
                <a:ea typeface="Cambria" pitchFamily="34" charset="-122"/>
                <a:cs typeface="Cambria" pitchFamily="34" charset="-120"/>
              </a:rPr>
              <a:t>Append</a:t>
            </a:r>
            <a:endParaRPr lang="en-US" sz="1400" dirty="0"/>
          </a:p>
        </p:txBody>
      </p:sp>
      <p:sp>
        <p:nvSpPr>
          <p:cNvPr id="53" name="Text 50"/>
          <p:cNvSpPr/>
          <p:nvPr/>
        </p:nvSpPr>
        <p:spPr>
          <a:xfrm>
            <a:off x="8961120" y="4352544"/>
            <a:ext cx="2468880" cy="566928"/>
          </a:xfrm>
          <a:prstGeom prst="rect">
            <a:avLst/>
          </a:prstGeom>
          <a:noFill/>
          <a:ln/>
        </p:spPr>
        <p:txBody>
          <a:bodyPr wrap="square" lIns="0" tIns="0" rIns="0" bIns="0" rtlCol="0" anchor="ctr"/>
          <a:lstStyle/>
          <a:p>
            <a:pPr indent="0" marL="0">
              <a:buNone/>
            </a:pPr>
            <a:r>
              <a:rPr lang="en-US" sz="1150" dirty="0">
                <a:solidFill>
                  <a:srgbClr val="C7D6E4"/>
                </a:solidFill>
                <a:latin typeface="Calibri" pitchFamily="34" charset="0"/>
                <a:ea typeface="Calibri" pitchFamily="34" charset="-122"/>
                <a:cs typeface="Calibri" pitchFamily="34" charset="-120"/>
              </a:rPr>
              <a:t>Add the next single byte that broke the match.</a:t>
            </a:r>
            <a:endParaRPr lang="en-US" sz="1150" dirty="0"/>
          </a:p>
        </p:txBody>
      </p:sp>
      <p:sp>
        <p:nvSpPr>
          <p:cNvPr id="54" name="Shape 51"/>
          <p:cNvSpPr/>
          <p:nvPr/>
        </p:nvSpPr>
        <p:spPr>
          <a:xfrm>
            <a:off x="8476488" y="5074920"/>
            <a:ext cx="365760" cy="365760"/>
          </a:xfrm>
          <a:prstGeom prst="ellipse">
            <a:avLst/>
          </a:prstGeom>
          <a:solidFill>
            <a:srgbClr val="14A8A0"/>
          </a:solidFill>
          <a:ln/>
        </p:spPr>
      </p:sp>
      <p:sp>
        <p:nvSpPr>
          <p:cNvPr id="55" name="Text 52"/>
          <p:cNvSpPr/>
          <p:nvPr/>
        </p:nvSpPr>
        <p:spPr>
          <a:xfrm>
            <a:off x="8476488" y="5065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56" name="Text 53"/>
          <p:cNvSpPr/>
          <p:nvPr/>
        </p:nvSpPr>
        <p:spPr>
          <a:xfrm>
            <a:off x="8961120" y="5038344"/>
            <a:ext cx="2423160" cy="274320"/>
          </a:xfrm>
          <a:prstGeom prst="rect">
            <a:avLst/>
          </a:prstGeom>
          <a:noFill/>
          <a:ln/>
        </p:spPr>
        <p:txBody>
          <a:bodyPr wrap="square" lIns="0" tIns="0" rIns="0" bIns="0" rtlCol="0" anchor="ctr"/>
          <a:lstStyle/>
          <a:p>
            <a:pPr indent="0" marL="0">
              <a:buNone/>
            </a:pPr>
            <a:r>
              <a:rPr lang="en-US" sz="1400" b="1" dirty="0">
                <a:solidFill>
                  <a:srgbClr val="F4A825"/>
                </a:solidFill>
                <a:latin typeface="Cambria" pitchFamily="34" charset="0"/>
                <a:ea typeface="Cambria" pitchFamily="34" charset="-122"/>
                <a:cs typeface="Cambria" pitchFamily="34" charset="-120"/>
              </a:rPr>
              <a:t>Slide</a:t>
            </a:r>
            <a:endParaRPr lang="en-US" sz="1400" dirty="0"/>
          </a:p>
        </p:txBody>
      </p:sp>
      <p:sp>
        <p:nvSpPr>
          <p:cNvPr id="57" name="Text 54"/>
          <p:cNvSpPr/>
          <p:nvPr/>
        </p:nvSpPr>
        <p:spPr>
          <a:xfrm>
            <a:off x="8961120" y="5312664"/>
            <a:ext cx="2468880" cy="566928"/>
          </a:xfrm>
          <a:prstGeom prst="rect">
            <a:avLst/>
          </a:prstGeom>
          <a:noFill/>
          <a:ln/>
        </p:spPr>
        <p:txBody>
          <a:bodyPr wrap="square" lIns="0" tIns="0" rIns="0" bIns="0" rtlCol="0" anchor="ctr"/>
          <a:lstStyle/>
          <a:p>
            <a:pPr indent="0" marL="0">
              <a:buNone/>
            </a:pPr>
            <a:r>
              <a:rPr lang="en-US" sz="1150" dirty="0">
                <a:solidFill>
                  <a:srgbClr val="C7D6E4"/>
                </a:solidFill>
                <a:latin typeface="Calibri" pitchFamily="34" charset="0"/>
                <a:ea typeface="Calibri" pitchFamily="34" charset="-122"/>
                <a:cs typeface="Calibri" pitchFamily="34" charset="-120"/>
              </a:rPr>
              <a:t>Advance the cursor by length + 1 and repeat.</a:t>
            </a:r>
            <a:endParaRPr lang="en-US" sz="1150" dirty="0"/>
          </a:p>
        </p:txBody>
      </p:sp>
      <p:sp>
        <p:nvSpPr>
          <p:cNvPr id="58" name="Text 55"/>
          <p:cNvSpPr/>
          <p:nvPr/>
        </p:nvSpPr>
        <p:spPr>
          <a:xfrm>
            <a:off x="8458200" y="6053328"/>
            <a:ext cx="2880360" cy="320040"/>
          </a:xfrm>
          <a:prstGeom prst="rect">
            <a:avLst/>
          </a:prstGeom>
          <a:noFill/>
          <a:ln/>
        </p:spPr>
        <p:txBody>
          <a:bodyPr wrap="square" lIns="0" tIns="0" rIns="0" bIns="0" rtlCol="0" anchor="ctr"/>
          <a:lstStyle/>
          <a:p>
            <a:pPr algn="ctr" indent="0" marL="0">
              <a:buNone/>
            </a:pPr>
            <a:r>
              <a:rPr lang="en-US" sz="1400" b="1" dirty="0">
                <a:solidFill>
                  <a:srgbClr val="18C2B8"/>
                </a:solidFill>
                <a:latin typeface="Cambria" pitchFamily="34" charset="0"/>
                <a:ea typeface="Cambria" pitchFamily="34" charset="-122"/>
                <a:cs typeface="Cambria" pitchFamily="34" charset="-120"/>
              </a:rPr>
              <a:t>11 bytes  →  6 tokens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FIFO BUILDING BLOCKS</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Why a FIFO?</a:t>
            </a:r>
            <a:endParaRPr lang="en-US" sz="3100" dirty="0"/>
          </a:p>
        </p:txBody>
      </p:sp>
      <p:sp>
        <p:nvSpPr>
          <p:cNvPr id="5" name="Text 3"/>
          <p:cNvSpPr/>
          <p:nvPr/>
        </p:nvSpPr>
        <p:spPr>
          <a:xfrm>
            <a:off x="566928" y="1280160"/>
            <a:ext cx="7680960" cy="45720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The sliding window is a queue: old bytes leave the back, new bytes enter the front. A FIFO is the natural hardware for it.</a:t>
            </a:r>
            <a:endParaRPr lang="en-US" sz="1400" dirty="0"/>
          </a:p>
        </p:txBody>
      </p:sp>
      <p:sp>
        <p:nvSpPr>
          <p:cNvPr id="6" name="Shape 4"/>
          <p:cNvSpPr/>
          <p:nvPr/>
        </p:nvSpPr>
        <p:spPr>
          <a:xfrm>
            <a:off x="566928" y="1965960"/>
            <a:ext cx="3794760" cy="2788920"/>
          </a:xfrm>
          <a:prstGeom prst="roundRect">
            <a:avLst>
              <a:gd name="adj" fmla="val 3934"/>
            </a:avLst>
          </a:prstGeom>
          <a:solidFill>
            <a:srgbClr val="FCEDEC"/>
          </a:solidFill>
          <a:ln w="12700">
            <a:solidFill>
              <a:srgbClr val="F1C7C4"/>
            </a:solidFill>
            <a:prstDash val="solid"/>
          </a:ln>
          <a:effectLst>
            <a:outerShdw sx="100000" sy="100000" kx="0" ky="0" algn="bl" rotWithShape="0" blurRad="114300" dist="38100" dir="5400000">
              <a:srgbClr val="1B3A5B">
                <a:alpha val="20000"/>
              </a:srgbClr>
            </a:outerShdw>
          </a:effectLst>
        </p:spPr>
      </p:sp>
      <p:sp>
        <p:nvSpPr>
          <p:cNvPr id="7" name="Shape 5"/>
          <p:cNvSpPr/>
          <p:nvPr/>
        </p:nvSpPr>
        <p:spPr>
          <a:xfrm>
            <a:off x="841248" y="2194560"/>
            <a:ext cx="2331720" cy="365760"/>
          </a:xfrm>
          <a:prstGeom prst="roundRect">
            <a:avLst>
              <a:gd name="adj" fmla="val 50000"/>
            </a:avLst>
          </a:prstGeom>
          <a:solidFill>
            <a:srgbClr val="E5635E"/>
          </a:solidFill>
          <a:ln/>
        </p:spPr>
      </p:sp>
      <p:sp>
        <p:nvSpPr>
          <p:cNvPr id="8" name="Text 6"/>
          <p:cNvSpPr/>
          <p:nvPr/>
        </p:nvSpPr>
        <p:spPr>
          <a:xfrm>
            <a:off x="841248" y="2194560"/>
            <a:ext cx="23317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Array + shifting</a:t>
            </a:r>
            <a:endParaRPr lang="en-US" sz="1200" dirty="0"/>
          </a:p>
        </p:txBody>
      </p:sp>
      <p:sp>
        <p:nvSpPr>
          <p:cNvPr id="9" name="Text 7"/>
          <p:cNvSpPr/>
          <p:nvPr/>
        </p:nvSpPr>
        <p:spPr>
          <a:xfrm>
            <a:off x="868680" y="2697480"/>
            <a:ext cx="3246120" cy="187452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8A3B37"/>
                </a:solidFill>
                <a:latin typeface="Calibri" pitchFamily="34" charset="0"/>
                <a:ea typeface="Calibri" pitchFamily="34" charset="-122"/>
                <a:cs typeface="Calibri" pitchFamily="34" charset="-120"/>
              </a:rPr>
              <a:t>Every new byte shifts the whole buffer</a:t>
            </a:r>
            <a:endParaRPr lang="en-US" sz="1250" dirty="0"/>
          </a:p>
          <a:p>
            <a:pPr marL="203200" indent="-203200">
              <a:spcAft>
                <a:spcPts val="800"/>
              </a:spcAft>
              <a:buSzPct val="100000"/>
              <a:buChar char="✕"/>
            </a:pPr>
            <a:r>
              <a:rPr lang="en-US" sz="1250" dirty="0">
                <a:solidFill>
                  <a:srgbClr val="8A3B37"/>
                </a:solidFill>
                <a:latin typeface="Calibri" pitchFamily="34" charset="0"/>
                <a:ea typeface="Calibri" pitchFamily="34" charset="-122"/>
                <a:cs typeface="Calibri" pitchFamily="34" charset="-120"/>
              </a:rPr>
              <a:t>O(n) work per byte  →  slower</a:t>
            </a:r>
            <a:endParaRPr lang="en-US" sz="1250" dirty="0"/>
          </a:p>
          <a:p>
            <a:pPr marL="203200" indent="-203200">
              <a:spcAft>
                <a:spcPts val="800"/>
              </a:spcAft>
              <a:buSzPct val="100000"/>
              <a:buChar char="✕"/>
            </a:pPr>
            <a:r>
              <a:rPr lang="en-US" sz="1250" dirty="0">
                <a:solidFill>
                  <a:srgbClr val="8A3B37"/>
                </a:solidFill>
                <a:latin typeface="Calibri" pitchFamily="34" charset="0"/>
                <a:ea typeface="Calibri" pitchFamily="34" charset="-122"/>
                <a:cs typeface="Calibri" pitchFamily="34" charset="-120"/>
              </a:rPr>
              <a:t>More registers &amp; wider muxes toggling</a:t>
            </a:r>
            <a:endParaRPr lang="en-US" sz="1250" dirty="0"/>
          </a:p>
          <a:p>
            <a:pPr marL="203200" indent="-203200">
              <a:spcAft>
                <a:spcPts val="800"/>
              </a:spcAft>
              <a:buSzPct val="100000"/>
              <a:buChar char="✕"/>
            </a:pPr>
            <a:r>
              <a:rPr lang="en-US" sz="1250" dirty="0">
                <a:solidFill>
                  <a:srgbClr val="8A3B37"/>
                </a:solidFill>
                <a:latin typeface="Calibri" pitchFamily="34" charset="0"/>
                <a:ea typeface="Calibri" pitchFamily="34" charset="-122"/>
                <a:cs typeface="Calibri" pitchFamily="34" charset="-120"/>
              </a:rPr>
              <a:t>Wastes energy re-moving stored data</a:t>
            </a:r>
            <a:endParaRPr lang="en-US" sz="1250" dirty="0"/>
          </a:p>
        </p:txBody>
      </p:sp>
      <p:sp>
        <p:nvSpPr>
          <p:cNvPr id="10" name="Shape 8"/>
          <p:cNvSpPr/>
          <p:nvPr/>
        </p:nvSpPr>
        <p:spPr>
          <a:xfrm>
            <a:off x="4553712" y="1965960"/>
            <a:ext cx="3794760" cy="2788920"/>
          </a:xfrm>
          <a:prstGeom prst="roundRect">
            <a:avLst>
              <a:gd name="adj" fmla="val 3934"/>
            </a:avLst>
          </a:prstGeom>
          <a:solidFill>
            <a:srgbClr val="E4F4F2"/>
          </a:solidFill>
          <a:ln w="12700">
            <a:solidFill>
              <a:srgbClr val="B7E1DC"/>
            </a:solidFill>
            <a:prstDash val="solid"/>
          </a:ln>
          <a:effectLst>
            <a:outerShdw sx="100000" sy="100000" kx="0" ky="0" algn="bl" rotWithShape="0" blurRad="114300" dist="38100" dir="5400000">
              <a:srgbClr val="1B3A5B">
                <a:alpha val="20000"/>
              </a:srgbClr>
            </a:outerShdw>
          </a:effectLst>
        </p:spPr>
      </p:sp>
      <p:sp>
        <p:nvSpPr>
          <p:cNvPr id="11" name="Shape 9"/>
          <p:cNvSpPr/>
          <p:nvPr/>
        </p:nvSpPr>
        <p:spPr>
          <a:xfrm>
            <a:off x="4828032" y="2194560"/>
            <a:ext cx="2743200" cy="365760"/>
          </a:xfrm>
          <a:prstGeom prst="roundRect">
            <a:avLst>
              <a:gd name="adj" fmla="val 50000"/>
            </a:avLst>
          </a:prstGeom>
          <a:solidFill>
            <a:srgbClr val="14A8A0"/>
          </a:solidFill>
          <a:ln/>
        </p:spPr>
      </p:sp>
      <p:sp>
        <p:nvSpPr>
          <p:cNvPr id="12" name="Text 10"/>
          <p:cNvSpPr/>
          <p:nvPr/>
        </p:nvSpPr>
        <p:spPr>
          <a:xfrm>
            <a:off x="4828032" y="2194560"/>
            <a:ext cx="2743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Circular FIFO buffer</a:t>
            </a:r>
            <a:endParaRPr lang="en-US" sz="1200" dirty="0"/>
          </a:p>
        </p:txBody>
      </p:sp>
      <p:sp>
        <p:nvSpPr>
          <p:cNvPr id="13" name="Text 11"/>
          <p:cNvSpPr/>
          <p:nvPr/>
        </p:nvSpPr>
        <p:spPr>
          <a:xfrm>
            <a:off x="4855464" y="2697480"/>
            <a:ext cx="3246120" cy="187452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0C5F5B"/>
                </a:solidFill>
                <a:latin typeface="Calibri" pitchFamily="34" charset="0"/>
                <a:ea typeface="Calibri" pitchFamily="34" charset="-122"/>
                <a:cs typeface="Calibri" pitchFamily="34" charset="-120"/>
              </a:rPr>
              <a:t>Data stays put — only pointers move</a:t>
            </a:r>
            <a:endParaRPr lang="en-US" sz="1250" dirty="0"/>
          </a:p>
          <a:p>
            <a:pPr marL="203200" indent="-203200">
              <a:spcAft>
                <a:spcPts val="800"/>
              </a:spcAft>
              <a:buSzPct val="100000"/>
              <a:buChar char="✓"/>
            </a:pPr>
            <a:r>
              <a:rPr lang="en-US" sz="1250" dirty="0">
                <a:solidFill>
                  <a:srgbClr val="0C5F5B"/>
                </a:solidFill>
                <a:latin typeface="Calibri" pitchFamily="34" charset="0"/>
                <a:ea typeface="Calibri" pitchFamily="34" charset="-122"/>
                <a:cs typeface="Calibri" pitchFamily="34" charset="-120"/>
              </a:rPr>
              <a:t>O(1) enqueue and dequeue</a:t>
            </a:r>
            <a:endParaRPr lang="en-US" sz="1250" dirty="0"/>
          </a:p>
          <a:p>
            <a:pPr marL="203200" indent="-203200">
              <a:spcAft>
                <a:spcPts val="800"/>
              </a:spcAft>
              <a:buSzPct val="100000"/>
              <a:buChar char="✓"/>
            </a:pPr>
            <a:r>
              <a:rPr lang="en-US" sz="1250" dirty="0">
                <a:solidFill>
                  <a:srgbClr val="0C5F5B"/>
                </a:solidFill>
                <a:latin typeface="Calibri" pitchFamily="34" charset="0"/>
                <a:ea typeface="Calibri" pitchFamily="34" charset="-122"/>
                <a:cs typeface="Calibri" pitchFamily="34" charset="-120"/>
              </a:rPr>
              <a:t>No mass shifting  →  faster &amp; leaner</a:t>
            </a:r>
            <a:endParaRPr lang="en-US" sz="1250" dirty="0"/>
          </a:p>
          <a:p>
            <a:pPr marL="203200" indent="-203200">
              <a:spcAft>
                <a:spcPts val="800"/>
              </a:spcAft>
              <a:buSzPct val="100000"/>
              <a:buChar char="✓"/>
            </a:pPr>
            <a:r>
              <a:rPr lang="en-US" sz="1250" dirty="0">
                <a:solidFill>
                  <a:srgbClr val="0C5F5B"/>
                </a:solidFill>
                <a:latin typeface="Calibri" pitchFamily="34" charset="0"/>
                <a:ea typeface="Calibri" pitchFamily="34" charset="-122"/>
                <a:cs typeface="Calibri" pitchFamily="34" charset="-120"/>
              </a:rPr>
              <a:t>Perfect fit for continuous streaming</a:t>
            </a:r>
            <a:endParaRPr lang="en-US" sz="1250" dirty="0"/>
          </a:p>
        </p:txBody>
      </p:sp>
      <p:sp>
        <p:nvSpPr>
          <p:cNvPr id="14" name="Shape 12"/>
          <p:cNvSpPr/>
          <p:nvPr/>
        </p:nvSpPr>
        <p:spPr>
          <a:xfrm>
            <a:off x="8549640" y="1965960"/>
            <a:ext cx="3072384" cy="2788920"/>
          </a:xfrm>
          <a:prstGeom prst="roundRect">
            <a:avLst>
              <a:gd name="adj" fmla="val 3934"/>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15" name="Text 13"/>
          <p:cNvSpPr/>
          <p:nvPr/>
        </p:nvSpPr>
        <p:spPr>
          <a:xfrm>
            <a:off x="8732520" y="2103120"/>
            <a:ext cx="2743200" cy="274320"/>
          </a:xfrm>
          <a:prstGeom prst="rect">
            <a:avLst/>
          </a:prstGeom>
          <a:noFill/>
          <a:ln/>
        </p:spPr>
        <p:txBody>
          <a:bodyPr wrap="square" lIns="0" tIns="0" rIns="0" bIns="0" rtlCol="0" anchor="ctr"/>
          <a:lstStyle/>
          <a:p>
            <a:pPr indent="0" marL="0">
              <a:buNone/>
            </a:pPr>
            <a:r>
              <a:rPr lang="en-US" sz="1400" b="1" dirty="0">
                <a:solidFill>
                  <a:srgbClr val="16324F"/>
                </a:solidFill>
                <a:latin typeface="Cambria" pitchFamily="34" charset="0"/>
                <a:ea typeface="Cambria" pitchFamily="34" charset="-122"/>
                <a:cs typeface="Cambria" pitchFamily="34" charset="-120"/>
              </a:rPr>
              <a:t>Ring buffer</a:t>
            </a:r>
            <a:endParaRPr lang="en-US" sz="1400" dirty="0"/>
          </a:p>
        </p:txBody>
      </p:sp>
      <p:sp>
        <p:nvSpPr>
          <p:cNvPr id="16" name="Shape 14"/>
          <p:cNvSpPr/>
          <p:nvPr/>
        </p:nvSpPr>
        <p:spPr>
          <a:xfrm>
            <a:off x="9884664" y="1792224"/>
            <a:ext cx="438912" cy="438912"/>
          </a:xfrm>
          <a:prstGeom prst="roundRect">
            <a:avLst>
              <a:gd name="adj" fmla="val 20833"/>
            </a:avLst>
          </a:prstGeom>
          <a:solidFill>
            <a:srgbClr val="14A8A0"/>
          </a:solidFill>
          <a:ln w="17780">
            <a:solidFill>
              <a:srgbClr val="14A8A0"/>
            </a:solidFill>
            <a:prstDash val="solid"/>
          </a:ln>
        </p:spPr>
      </p:sp>
      <p:sp>
        <p:nvSpPr>
          <p:cNvPr id="17" name="Shape 15"/>
          <p:cNvSpPr/>
          <p:nvPr/>
        </p:nvSpPr>
        <p:spPr>
          <a:xfrm>
            <a:off x="10757545" y="2153783"/>
            <a:ext cx="438912" cy="438912"/>
          </a:xfrm>
          <a:prstGeom prst="roundRect">
            <a:avLst>
              <a:gd name="adj" fmla="val 20833"/>
            </a:avLst>
          </a:prstGeom>
          <a:solidFill>
            <a:srgbClr val="14A8A0"/>
          </a:solidFill>
          <a:ln w="17780">
            <a:solidFill>
              <a:srgbClr val="14A8A0"/>
            </a:solidFill>
            <a:prstDash val="solid"/>
          </a:ln>
        </p:spPr>
      </p:sp>
      <p:sp>
        <p:nvSpPr>
          <p:cNvPr id="18" name="Shape 16"/>
          <p:cNvSpPr/>
          <p:nvPr/>
        </p:nvSpPr>
        <p:spPr>
          <a:xfrm>
            <a:off x="11119104" y="3026664"/>
            <a:ext cx="438912" cy="438912"/>
          </a:xfrm>
          <a:prstGeom prst="roundRect">
            <a:avLst>
              <a:gd name="adj" fmla="val 20833"/>
            </a:avLst>
          </a:prstGeom>
          <a:solidFill>
            <a:srgbClr val="14A8A0"/>
          </a:solidFill>
          <a:ln w="17780">
            <a:solidFill>
              <a:srgbClr val="14A8A0"/>
            </a:solidFill>
            <a:prstDash val="solid"/>
          </a:ln>
        </p:spPr>
      </p:sp>
      <p:sp>
        <p:nvSpPr>
          <p:cNvPr id="19" name="Shape 17"/>
          <p:cNvSpPr/>
          <p:nvPr/>
        </p:nvSpPr>
        <p:spPr>
          <a:xfrm>
            <a:off x="10757545" y="3899545"/>
            <a:ext cx="438912" cy="438912"/>
          </a:xfrm>
          <a:prstGeom prst="roundRect">
            <a:avLst>
              <a:gd name="adj" fmla="val 20833"/>
            </a:avLst>
          </a:prstGeom>
          <a:solidFill>
            <a:srgbClr val="14A8A0"/>
          </a:solidFill>
          <a:ln w="17780">
            <a:solidFill>
              <a:srgbClr val="14A8A0"/>
            </a:solidFill>
            <a:prstDash val="solid"/>
          </a:ln>
        </p:spPr>
      </p:sp>
      <p:sp>
        <p:nvSpPr>
          <p:cNvPr id="20" name="Shape 18"/>
          <p:cNvSpPr/>
          <p:nvPr/>
        </p:nvSpPr>
        <p:spPr>
          <a:xfrm>
            <a:off x="9884664" y="4261104"/>
            <a:ext cx="438912" cy="438912"/>
          </a:xfrm>
          <a:prstGeom prst="roundRect">
            <a:avLst>
              <a:gd name="adj" fmla="val 20833"/>
            </a:avLst>
          </a:prstGeom>
          <a:solidFill>
            <a:srgbClr val="FFFFFF"/>
          </a:solidFill>
          <a:ln w="17780">
            <a:solidFill>
              <a:srgbClr val="14A8A0"/>
            </a:solidFill>
            <a:prstDash val="solid"/>
          </a:ln>
        </p:spPr>
      </p:sp>
      <p:sp>
        <p:nvSpPr>
          <p:cNvPr id="21" name="Shape 19"/>
          <p:cNvSpPr/>
          <p:nvPr/>
        </p:nvSpPr>
        <p:spPr>
          <a:xfrm>
            <a:off x="9011783" y="3899545"/>
            <a:ext cx="438912" cy="438912"/>
          </a:xfrm>
          <a:prstGeom prst="roundRect">
            <a:avLst>
              <a:gd name="adj" fmla="val 20833"/>
            </a:avLst>
          </a:prstGeom>
          <a:solidFill>
            <a:srgbClr val="FFFFFF"/>
          </a:solidFill>
          <a:ln w="17780">
            <a:solidFill>
              <a:srgbClr val="14A8A0"/>
            </a:solidFill>
            <a:prstDash val="solid"/>
          </a:ln>
        </p:spPr>
      </p:sp>
      <p:sp>
        <p:nvSpPr>
          <p:cNvPr id="22" name="Shape 20"/>
          <p:cNvSpPr/>
          <p:nvPr/>
        </p:nvSpPr>
        <p:spPr>
          <a:xfrm>
            <a:off x="8650224" y="3026664"/>
            <a:ext cx="438912" cy="438912"/>
          </a:xfrm>
          <a:prstGeom prst="roundRect">
            <a:avLst>
              <a:gd name="adj" fmla="val 20833"/>
            </a:avLst>
          </a:prstGeom>
          <a:solidFill>
            <a:srgbClr val="FFFFFF"/>
          </a:solidFill>
          <a:ln w="17780">
            <a:solidFill>
              <a:srgbClr val="14A8A0"/>
            </a:solidFill>
            <a:prstDash val="solid"/>
          </a:ln>
        </p:spPr>
      </p:sp>
      <p:sp>
        <p:nvSpPr>
          <p:cNvPr id="23" name="Shape 21"/>
          <p:cNvSpPr/>
          <p:nvPr/>
        </p:nvSpPr>
        <p:spPr>
          <a:xfrm>
            <a:off x="9011783" y="2153783"/>
            <a:ext cx="438912" cy="438912"/>
          </a:xfrm>
          <a:prstGeom prst="roundRect">
            <a:avLst>
              <a:gd name="adj" fmla="val 20833"/>
            </a:avLst>
          </a:prstGeom>
          <a:solidFill>
            <a:srgbClr val="FFFFFF"/>
          </a:solidFill>
          <a:ln w="17780">
            <a:solidFill>
              <a:srgbClr val="14A8A0"/>
            </a:solidFill>
            <a:prstDash val="solid"/>
          </a:ln>
        </p:spPr>
      </p:sp>
      <p:sp>
        <p:nvSpPr>
          <p:cNvPr id="24" name="Shape 22"/>
          <p:cNvSpPr/>
          <p:nvPr/>
        </p:nvSpPr>
        <p:spPr>
          <a:xfrm>
            <a:off x="9957816" y="3099816"/>
            <a:ext cx="292608" cy="292608"/>
          </a:xfrm>
          <a:prstGeom prst="ellipse">
            <a:avLst/>
          </a:prstGeom>
          <a:solidFill>
            <a:srgbClr val="0D1B2A"/>
          </a:solidFill>
          <a:ln/>
        </p:spPr>
      </p:sp>
      <p:sp>
        <p:nvSpPr>
          <p:cNvPr id="25" name="Text 23"/>
          <p:cNvSpPr/>
          <p:nvPr/>
        </p:nvSpPr>
        <p:spPr>
          <a:xfrm>
            <a:off x="9464040" y="4663440"/>
            <a:ext cx="914400" cy="219456"/>
          </a:xfrm>
          <a:prstGeom prst="rect">
            <a:avLst/>
          </a:prstGeom>
          <a:noFill/>
          <a:ln/>
        </p:spPr>
        <p:txBody>
          <a:bodyPr wrap="square" lIns="0" tIns="0" rIns="0" bIns="0" rtlCol="0" anchor="ctr"/>
          <a:lstStyle/>
          <a:p>
            <a:pPr algn="ctr" indent="0" marL="0">
              <a:buNone/>
            </a:pPr>
            <a:r>
              <a:rPr lang="en-US" sz="950" b="1" dirty="0">
                <a:solidFill>
                  <a:srgbClr val="0C7A76"/>
                </a:solidFill>
                <a:latin typeface="Calibri" pitchFamily="34" charset="0"/>
                <a:ea typeface="Calibri" pitchFamily="34" charset="-122"/>
                <a:cs typeface="Calibri" pitchFamily="34" charset="-120"/>
              </a:rPr>
              <a:t>wr →</a:t>
            </a:r>
            <a:endParaRPr lang="en-US" sz="950" dirty="0"/>
          </a:p>
        </p:txBody>
      </p:sp>
      <p:sp>
        <p:nvSpPr>
          <p:cNvPr id="26" name="Text 24"/>
          <p:cNvSpPr/>
          <p:nvPr/>
        </p:nvSpPr>
        <p:spPr>
          <a:xfrm>
            <a:off x="9829800" y="1554480"/>
            <a:ext cx="914400" cy="219456"/>
          </a:xfrm>
          <a:prstGeom prst="rect">
            <a:avLst/>
          </a:prstGeom>
          <a:noFill/>
          <a:ln/>
        </p:spPr>
        <p:txBody>
          <a:bodyPr wrap="square" lIns="0" tIns="0" rIns="0" bIns="0" rtlCol="0" anchor="ctr"/>
          <a:lstStyle/>
          <a:p>
            <a:pPr algn="ctr" indent="0" marL="0">
              <a:buNone/>
            </a:pPr>
            <a:r>
              <a:rPr lang="en-US" sz="950" b="1" dirty="0">
                <a:solidFill>
                  <a:srgbClr val="E5635E"/>
                </a:solidFill>
                <a:latin typeface="Calibri" pitchFamily="34" charset="0"/>
                <a:ea typeface="Calibri" pitchFamily="34" charset="-122"/>
                <a:cs typeface="Calibri" pitchFamily="34" charset="-120"/>
              </a:rPr>
              <a:t>← rd</a:t>
            </a:r>
            <a:endParaRPr lang="en-US" sz="950" dirty="0"/>
          </a:p>
        </p:txBody>
      </p:sp>
      <p:sp>
        <p:nvSpPr>
          <p:cNvPr id="27" name="Text 25"/>
          <p:cNvSpPr/>
          <p:nvPr/>
        </p:nvSpPr>
        <p:spPr>
          <a:xfrm>
            <a:off x="8732520" y="4617720"/>
            <a:ext cx="2743200" cy="457200"/>
          </a:xfrm>
          <a:prstGeom prst="rect">
            <a:avLst/>
          </a:prstGeom>
          <a:noFill/>
          <a:ln/>
        </p:spPr>
        <p:txBody>
          <a:bodyPr wrap="square" lIns="0" tIns="0" rIns="0" bIns="0" rtlCol="0" anchor="ctr"/>
          <a:lstStyle/>
          <a:p>
            <a:pPr algn="ctr" indent="0" marL="0">
              <a:buNone/>
            </a:pPr>
            <a:r>
              <a:rPr lang="en-US" sz="1100" i="1" dirty="0">
                <a:solidFill>
                  <a:srgbClr val="5A6B7B"/>
                </a:solidFill>
                <a:latin typeface="Calibri" pitchFamily="34" charset="0"/>
                <a:ea typeface="Calibri" pitchFamily="34" charset="-122"/>
                <a:cs typeface="Calibri" pitchFamily="34" charset="-120"/>
              </a:rPr>
              <a:t>pointers move,</a:t>
            </a:r>
            <a:endParaRPr lang="en-US" sz="1100" dirty="0"/>
          </a:p>
          <a:p>
            <a:pPr algn="ctr" indent="0" marL="0">
              <a:buNone/>
            </a:pPr>
            <a:r>
              <a:rPr lang="en-US" sz="1100" i="1" dirty="0">
                <a:solidFill>
                  <a:srgbClr val="5A6B7B"/>
                </a:solidFill>
                <a:latin typeface="Calibri" pitchFamily="34" charset="0"/>
                <a:ea typeface="Calibri" pitchFamily="34" charset="-122"/>
                <a:cs typeface="Calibri" pitchFamily="34" charset="-120"/>
              </a:rPr>
              <a:t>data does not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FIFO BUILDING BLOCKS</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Synchronous FIFO</a:t>
            </a:r>
            <a:endParaRPr lang="en-US" sz="3100" dirty="0"/>
          </a:p>
        </p:txBody>
      </p:sp>
      <p:sp>
        <p:nvSpPr>
          <p:cNvPr id="5" name="Text 3"/>
          <p:cNvSpPr/>
          <p:nvPr/>
        </p:nvSpPr>
        <p:spPr>
          <a:xfrm>
            <a:off x="566928" y="1261872"/>
            <a:ext cx="8686800" cy="36576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Single clock domain  ·  power-of-two depth  ·  one wrap-bit trick separates full from empty</a:t>
            </a:r>
            <a:endParaRPr lang="en-US" sz="1350" dirty="0"/>
          </a:p>
        </p:txBody>
      </p:sp>
      <p:sp>
        <p:nvSpPr>
          <p:cNvPr id="6" name="Shape 4"/>
          <p:cNvSpPr/>
          <p:nvPr/>
        </p:nvSpPr>
        <p:spPr>
          <a:xfrm>
            <a:off x="566928" y="1828800"/>
            <a:ext cx="5074920" cy="4160520"/>
          </a:xfrm>
          <a:prstGeom prst="roundRect">
            <a:avLst>
              <a:gd name="adj" fmla="val 263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7" name="Text 5"/>
          <p:cNvSpPr/>
          <p:nvPr/>
        </p:nvSpPr>
        <p:spPr>
          <a:xfrm>
            <a:off x="841248" y="1965960"/>
            <a:ext cx="4526280" cy="274320"/>
          </a:xfrm>
          <a:prstGeom prst="rect">
            <a:avLst/>
          </a:prstGeom>
          <a:noFill/>
          <a:ln/>
        </p:spPr>
        <p:txBody>
          <a:bodyPr wrap="square" lIns="0" tIns="0" rIns="0" bIns="0" rtlCol="0" anchor="ctr"/>
          <a:lstStyle/>
          <a:p>
            <a:pPr indent="0" marL="0">
              <a:buNone/>
            </a:pPr>
            <a:r>
              <a:rPr lang="en-US" sz="1500" b="1" dirty="0">
                <a:solidFill>
                  <a:srgbClr val="16324F"/>
                </a:solidFill>
                <a:latin typeface="Cambria" pitchFamily="34" charset="0"/>
                <a:ea typeface="Cambria" pitchFamily="34" charset="-122"/>
                <a:cs typeface="Cambria" pitchFamily="34" charset="-120"/>
              </a:rPr>
              <a:t>Block diagram</a:t>
            </a:r>
            <a:endParaRPr lang="en-US" sz="1500" dirty="0"/>
          </a:p>
        </p:txBody>
      </p:sp>
      <p:sp>
        <p:nvSpPr>
          <p:cNvPr id="8" name="Shape 6"/>
          <p:cNvSpPr/>
          <p:nvPr/>
        </p:nvSpPr>
        <p:spPr>
          <a:xfrm>
            <a:off x="2121408" y="2743200"/>
            <a:ext cx="2011680" cy="1737360"/>
          </a:xfrm>
          <a:prstGeom prst="roundRect">
            <a:avLst>
              <a:gd name="adj" fmla="val 4211"/>
            </a:avLst>
          </a:prstGeom>
          <a:solidFill>
            <a:srgbClr val="FFFFFF"/>
          </a:solidFill>
          <a:ln w="19050">
            <a:solidFill>
              <a:srgbClr val="1B3A5B"/>
            </a:solidFill>
            <a:prstDash val="solid"/>
          </a:ln>
        </p:spPr>
      </p:sp>
      <p:sp>
        <p:nvSpPr>
          <p:cNvPr id="9" name="Text 7"/>
          <p:cNvSpPr/>
          <p:nvPr/>
        </p:nvSpPr>
        <p:spPr>
          <a:xfrm>
            <a:off x="2121408" y="2880360"/>
            <a:ext cx="2011680" cy="548640"/>
          </a:xfrm>
          <a:prstGeom prst="rect">
            <a:avLst/>
          </a:prstGeom>
          <a:noFill/>
          <a:ln/>
        </p:spPr>
        <p:txBody>
          <a:bodyPr wrap="square" lIns="0" tIns="0" rIns="0" bIns="0" rtlCol="0" anchor="ctr"/>
          <a:lstStyle/>
          <a:p>
            <a:pPr algn="ctr" indent="0" marL="0">
              <a:buNone/>
            </a:pPr>
            <a:r>
              <a:rPr lang="en-US" sz="1100" b="1" dirty="0">
                <a:solidFill>
                  <a:srgbClr val="16324F"/>
                </a:solidFill>
                <a:latin typeface="Calibri" pitchFamily="34" charset="0"/>
                <a:ea typeface="Calibri" pitchFamily="34" charset="-122"/>
                <a:cs typeface="Calibri" pitchFamily="34" charset="-120"/>
              </a:rPr>
              <a:t>mem[0 : DEPTH-1]</a:t>
            </a:r>
            <a:endParaRPr lang="en-US" sz="1100" dirty="0"/>
          </a:p>
          <a:p>
            <a:pPr algn="ctr" indent="0" marL="0">
              <a:buNone/>
            </a:pPr>
            <a:r>
              <a:rPr lang="en-US" sz="1100" b="1" dirty="0">
                <a:solidFill>
                  <a:srgbClr val="16324F"/>
                </a:solidFill>
                <a:latin typeface="Calibri" pitchFamily="34" charset="0"/>
                <a:ea typeface="Calibri" pitchFamily="34" charset="-122"/>
                <a:cs typeface="Calibri" pitchFamily="34" charset="-120"/>
              </a:rPr>
              <a:t>register array</a:t>
            </a:r>
            <a:endParaRPr lang="en-US" sz="1100" dirty="0"/>
          </a:p>
        </p:txBody>
      </p:sp>
      <p:sp>
        <p:nvSpPr>
          <p:cNvPr id="10" name="Shape 8"/>
          <p:cNvSpPr/>
          <p:nvPr/>
        </p:nvSpPr>
        <p:spPr>
          <a:xfrm>
            <a:off x="2441448" y="3566160"/>
            <a:ext cx="237744" cy="548640"/>
          </a:xfrm>
          <a:prstGeom prst="rect">
            <a:avLst/>
          </a:prstGeom>
          <a:solidFill>
            <a:srgbClr val="14A8A0"/>
          </a:solidFill>
          <a:ln w="9525">
            <a:solidFill>
              <a:srgbClr val="1B3A5B"/>
            </a:solidFill>
            <a:prstDash val="solid"/>
          </a:ln>
        </p:spPr>
      </p:sp>
      <p:sp>
        <p:nvSpPr>
          <p:cNvPr id="11" name="Shape 9"/>
          <p:cNvSpPr/>
          <p:nvPr/>
        </p:nvSpPr>
        <p:spPr>
          <a:xfrm>
            <a:off x="2715768" y="3566160"/>
            <a:ext cx="237744" cy="548640"/>
          </a:xfrm>
          <a:prstGeom prst="rect">
            <a:avLst/>
          </a:prstGeom>
          <a:solidFill>
            <a:srgbClr val="14A8A0"/>
          </a:solidFill>
          <a:ln w="9525">
            <a:solidFill>
              <a:srgbClr val="1B3A5B"/>
            </a:solidFill>
            <a:prstDash val="solid"/>
          </a:ln>
        </p:spPr>
      </p:sp>
      <p:sp>
        <p:nvSpPr>
          <p:cNvPr id="12" name="Shape 10"/>
          <p:cNvSpPr/>
          <p:nvPr/>
        </p:nvSpPr>
        <p:spPr>
          <a:xfrm>
            <a:off x="2990088" y="3566160"/>
            <a:ext cx="237744" cy="548640"/>
          </a:xfrm>
          <a:prstGeom prst="rect">
            <a:avLst/>
          </a:prstGeom>
          <a:solidFill>
            <a:srgbClr val="14A8A0"/>
          </a:solidFill>
          <a:ln w="9525">
            <a:solidFill>
              <a:srgbClr val="1B3A5B"/>
            </a:solidFill>
            <a:prstDash val="solid"/>
          </a:ln>
        </p:spPr>
      </p:sp>
      <p:sp>
        <p:nvSpPr>
          <p:cNvPr id="13" name="Shape 11"/>
          <p:cNvSpPr/>
          <p:nvPr/>
        </p:nvSpPr>
        <p:spPr>
          <a:xfrm>
            <a:off x="3264408" y="3566160"/>
            <a:ext cx="237744" cy="548640"/>
          </a:xfrm>
          <a:prstGeom prst="rect">
            <a:avLst/>
          </a:prstGeom>
          <a:solidFill>
            <a:srgbClr val="E7EEF4"/>
          </a:solidFill>
          <a:ln w="9525">
            <a:solidFill>
              <a:srgbClr val="1B3A5B"/>
            </a:solidFill>
            <a:prstDash val="solid"/>
          </a:ln>
        </p:spPr>
      </p:sp>
      <p:sp>
        <p:nvSpPr>
          <p:cNvPr id="14" name="Shape 12"/>
          <p:cNvSpPr/>
          <p:nvPr/>
        </p:nvSpPr>
        <p:spPr>
          <a:xfrm>
            <a:off x="3538728" y="3566160"/>
            <a:ext cx="237744" cy="548640"/>
          </a:xfrm>
          <a:prstGeom prst="rect">
            <a:avLst/>
          </a:prstGeom>
          <a:solidFill>
            <a:srgbClr val="E7EEF4"/>
          </a:solidFill>
          <a:ln w="9525">
            <a:solidFill>
              <a:srgbClr val="1B3A5B"/>
            </a:solidFill>
            <a:prstDash val="solid"/>
          </a:ln>
        </p:spPr>
      </p:sp>
      <p:sp>
        <p:nvSpPr>
          <p:cNvPr id="15" name="Shape 13"/>
          <p:cNvSpPr/>
          <p:nvPr/>
        </p:nvSpPr>
        <p:spPr>
          <a:xfrm>
            <a:off x="841248" y="2788920"/>
            <a:ext cx="1097280" cy="566928"/>
          </a:xfrm>
          <a:prstGeom prst="roundRect">
            <a:avLst>
              <a:gd name="adj" fmla="val 9677"/>
            </a:avLst>
          </a:prstGeom>
          <a:solidFill>
            <a:srgbClr val="14A8A0"/>
          </a:solidFill>
          <a:ln/>
        </p:spPr>
      </p:sp>
      <p:sp>
        <p:nvSpPr>
          <p:cNvPr id="16" name="Text 14"/>
          <p:cNvSpPr/>
          <p:nvPr/>
        </p:nvSpPr>
        <p:spPr>
          <a:xfrm>
            <a:off x="841248" y="2788920"/>
            <a:ext cx="1097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wr_ptr</a:t>
            </a:r>
            <a:endParaRPr lang="en-US" sz="1100" dirty="0"/>
          </a:p>
        </p:txBody>
      </p:sp>
      <p:sp>
        <p:nvSpPr>
          <p:cNvPr id="17" name="Shape 15"/>
          <p:cNvSpPr/>
          <p:nvPr/>
        </p:nvSpPr>
        <p:spPr>
          <a:xfrm>
            <a:off x="1938528" y="3072384"/>
            <a:ext cx="182880" cy="128016"/>
          </a:xfrm>
          <a:prstGeom prst="line">
            <a:avLst/>
          </a:prstGeom>
          <a:noFill/>
          <a:ln w="19050">
            <a:solidFill>
              <a:srgbClr val="14A8A0"/>
            </a:solidFill>
            <a:prstDash val="solid"/>
            <a:tailEnd type="triangle"/>
          </a:ln>
        </p:spPr>
      </p:sp>
      <p:sp>
        <p:nvSpPr>
          <p:cNvPr id="18" name="Shape 16"/>
          <p:cNvSpPr/>
          <p:nvPr/>
        </p:nvSpPr>
        <p:spPr>
          <a:xfrm>
            <a:off x="841248" y="3886200"/>
            <a:ext cx="1097280" cy="566928"/>
          </a:xfrm>
          <a:prstGeom prst="roundRect">
            <a:avLst>
              <a:gd name="adj" fmla="val 9677"/>
            </a:avLst>
          </a:prstGeom>
          <a:solidFill>
            <a:srgbClr val="E5635E"/>
          </a:solidFill>
          <a:ln/>
        </p:spPr>
      </p:sp>
      <p:sp>
        <p:nvSpPr>
          <p:cNvPr id="19" name="Text 17"/>
          <p:cNvSpPr/>
          <p:nvPr/>
        </p:nvSpPr>
        <p:spPr>
          <a:xfrm>
            <a:off x="841248" y="3886200"/>
            <a:ext cx="1097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rd_ptr</a:t>
            </a:r>
            <a:endParaRPr lang="en-US" sz="1100" dirty="0"/>
          </a:p>
        </p:txBody>
      </p:sp>
      <p:sp>
        <p:nvSpPr>
          <p:cNvPr id="20" name="Shape 18"/>
          <p:cNvSpPr/>
          <p:nvPr/>
        </p:nvSpPr>
        <p:spPr>
          <a:xfrm flipV="1">
            <a:off x="1938528" y="4023360"/>
            <a:ext cx="182880" cy="137160"/>
          </a:xfrm>
          <a:prstGeom prst="line">
            <a:avLst/>
          </a:prstGeom>
          <a:noFill/>
          <a:ln w="19050">
            <a:solidFill>
              <a:srgbClr val="E5635E"/>
            </a:solidFill>
            <a:prstDash val="solid"/>
            <a:tailEnd type="triangle"/>
          </a:ln>
        </p:spPr>
      </p:sp>
      <p:sp>
        <p:nvSpPr>
          <p:cNvPr id="21" name="Text 19"/>
          <p:cNvSpPr/>
          <p:nvPr/>
        </p:nvSpPr>
        <p:spPr>
          <a:xfrm>
            <a:off x="4151376" y="3063240"/>
            <a:ext cx="1280160" cy="274320"/>
          </a:xfrm>
          <a:prstGeom prst="rect">
            <a:avLst/>
          </a:prstGeom>
          <a:noFill/>
          <a:ln/>
        </p:spPr>
        <p:txBody>
          <a:bodyPr wrap="square" lIns="0" tIns="0" rIns="0" bIns="0" rtlCol="0" anchor="ctr"/>
          <a:lstStyle/>
          <a:p>
            <a:pPr indent="0" marL="0">
              <a:buNone/>
            </a:pPr>
            <a:r>
              <a:rPr lang="en-US" sz="1100" b="1" dirty="0">
                <a:solidFill>
                  <a:srgbClr val="0C7A76"/>
                </a:solidFill>
                <a:latin typeface="Courier New" pitchFamily="34" charset="0"/>
                <a:ea typeface="Courier New" pitchFamily="34" charset="-122"/>
                <a:cs typeface="Courier New" pitchFamily="34" charset="-120"/>
              </a:rPr>
              <a:t>din →</a:t>
            </a:r>
            <a:endParaRPr lang="en-US" sz="1100" dirty="0"/>
          </a:p>
        </p:txBody>
      </p:sp>
      <p:sp>
        <p:nvSpPr>
          <p:cNvPr id="22" name="Text 20"/>
          <p:cNvSpPr/>
          <p:nvPr/>
        </p:nvSpPr>
        <p:spPr>
          <a:xfrm>
            <a:off x="4151376" y="3886200"/>
            <a:ext cx="1280160" cy="274320"/>
          </a:xfrm>
          <a:prstGeom prst="rect">
            <a:avLst/>
          </a:prstGeom>
          <a:noFill/>
          <a:ln/>
        </p:spPr>
        <p:txBody>
          <a:bodyPr wrap="square" lIns="0" tIns="0" rIns="0" bIns="0" rtlCol="0" anchor="ctr"/>
          <a:lstStyle/>
          <a:p>
            <a:pPr indent="0" marL="0">
              <a:buNone/>
            </a:pPr>
            <a:r>
              <a:rPr lang="en-US" sz="1100" b="1" dirty="0">
                <a:solidFill>
                  <a:srgbClr val="E5635E"/>
                </a:solidFill>
                <a:latin typeface="Courier New" pitchFamily="34" charset="0"/>
                <a:ea typeface="Courier New" pitchFamily="34" charset="-122"/>
                <a:cs typeface="Courier New" pitchFamily="34" charset="-120"/>
              </a:rPr>
              <a:t>→ dout</a:t>
            </a:r>
            <a:endParaRPr lang="en-US" sz="1100" dirty="0"/>
          </a:p>
        </p:txBody>
      </p:sp>
      <p:sp>
        <p:nvSpPr>
          <p:cNvPr id="23" name="Shape 21"/>
          <p:cNvSpPr/>
          <p:nvPr/>
        </p:nvSpPr>
        <p:spPr>
          <a:xfrm>
            <a:off x="841248" y="4709160"/>
            <a:ext cx="2148840" cy="502920"/>
          </a:xfrm>
          <a:prstGeom prst="roundRect">
            <a:avLst>
              <a:gd name="adj" fmla="val 10909"/>
            </a:avLst>
          </a:prstGeom>
          <a:solidFill>
            <a:srgbClr val="0D1B2A"/>
          </a:solidFill>
          <a:ln/>
        </p:spPr>
      </p:sp>
      <p:sp>
        <p:nvSpPr>
          <p:cNvPr id="24" name="Text 22"/>
          <p:cNvSpPr/>
          <p:nvPr/>
        </p:nvSpPr>
        <p:spPr>
          <a:xfrm>
            <a:off x="841248" y="4709160"/>
            <a:ext cx="2148840" cy="502920"/>
          </a:xfrm>
          <a:prstGeom prst="rect">
            <a:avLst/>
          </a:prstGeom>
          <a:noFill/>
          <a:ln/>
        </p:spPr>
        <p:txBody>
          <a:bodyPr wrap="square" lIns="0" tIns="0" rIns="0" bIns="0" rtlCol="0" anchor="ctr"/>
          <a:lstStyle/>
          <a:p>
            <a:pPr algn="ctr" indent="0" marL="0">
              <a:buNone/>
            </a:pPr>
            <a:r>
              <a:rPr lang="en-US" sz="1150" b="1" dirty="0">
                <a:solidFill>
                  <a:srgbClr val="18C2B8"/>
                </a:solidFill>
                <a:latin typeface="Courier New" pitchFamily="34" charset="0"/>
                <a:ea typeface="Courier New" pitchFamily="34" charset="-122"/>
                <a:cs typeface="Courier New" pitchFamily="34" charset="-120"/>
              </a:rPr>
              <a:t>flags:  full   empty</a:t>
            </a:r>
            <a:endParaRPr lang="en-US" sz="1150" dirty="0"/>
          </a:p>
        </p:txBody>
      </p:sp>
      <p:sp>
        <p:nvSpPr>
          <p:cNvPr id="25" name="Text 23"/>
          <p:cNvSpPr/>
          <p:nvPr/>
        </p:nvSpPr>
        <p:spPr>
          <a:xfrm>
            <a:off x="841248" y="5303520"/>
            <a:ext cx="4526280" cy="274320"/>
          </a:xfrm>
          <a:prstGeom prst="rect">
            <a:avLst/>
          </a:prstGeom>
          <a:noFill/>
          <a:ln/>
        </p:spPr>
        <p:txBody>
          <a:bodyPr wrap="square" lIns="0" tIns="0" rIns="0" bIns="0" rtlCol="0" anchor="ctr"/>
          <a:lstStyle/>
          <a:p>
            <a:pPr indent="0" marL="0">
              <a:buNone/>
            </a:pPr>
            <a:r>
              <a:rPr lang="en-US" sz="1050" i="1" dirty="0">
                <a:solidFill>
                  <a:srgbClr val="5A6B7B"/>
                </a:solidFill>
                <a:latin typeface="Calibri" pitchFamily="34" charset="0"/>
                <a:ea typeface="Calibri" pitchFamily="34" charset="-122"/>
                <a:cs typeface="Calibri" pitchFamily="34" charset="-120"/>
              </a:rPr>
              <a:t>clk drives both pointers</a:t>
            </a:r>
            <a:endParaRPr lang="en-US" sz="1050" dirty="0"/>
          </a:p>
        </p:txBody>
      </p:sp>
      <p:sp>
        <p:nvSpPr>
          <p:cNvPr id="26" name="Shape 24"/>
          <p:cNvSpPr/>
          <p:nvPr/>
        </p:nvSpPr>
        <p:spPr>
          <a:xfrm>
            <a:off x="5897880" y="1828800"/>
            <a:ext cx="5715000" cy="2788920"/>
          </a:xfrm>
          <a:prstGeom prst="roundRect">
            <a:avLst>
              <a:gd name="adj" fmla="val 2295"/>
            </a:avLst>
          </a:prstGeom>
          <a:solidFill>
            <a:srgbClr val="0E2233"/>
          </a:solidFill>
          <a:ln w="12700">
            <a:solidFill>
              <a:srgbClr val="25415A"/>
            </a:solidFill>
            <a:prstDash val="solid"/>
          </a:ln>
          <a:effectLst>
            <a:outerShdw sx="100000" sy="100000" kx="0" ky="0" algn="bl" rotWithShape="0" blurRad="114300" dist="38100" dir="5400000">
              <a:srgbClr val="1B3A5B">
                <a:alpha val="20000"/>
              </a:srgbClr>
            </a:outerShdw>
          </a:effectLst>
        </p:spPr>
      </p:sp>
      <p:sp>
        <p:nvSpPr>
          <p:cNvPr id="27" name="Text 25"/>
          <p:cNvSpPr/>
          <p:nvPr/>
        </p:nvSpPr>
        <p:spPr>
          <a:xfrm>
            <a:off x="6099048" y="1920240"/>
            <a:ext cx="5349240" cy="256032"/>
          </a:xfrm>
          <a:prstGeom prst="rect">
            <a:avLst/>
          </a:prstGeom>
          <a:noFill/>
          <a:ln/>
        </p:spPr>
        <p:txBody>
          <a:bodyPr wrap="square" lIns="0" tIns="0" rIns="0" bIns="0" rtlCol="0" anchor="ctr"/>
          <a:lstStyle/>
          <a:p>
            <a:pPr algn="l" indent="0" marL="0">
              <a:buNone/>
            </a:pPr>
            <a:r>
              <a:rPr lang="en-US" sz="1050" i="1" dirty="0">
                <a:solidFill>
                  <a:srgbClr val="18C2B8"/>
                </a:solidFill>
                <a:latin typeface="Courier New" pitchFamily="34" charset="0"/>
                <a:ea typeface="Courier New" pitchFamily="34" charset="-122"/>
                <a:cs typeface="Courier New" pitchFamily="34" charset="-120"/>
              </a:rPr>
              <a:t>sync_fifo.v</a:t>
            </a:r>
            <a:endParaRPr lang="en-US" sz="1050" dirty="0"/>
          </a:p>
        </p:txBody>
      </p:sp>
      <p:sp>
        <p:nvSpPr>
          <p:cNvPr id="28" name="Text 26"/>
          <p:cNvSpPr/>
          <p:nvPr/>
        </p:nvSpPr>
        <p:spPr>
          <a:xfrm>
            <a:off x="6099048" y="2231136"/>
            <a:ext cx="5349240" cy="2276856"/>
          </a:xfrm>
          <a:prstGeom prst="rect">
            <a:avLst/>
          </a:prstGeom>
          <a:noFill/>
          <a:ln/>
        </p:spPr>
        <p:txBody>
          <a:bodyPr wrap="square" lIns="0" tIns="0" rIns="0" bIns="0" rtlCol="0" anchor="t"/>
          <a:lstStyle/>
          <a:p>
            <a:pPr algn="l" indent="0" marL="0">
              <a:lnSpc>
                <a:spcPct val="102000"/>
              </a:lnSpc>
              <a:buNone/>
            </a:pPr>
            <a:r>
              <a:rPr lang="en-US" sz="1100" dirty="0">
                <a:solidFill>
                  <a:srgbClr val="6FA8A0"/>
                </a:solidFill>
                <a:latin typeface="Courier New" pitchFamily="34" charset="0"/>
                <a:ea typeface="Courier New" pitchFamily="34" charset="-122"/>
                <a:cs typeface="Courier New" pitchFamily="34" charset="-120"/>
              </a:rPr>
              <a:t>// pointers carry one extra MSB (wrap bit)</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reg [ADDR_WIDTH:0] wr_ptr, rd_ptr;</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wire do_write = wr_en &amp; ~full;</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wire do_read  = rd_en &amp; ~empty;</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always @(posedge clk) if (do_write) begin</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mem[wr_ptr[ADDR_WIDTH-1:0]] &lt;= din;</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wr_ptr &lt;= wr_ptr + 1'b1;</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end                       // registered read: 1-cyc latency</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assign empty = (wr_ptr == rd_ptr);</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assign full  = (wr_ptr[ADDR_WIDTH] != rd_ptr[ADDR_WIDTH])</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&amp;&amp; (wr_ptr[AW-1:0] == rd_ptr[AW-1:0]);</a:t>
            </a:r>
            <a:endParaRPr lang="en-US" sz="1100" dirty="0"/>
          </a:p>
        </p:txBody>
      </p:sp>
      <p:sp>
        <p:nvSpPr>
          <p:cNvPr id="29" name="Shape 27"/>
          <p:cNvSpPr/>
          <p:nvPr/>
        </p:nvSpPr>
        <p:spPr>
          <a:xfrm>
            <a:off x="5897880" y="4800600"/>
            <a:ext cx="5715000" cy="402336"/>
          </a:xfrm>
          <a:prstGeom prst="roundRect">
            <a:avLst>
              <a:gd name="adj" fmla="val 15909"/>
            </a:avLst>
          </a:prstGeom>
          <a:solidFill>
            <a:srgbClr val="F1F5F9"/>
          </a:solidFill>
          <a:ln w="12700">
            <a:solidFill>
              <a:srgbClr val="D3DEE8"/>
            </a:solidFill>
            <a:prstDash val="solid"/>
          </a:ln>
        </p:spPr>
      </p:sp>
      <p:sp>
        <p:nvSpPr>
          <p:cNvPr id="30" name="Text 28"/>
          <p:cNvSpPr/>
          <p:nvPr/>
        </p:nvSpPr>
        <p:spPr>
          <a:xfrm>
            <a:off x="6099048" y="4800600"/>
            <a:ext cx="5349240" cy="402336"/>
          </a:xfrm>
          <a:prstGeom prst="rect">
            <a:avLst/>
          </a:prstGeom>
          <a:noFill/>
          <a:ln/>
        </p:spPr>
        <p:txBody>
          <a:bodyPr wrap="square" lIns="0" tIns="0" rIns="0" bIns="0" rtlCol="0" anchor="ctr"/>
          <a:lstStyle/>
          <a:p>
            <a:pPr indent="0" marL="0">
              <a:buNone/>
            </a:pPr>
            <a:r>
              <a:rPr lang="en-US" sz="1200" b="1" dirty="0">
                <a:solidFill>
                  <a:srgbClr val="0C7A76"/>
                </a:solidFill>
                <a:latin typeface="Cambria" pitchFamily="34" charset="0"/>
                <a:ea typeface="Cambria" pitchFamily="34" charset="-122"/>
                <a:cs typeface="Cambria" pitchFamily="34" charset="-120"/>
              </a:rPr>
              <a:t>Memory   </a:t>
            </a:r>
            <a:pPr indent="0" marL="0">
              <a:buNone/>
            </a:pPr>
            <a:r>
              <a:rPr lang="en-US" sz="1200" dirty="0">
                <a:solidFill>
                  <a:srgbClr val="5A6B7B"/>
                </a:solidFill>
                <a:latin typeface="Calibri" pitchFamily="34" charset="0"/>
                <a:ea typeface="Calibri" pitchFamily="34" charset="-122"/>
                <a:cs typeface="Calibri" pitchFamily="34" charset="-120"/>
              </a:rPr>
              <a:t>register array holding DEPTH words</a:t>
            </a:r>
            <a:endParaRPr lang="en-US" sz="1200" dirty="0"/>
          </a:p>
        </p:txBody>
      </p:sp>
      <p:sp>
        <p:nvSpPr>
          <p:cNvPr id="31" name="Shape 29"/>
          <p:cNvSpPr/>
          <p:nvPr/>
        </p:nvSpPr>
        <p:spPr>
          <a:xfrm>
            <a:off x="5897880" y="5303520"/>
            <a:ext cx="5715000" cy="402336"/>
          </a:xfrm>
          <a:prstGeom prst="roundRect">
            <a:avLst>
              <a:gd name="adj" fmla="val 15909"/>
            </a:avLst>
          </a:prstGeom>
          <a:solidFill>
            <a:srgbClr val="F1F5F9"/>
          </a:solidFill>
          <a:ln w="12700">
            <a:solidFill>
              <a:srgbClr val="D3DEE8"/>
            </a:solidFill>
            <a:prstDash val="solid"/>
          </a:ln>
        </p:spPr>
      </p:sp>
      <p:sp>
        <p:nvSpPr>
          <p:cNvPr id="32" name="Text 30"/>
          <p:cNvSpPr/>
          <p:nvPr/>
        </p:nvSpPr>
        <p:spPr>
          <a:xfrm>
            <a:off x="6099048" y="5303520"/>
            <a:ext cx="5349240" cy="402336"/>
          </a:xfrm>
          <a:prstGeom prst="rect">
            <a:avLst/>
          </a:prstGeom>
          <a:noFill/>
          <a:ln/>
        </p:spPr>
        <p:txBody>
          <a:bodyPr wrap="square" lIns="0" tIns="0" rIns="0" bIns="0" rtlCol="0" anchor="ctr"/>
          <a:lstStyle/>
          <a:p>
            <a:pPr indent="0" marL="0">
              <a:buNone/>
            </a:pPr>
            <a:r>
              <a:rPr lang="en-US" sz="1200" b="1" dirty="0">
                <a:solidFill>
                  <a:srgbClr val="0C7A76"/>
                </a:solidFill>
                <a:latin typeface="Cambria" pitchFamily="34" charset="0"/>
                <a:ea typeface="Cambria" pitchFamily="34" charset="-122"/>
                <a:cs typeface="Cambria" pitchFamily="34" charset="-120"/>
              </a:rPr>
              <a:t>Pointers   </a:t>
            </a:r>
            <a:pPr indent="0" marL="0">
              <a:buNone/>
            </a:pPr>
            <a:r>
              <a:rPr lang="en-US" sz="1200" dirty="0">
                <a:solidFill>
                  <a:srgbClr val="5A6B7B"/>
                </a:solidFill>
                <a:latin typeface="Calibri" pitchFamily="34" charset="0"/>
                <a:ea typeface="Calibri" pitchFamily="34" charset="-122"/>
                <a:cs typeface="Calibri" pitchFamily="34" charset="-120"/>
              </a:rPr>
              <a:t>(ADDR_WIDTH+1) bits — extra MSB = wrap bit</a:t>
            </a:r>
            <a:endParaRPr lang="en-US" sz="1200" dirty="0"/>
          </a:p>
        </p:txBody>
      </p:sp>
      <p:sp>
        <p:nvSpPr>
          <p:cNvPr id="33" name="Shape 31"/>
          <p:cNvSpPr/>
          <p:nvPr/>
        </p:nvSpPr>
        <p:spPr>
          <a:xfrm>
            <a:off x="5897880" y="5806440"/>
            <a:ext cx="5715000" cy="402336"/>
          </a:xfrm>
          <a:prstGeom prst="roundRect">
            <a:avLst>
              <a:gd name="adj" fmla="val 15909"/>
            </a:avLst>
          </a:prstGeom>
          <a:solidFill>
            <a:srgbClr val="F1F5F9"/>
          </a:solidFill>
          <a:ln w="12700">
            <a:solidFill>
              <a:srgbClr val="D3DEE8"/>
            </a:solidFill>
            <a:prstDash val="solid"/>
          </a:ln>
        </p:spPr>
      </p:sp>
      <p:sp>
        <p:nvSpPr>
          <p:cNvPr id="34" name="Text 32"/>
          <p:cNvSpPr/>
          <p:nvPr/>
        </p:nvSpPr>
        <p:spPr>
          <a:xfrm>
            <a:off x="6099048" y="5806440"/>
            <a:ext cx="5349240" cy="402336"/>
          </a:xfrm>
          <a:prstGeom prst="rect">
            <a:avLst/>
          </a:prstGeom>
          <a:noFill/>
          <a:ln/>
        </p:spPr>
        <p:txBody>
          <a:bodyPr wrap="square" lIns="0" tIns="0" rIns="0" bIns="0" rtlCol="0" anchor="ctr"/>
          <a:lstStyle/>
          <a:p>
            <a:pPr indent="0" marL="0">
              <a:buNone/>
            </a:pPr>
            <a:r>
              <a:rPr lang="en-US" sz="1200" b="1" dirty="0">
                <a:solidFill>
                  <a:srgbClr val="0C7A76"/>
                </a:solidFill>
                <a:latin typeface="Cambria" pitchFamily="34" charset="0"/>
                <a:ea typeface="Cambria" pitchFamily="34" charset="-122"/>
                <a:cs typeface="Cambria" pitchFamily="34" charset="-120"/>
              </a:rPr>
              <a:t>Flags   </a:t>
            </a:r>
            <a:pPr indent="0" marL="0">
              <a:buNone/>
            </a:pPr>
            <a:r>
              <a:rPr lang="en-US" sz="1200" dirty="0">
                <a:solidFill>
                  <a:srgbClr val="5A6B7B"/>
                </a:solidFill>
                <a:latin typeface="Calibri" pitchFamily="34" charset="0"/>
                <a:ea typeface="Calibri" pitchFamily="34" charset="-122"/>
                <a:cs typeface="Calibri" pitchFamily="34" charset="-120"/>
              </a:rPr>
              <a:t>empty: pointers equal · full: same addr, MSB differs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VERIFICATION</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Synchronous FIFO — Testbench &amp; Waveform</a:t>
            </a:r>
            <a:endParaRPr lang="en-US" sz="3100" dirty="0"/>
          </a:p>
        </p:txBody>
      </p:sp>
      <p:sp>
        <p:nvSpPr>
          <p:cNvPr id="5" name="Shape 3"/>
          <p:cNvSpPr/>
          <p:nvPr/>
        </p:nvSpPr>
        <p:spPr>
          <a:xfrm>
            <a:off x="566928" y="1645920"/>
            <a:ext cx="3200400" cy="4434840"/>
          </a:xfrm>
          <a:prstGeom prst="roundRect">
            <a:avLst>
              <a:gd name="adj" fmla="val 3429"/>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6" name="Text 4"/>
          <p:cNvSpPr/>
          <p:nvPr/>
        </p:nvSpPr>
        <p:spPr>
          <a:xfrm>
            <a:off x="822960" y="1783080"/>
            <a:ext cx="2743200" cy="292608"/>
          </a:xfrm>
          <a:prstGeom prst="rect">
            <a:avLst/>
          </a:prstGeom>
          <a:noFill/>
          <a:ln/>
        </p:spPr>
        <p:txBody>
          <a:bodyPr wrap="square" lIns="0" tIns="0" rIns="0" bIns="0" rtlCol="0" anchor="ctr"/>
          <a:lstStyle/>
          <a:p>
            <a:pPr indent="0" marL="0">
              <a:buNone/>
            </a:pPr>
            <a:r>
              <a:rPr lang="en-US" sz="1400" b="1" dirty="0">
                <a:solidFill>
                  <a:srgbClr val="0C7A76"/>
                </a:solidFill>
                <a:latin typeface="Courier New" pitchFamily="34" charset="0"/>
                <a:ea typeface="Courier New" pitchFamily="34" charset="-122"/>
                <a:cs typeface="Courier New" pitchFamily="34" charset="-120"/>
              </a:rPr>
              <a:t>tb_sync_fifo.v</a:t>
            </a:r>
            <a:endParaRPr lang="en-US" sz="1400" dirty="0"/>
          </a:p>
        </p:txBody>
      </p:sp>
      <p:sp>
        <p:nvSpPr>
          <p:cNvPr id="7" name="Shape 5"/>
          <p:cNvSpPr/>
          <p:nvPr/>
        </p:nvSpPr>
        <p:spPr>
          <a:xfrm>
            <a:off x="822960" y="2194560"/>
            <a:ext cx="329184" cy="329184"/>
          </a:xfrm>
          <a:prstGeom prst="ellipse">
            <a:avLst/>
          </a:prstGeom>
          <a:solidFill>
            <a:srgbClr val="14A8A0"/>
          </a:solidFill>
          <a:ln/>
        </p:spPr>
      </p:sp>
      <p:sp>
        <p:nvSpPr>
          <p:cNvPr id="8" name="Text 6"/>
          <p:cNvSpPr/>
          <p:nvPr/>
        </p:nvSpPr>
        <p:spPr>
          <a:xfrm>
            <a:off x="822960" y="2185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7"/>
          <p:cNvSpPr/>
          <p:nvPr/>
        </p:nvSpPr>
        <p:spPr>
          <a:xfrm>
            <a:off x="1252728" y="216712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Write phase</a:t>
            </a:r>
            <a:endParaRPr lang="en-US" sz="1250" dirty="0"/>
          </a:p>
        </p:txBody>
      </p:sp>
      <p:sp>
        <p:nvSpPr>
          <p:cNvPr id="10" name="Text 8"/>
          <p:cNvSpPr/>
          <p:nvPr/>
        </p:nvSpPr>
        <p:spPr>
          <a:xfrm>
            <a:off x="1252728" y="241401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assert wr_en, push bytes until full is raised</a:t>
            </a:r>
            <a:endParaRPr lang="en-US" sz="1050" dirty="0"/>
          </a:p>
        </p:txBody>
      </p:sp>
      <p:sp>
        <p:nvSpPr>
          <p:cNvPr id="11" name="Shape 9"/>
          <p:cNvSpPr/>
          <p:nvPr/>
        </p:nvSpPr>
        <p:spPr>
          <a:xfrm>
            <a:off x="822960" y="2971800"/>
            <a:ext cx="329184" cy="329184"/>
          </a:xfrm>
          <a:prstGeom prst="ellipse">
            <a:avLst/>
          </a:prstGeom>
          <a:solidFill>
            <a:srgbClr val="14A8A0"/>
          </a:solidFill>
          <a:ln/>
        </p:spPr>
      </p:sp>
      <p:sp>
        <p:nvSpPr>
          <p:cNvPr id="12" name="Text 10"/>
          <p:cNvSpPr/>
          <p:nvPr/>
        </p:nvSpPr>
        <p:spPr>
          <a:xfrm>
            <a:off x="822960" y="29626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252728" y="294436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Read phase</a:t>
            </a:r>
            <a:endParaRPr lang="en-US" sz="1250" dirty="0"/>
          </a:p>
        </p:txBody>
      </p:sp>
      <p:sp>
        <p:nvSpPr>
          <p:cNvPr id="14" name="Text 12"/>
          <p:cNvSpPr/>
          <p:nvPr/>
        </p:nvSpPr>
        <p:spPr>
          <a:xfrm>
            <a:off x="1252728" y="319125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assert rd_en, pop bytes until empty is raised</a:t>
            </a:r>
            <a:endParaRPr lang="en-US" sz="1050" dirty="0"/>
          </a:p>
        </p:txBody>
      </p:sp>
      <p:sp>
        <p:nvSpPr>
          <p:cNvPr id="15" name="Shape 13"/>
          <p:cNvSpPr/>
          <p:nvPr/>
        </p:nvSpPr>
        <p:spPr>
          <a:xfrm>
            <a:off x="822960" y="3749040"/>
            <a:ext cx="329184" cy="329184"/>
          </a:xfrm>
          <a:prstGeom prst="ellipse">
            <a:avLst/>
          </a:prstGeom>
          <a:solidFill>
            <a:srgbClr val="14A8A0"/>
          </a:solidFill>
          <a:ln/>
        </p:spPr>
      </p:sp>
      <p:sp>
        <p:nvSpPr>
          <p:cNvPr id="16" name="Text 14"/>
          <p:cNvSpPr/>
          <p:nvPr/>
        </p:nvSpPr>
        <p:spPr>
          <a:xfrm>
            <a:off x="822960" y="3739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252728" y="372160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Full check</a:t>
            </a:r>
            <a:endParaRPr lang="en-US" sz="1250" dirty="0"/>
          </a:p>
        </p:txBody>
      </p:sp>
      <p:sp>
        <p:nvSpPr>
          <p:cNvPr id="18" name="Text 16"/>
          <p:cNvSpPr/>
          <p:nvPr/>
        </p:nvSpPr>
        <p:spPr>
          <a:xfrm>
            <a:off x="1252728" y="396849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writes must stall — data never overwritten</a:t>
            </a:r>
            <a:endParaRPr lang="en-US" sz="1050" dirty="0"/>
          </a:p>
        </p:txBody>
      </p:sp>
      <p:sp>
        <p:nvSpPr>
          <p:cNvPr id="19" name="Shape 17"/>
          <p:cNvSpPr/>
          <p:nvPr/>
        </p:nvSpPr>
        <p:spPr>
          <a:xfrm>
            <a:off x="822960" y="4526280"/>
            <a:ext cx="329184" cy="329184"/>
          </a:xfrm>
          <a:prstGeom prst="ellipse">
            <a:avLst/>
          </a:prstGeom>
          <a:solidFill>
            <a:srgbClr val="14A8A0"/>
          </a:solidFill>
          <a:ln/>
        </p:spPr>
      </p:sp>
      <p:sp>
        <p:nvSpPr>
          <p:cNvPr id="20" name="Text 18"/>
          <p:cNvSpPr/>
          <p:nvPr/>
        </p:nvSpPr>
        <p:spPr>
          <a:xfrm>
            <a:off x="822960" y="45171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p:nvPr/>
        </p:nvSpPr>
        <p:spPr>
          <a:xfrm>
            <a:off x="1252728" y="449884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Empty check</a:t>
            </a:r>
            <a:endParaRPr lang="en-US" sz="1250" dirty="0"/>
          </a:p>
        </p:txBody>
      </p:sp>
      <p:sp>
        <p:nvSpPr>
          <p:cNvPr id="22" name="Text 20"/>
          <p:cNvSpPr/>
          <p:nvPr/>
        </p:nvSpPr>
        <p:spPr>
          <a:xfrm>
            <a:off x="1252728" y="474573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reads must stall — no stale data popped</a:t>
            </a:r>
            <a:endParaRPr lang="en-US" sz="1050" dirty="0"/>
          </a:p>
        </p:txBody>
      </p:sp>
      <p:sp>
        <p:nvSpPr>
          <p:cNvPr id="23" name="Shape 21"/>
          <p:cNvSpPr/>
          <p:nvPr/>
        </p:nvSpPr>
        <p:spPr>
          <a:xfrm>
            <a:off x="822960" y="5303520"/>
            <a:ext cx="329184" cy="329184"/>
          </a:xfrm>
          <a:prstGeom prst="ellipse">
            <a:avLst/>
          </a:prstGeom>
          <a:solidFill>
            <a:srgbClr val="14A8A0"/>
          </a:solidFill>
          <a:ln/>
        </p:spPr>
      </p:sp>
      <p:sp>
        <p:nvSpPr>
          <p:cNvPr id="24" name="Text 22"/>
          <p:cNvSpPr/>
          <p:nvPr/>
        </p:nvSpPr>
        <p:spPr>
          <a:xfrm>
            <a:off x="822960" y="52943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5" name="Text 23"/>
          <p:cNvSpPr/>
          <p:nvPr/>
        </p:nvSpPr>
        <p:spPr>
          <a:xfrm>
            <a:off x="1252728" y="527608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Self-checking</a:t>
            </a:r>
            <a:endParaRPr lang="en-US" sz="1250" dirty="0"/>
          </a:p>
        </p:txBody>
      </p:sp>
      <p:sp>
        <p:nvSpPr>
          <p:cNvPr id="26" name="Text 24"/>
          <p:cNvSpPr/>
          <p:nvPr/>
        </p:nvSpPr>
        <p:spPr>
          <a:xfrm>
            <a:off x="1252728" y="552297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compares popped order vs pushed  →  PASS</a:t>
            </a:r>
            <a:endParaRPr lang="en-US" sz="1050" dirty="0"/>
          </a:p>
        </p:txBody>
      </p:sp>
      <p:sp>
        <p:nvSpPr>
          <p:cNvPr id="27" name="Shape 25"/>
          <p:cNvSpPr/>
          <p:nvPr/>
        </p:nvSpPr>
        <p:spPr>
          <a:xfrm>
            <a:off x="4023360" y="1645920"/>
            <a:ext cx="7589520" cy="4434840"/>
          </a:xfrm>
          <a:prstGeom prst="roundRect">
            <a:avLst>
              <a:gd name="adj" fmla="val 2474"/>
            </a:avLst>
          </a:prstGeom>
          <a:solidFill>
            <a:srgbClr val="0D1B2A"/>
          </a:solidFill>
          <a:ln/>
          <a:effectLst>
            <a:outerShdw sx="100000" sy="100000" kx="0" ky="0" algn="bl" rotWithShape="0" blurRad="114300" dist="38100" dir="5400000">
              <a:srgbClr val="1B3A5B">
                <a:alpha val="20000"/>
              </a:srgbClr>
            </a:outerShdw>
          </a:effectLst>
        </p:spPr>
      </p:sp>
      <p:sp>
        <p:nvSpPr>
          <p:cNvPr id="28" name="Text 26"/>
          <p:cNvSpPr/>
          <p:nvPr/>
        </p:nvSpPr>
        <p:spPr>
          <a:xfrm>
            <a:off x="4343400" y="1783080"/>
            <a:ext cx="6949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Simulation waveform  (illustrative timing)</a:t>
            </a:r>
            <a:endParaRPr lang="en-US" sz="1400" dirty="0"/>
          </a:p>
        </p:txBody>
      </p:sp>
      <p:sp>
        <p:nvSpPr>
          <p:cNvPr id="29" name="Text 27"/>
          <p:cNvSpPr/>
          <p:nvPr/>
        </p:nvSpPr>
        <p:spPr>
          <a:xfrm>
            <a:off x="4206240" y="245059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clk</a:t>
            </a:r>
            <a:endParaRPr lang="en-US" sz="1000" dirty="0"/>
          </a:p>
        </p:txBody>
      </p:sp>
      <p:sp>
        <p:nvSpPr>
          <p:cNvPr id="30" name="Shape 28"/>
          <p:cNvSpPr/>
          <p:nvPr/>
        </p:nvSpPr>
        <p:spPr>
          <a:xfrm>
            <a:off x="5806440" y="2834640"/>
            <a:ext cx="457200" cy="0"/>
          </a:xfrm>
          <a:prstGeom prst="line">
            <a:avLst/>
          </a:prstGeom>
          <a:noFill/>
          <a:ln w="25400">
            <a:solidFill>
              <a:srgbClr val="7FA8C9"/>
            </a:solidFill>
            <a:prstDash val="solid"/>
          </a:ln>
        </p:spPr>
      </p:sp>
      <p:sp>
        <p:nvSpPr>
          <p:cNvPr id="31" name="Shape 29"/>
          <p:cNvSpPr/>
          <p:nvPr/>
        </p:nvSpPr>
        <p:spPr>
          <a:xfrm>
            <a:off x="6263640" y="2468880"/>
            <a:ext cx="457200" cy="0"/>
          </a:xfrm>
          <a:prstGeom prst="line">
            <a:avLst/>
          </a:prstGeom>
          <a:noFill/>
          <a:ln w="25400">
            <a:solidFill>
              <a:srgbClr val="7FA8C9"/>
            </a:solidFill>
            <a:prstDash val="solid"/>
          </a:ln>
        </p:spPr>
      </p:sp>
      <p:sp>
        <p:nvSpPr>
          <p:cNvPr id="32" name="Shape 30"/>
          <p:cNvSpPr/>
          <p:nvPr/>
        </p:nvSpPr>
        <p:spPr>
          <a:xfrm>
            <a:off x="6263640" y="2468880"/>
            <a:ext cx="0" cy="365760"/>
          </a:xfrm>
          <a:prstGeom prst="line">
            <a:avLst/>
          </a:prstGeom>
          <a:noFill/>
          <a:ln w="25400">
            <a:solidFill>
              <a:srgbClr val="7FA8C9"/>
            </a:solidFill>
            <a:prstDash val="solid"/>
          </a:ln>
        </p:spPr>
      </p:sp>
      <p:sp>
        <p:nvSpPr>
          <p:cNvPr id="33" name="Shape 31"/>
          <p:cNvSpPr/>
          <p:nvPr/>
        </p:nvSpPr>
        <p:spPr>
          <a:xfrm>
            <a:off x="6720840" y="2834640"/>
            <a:ext cx="457200" cy="0"/>
          </a:xfrm>
          <a:prstGeom prst="line">
            <a:avLst/>
          </a:prstGeom>
          <a:noFill/>
          <a:ln w="25400">
            <a:solidFill>
              <a:srgbClr val="7FA8C9"/>
            </a:solidFill>
            <a:prstDash val="solid"/>
          </a:ln>
        </p:spPr>
      </p:sp>
      <p:sp>
        <p:nvSpPr>
          <p:cNvPr id="34" name="Shape 32"/>
          <p:cNvSpPr/>
          <p:nvPr/>
        </p:nvSpPr>
        <p:spPr>
          <a:xfrm>
            <a:off x="6720840" y="2468880"/>
            <a:ext cx="0" cy="365760"/>
          </a:xfrm>
          <a:prstGeom prst="line">
            <a:avLst/>
          </a:prstGeom>
          <a:noFill/>
          <a:ln w="25400">
            <a:solidFill>
              <a:srgbClr val="7FA8C9"/>
            </a:solidFill>
            <a:prstDash val="solid"/>
          </a:ln>
        </p:spPr>
      </p:sp>
      <p:sp>
        <p:nvSpPr>
          <p:cNvPr id="35" name="Shape 33"/>
          <p:cNvSpPr/>
          <p:nvPr/>
        </p:nvSpPr>
        <p:spPr>
          <a:xfrm>
            <a:off x="7178040" y="2468880"/>
            <a:ext cx="457200" cy="0"/>
          </a:xfrm>
          <a:prstGeom prst="line">
            <a:avLst/>
          </a:prstGeom>
          <a:noFill/>
          <a:ln w="25400">
            <a:solidFill>
              <a:srgbClr val="7FA8C9"/>
            </a:solidFill>
            <a:prstDash val="solid"/>
          </a:ln>
        </p:spPr>
      </p:sp>
      <p:sp>
        <p:nvSpPr>
          <p:cNvPr id="36" name="Shape 34"/>
          <p:cNvSpPr/>
          <p:nvPr/>
        </p:nvSpPr>
        <p:spPr>
          <a:xfrm>
            <a:off x="7178040" y="2468880"/>
            <a:ext cx="0" cy="365760"/>
          </a:xfrm>
          <a:prstGeom prst="line">
            <a:avLst/>
          </a:prstGeom>
          <a:noFill/>
          <a:ln w="25400">
            <a:solidFill>
              <a:srgbClr val="7FA8C9"/>
            </a:solidFill>
            <a:prstDash val="solid"/>
          </a:ln>
        </p:spPr>
      </p:sp>
      <p:sp>
        <p:nvSpPr>
          <p:cNvPr id="37" name="Shape 35"/>
          <p:cNvSpPr/>
          <p:nvPr/>
        </p:nvSpPr>
        <p:spPr>
          <a:xfrm>
            <a:off x="7635240" y="2834640"/>
            <a:ext cx="457200" cy="0"/>
          </a:xfrm>
          <a:prstGeom prst="line">
            <a:avLst/>
          </a:prstGeom>
          <a:noFill/>
          <a:ln w="25400">
            <a:solidFill>
              <a:srgbClr val="7FA8C9"/>
            </a:solidFill>
            <a:prstDash val="solid"/>
          </a:ln>
        </p:spPr>
      </p:sp>
      <p:sp>
        <p:nvSpPr>
          <p:cNvPr id="38" name="Shape 36"/>
          <p:cNvSpPr/>
          <p:nvPr/>
        </p:nvSpPr>
        <p:spPr>
          <a:xfrm>
            <a:off x="7635240" y="2468880"/>
            <a:ext cx="0" cy="365760"/>
          </a:xfrm>
          <a:prstGeom prst="line">
            <a:avLst/>
          </a:prstGeom>
          <a:noFill/>
          <a:ln w="25400">
            <a:solidFill>
              <a:srgbClr val="7FA8C9"/>
            </a:solidFill>
            <a:prstDash val="solid"/>
          </a:ln>
        </p:spPr>
      </p:sp>
      <p:sp>
        <p:nvSpPr>
          <p:cNvPr id="39" name="Shape 37"/>
          <p:cNvSpPr/>
          <p:nvPr/>
        </p:nvSpPr>
        <p:spPr>
          <a:xfrm>
            <a:off x="8092440" y="2468880"/>
            <a:ext cx="457200" cy="0"/>
          </a:xfrm>
          <a:prstGeom prst="line">
            <a:avLst/>
          </a:prstGeom>
          <a:noFill/>
          <a:ln w="25400">
            <a:solidFill>
              <a:srgbClr val="7FA8C9"/>
            </a:solidFill>
            <a:prstDash val="solid"/>
          </a:ln>
        </p:spPr>
      </p:sp>
      <p:sp>
        <p:nvSpPr>
          <p:cNvPr id="40" name="Shape 38"/>
          <p:cNvSpPr/>
          <p:nvPr/>
        </p:nvSpPr>
        <p:spPr>
          <a:xfrm>
            <a:off x="8092440" y="2468880"/>
            <a:ext cx="0" cy="365760"/>
          </a:xfrm>
          <a:prstGeom prst="line">
            <a:avLst/>
          </a:prstGeom>
          <a:noFill/>
          <a:ln w="25400">
            <a:solidFill>
              <a:srgbClr val="7FA8C9"/>
            </a:solidFill>
            <a:prstDash val="solid"/>
          </a:ln>
        </p:spPr>
      </p:sp>
      <p:sp>
        <p:nvSpPr>
          <p:cNvPr id="41" name="Shape 39"/>
          <p:cNvSpPr/>
          <p:nvPr/>
        </p:nvSpPr>
        <p:spPr>
          <a:xfrm>
            <a:off x="8549640" y="2834640"/>
            <a:ext cx="457200" cy="0"/>
          </a:xfrm>
          <a:prstGeom prst="line">
            <a:avLst/>
          </a:prstGeom>
          <a:noFill/>
          <a:ln w="25400">
            <a:solidFill>
              <a:srgbClr val="7FA8C9"/>
            </a:solidFill>
            <a:prstDash val="solid"/>
          </a:ln>
        </p:spPr>
      </p:sp>
      <p:sp>
        <p:nvSpPr>
          <p:cNvPr id="42" name="Shape 40"/>
          <p:cNvSpPr/>
          <p:nvPr/>
        </p:nvSpPr>
        <p:spPr>
          <a:xfrm>
            <a:off x="8549640" y="2468880"/>
            <a:ext cx="0" cy="365760"/>
          </a:xfrm>
          <a:prstGeom prst="line">
            <a:avLst/>
          </a:prstGeom>
          <a:noFill/>
          <a:ln w="25400">
            <a:solidFill>
              <a:srgbClr val="7FA8C9"/>
            </a:solidFill>
            <a:prstDash val="solid"/>
          </a:ln>
        </p:spPr>
      </p:sp>
      <p:sp>
        <p:nvSpPr>
          <p:cNvPr id="43" name="Shape 41"/>
          <p:cNvSpPr/>
          <p:nvPr/>
        </p:nvSpPr>
        <p:spPr>
          <a:xfrm>
            <a:off x="9006840" y="2468880"/>
            <a:ext cx="457200" cy="0"/>
          </a:xfrm>
          <a:prstGeom prst="line">
            <a:avLst/>
          </a:prstGeom>
          <a:noFill/>
          <a:ln w="25400">
            <a:solidFill>
              <a:srgbClr val="7FA8C9"/>
            </a:solidFill>
            <a:prstDash val="solid"/>
          </a:ln>
        </p:spPr>
      </p:sp>
      <p:sp>
        <p:nvSpPr>
          <p:cNvPr id="44" name="Shape 42"/>
          <p:cNvSpPr/>
          <p:nvPr/>
        </p:nvSpPr>
        <p:spPr>
          <a:xfrm>
            <a:off x="9006840" y="2468880"/>
            <a:ext cx="0" cy="365760"/>
          </a:xfrm>
          <a:prstGeom prst="line">
            <a:avLst/>
          </a:prstGeom>
          <a:noFill/>
          <a:ln w="25400">
            <a:solidFill>
              <a:srgbClr val="7FA8C9"/>
            </a:solidFill>
            <a:prstDash val="solid"/>
          </a:ln>
        </p:spPr>
      </p:sp>
      <p:sp>
        <p:nvSpPr>
          <p:cNvPr id="45" name="Shape 43"/>
          <p:cNvSpPr/>
          <p:nvPr/>
        </p:nvSpPr>
        <p:spPr>
          <a:xfrm>
            <a:off x="9464040" y="2834640"/>
            <a:ext cx="457200" cy="0"/>
          </a:xfrm>
          <a:prstGeom prst="line">
            <a:avLst/>
          </a:prstGeom>
          <a:noFill/>
          <a:ln w="25400">
            <a:solidFill>
              <a:srgbClr val="7FA8C9"/>
            </a:solidFill>
            <a:prstDash val="solid"/>
          </a:ln>
        </p:spPr>
      </p:sp>
      <p:sp>
        <p:nvSpPr>
          <p:cNvPr id="46" name="Shape 44"/>
          <p:cNvSpPr/>
          <p:nvPr/>
        </p:nvSpPr>
        <p:spPr>
          <a:xfrm>
            <a:off x="9464040" y="2468880"/>
            <a:ext cx="0" cy="365760"/>
          </a:xfrm>
          <a:prstGeom prst="line">
            <a:avLst/>
          </a:prstGeom>
          <a:noFill/>
          <a:ln w="25400">
            <a:solidFill>
              <a:srgbClr val="7FA8C9"/>
            </a:solidFill>
            <a:prstDash val="solid"/>
          </a:ln>
        </p:spPr>
      </p:sp>
      <p:sp>
        <p:nvSpPr>
          <p:cNvPr id="47" name="Shape 45"/>
          <p:cNvSpPr/>
          <p:nvPr/>
        </p:nvSpPr>
        <p:spPr>
          <a:xfrm>
            <a:off x="9921240" y="2468880"/>
            <a:ext cx="457200" cy="0"/>
          </a:xfrm>
          <a:prstGeom prst="line">
            <a:avLst/>
          </a:prstGeom>
          <a:noFill/>
          <a:ln w="25400">
            <a:solidFill>
              <a:srgbClr val="7FA8C9"/>
            </a:solidFill>
            <a:prstDash val="solid"/>
          </a:ln>
        </p:spPr>
      </p:sp>
      <p:sp>
        <p:nvSpPr>
          <p:cNvPr id="48" name="Shape 46"/>
          <p:cNvSpPr/>
          <p:nvPr/>
        </p:nvSpPr>
        <p:spPr>
          <a:xfrm>
            <a:off x="9921240" y="2468880"/>
            <a:ext cx="0" cy="365760"/>
          </a:xfrm>
          <a:prstGeom prst="line">
            <a:avLst/>
          </a:prstGeom>
          <a:noFill/>
          <a:ln w="25400">
            <a:solidFill>
              <a:srgbClr val="7FA8C9"/>
            </a:solidFill>
            <a:prstDash val="solid"/>
          </a:ln>
        </p:spPr>
      </p:sp>
      <p:sp>
        <p:nvSpPr>
          <p:cNvPr id="49" name="Shape 47"/>
          <p:cNvSpPr/>
          <p:nvPr/>
        </p:nvSpPr>
        <p:spPr>
          <a:xfrm>
            <a:off x="10378440" y="2834640"/>
            <a:ext cx="457200" cy="0"/>
          </a:xfrm>
          <a:prstGeom prst="line">
            <a:avLst/>
          </a:prstGeom>
          <a:noFill/>
          <a:ln w="25400">
            <a:solidFill>
              <a:srgbClr val="7FA8C9"/>
            </a:solidFill>
            <a:prstDash val="solid"/>
          </a:ln>
        </p:spPr>
      </p:sp>
      <p:sp>
        <p:nvSpPr>
          <p:cNvPr id="50" name="Shape 48"/>
          <p:cNvSpPr/>
          <p:nvPr/>
        </p:nvSpPr>
        <p:spPr>
          <a:xfrm>
            <a:off x="10378440" y="2468880"/>
            <a:ext cx="0" cy="365760"/>
          </a:xfrm>
          <a:prstGeom prst="line">
            <a:avLst/>
          </a:prstGeom>
          <a:noFill/>
          <a:ln w="25400">
            <a:solidFill>
              <a:srgbClr val="7FA8C9"/>
            </a:solidFill>
            <a:prstDash val="solid"/>
          </a:ln>
        </p:spPr>
      </p:sp>
      <p:sp>
        <p:nvSpPr>
          <p:cNvPr id="51" name="Shape 49"/>
          <p:cNvSpPr/>
          <p:nvPr/>
        </p:nvSpPr>
        <p:spPr>
          <a:xfrm>
            <a:off x="10835640" y="2468880"/>
            <a:ext cx="457200" cy="0"/>
          </a:xfrm>
          <a:prstGeom prst="line">
            <a:avLst/>
          </a:prstGeom>
          <a:noFill/>
          <a:ln w="25400">
            <a:solidFill>
              <a:srgbClr val="7FA8C9"/>
            </a:solidFill>
            <a:prstDash val="solid"/>
          </a:ln>
        </p:spPr>
      </p:sp>
      <p:sp>
        <p:nvSpPr>
          <p:cNvPr id="52" name="Shape 50"/>
          <p:cNvSpPr/>
          <p:nvPr/>
        </p:nvSpPr>
        <p:spPr>
          <a:xfrm>
            <a:off x="10835640" y="2468880"/>
            <a:ext cx="0" cy="365760"/>
          </a:xfrm>
          <a:prstGeom prst="line">
            <a:avLst/>
          </a:prstGeom>
          <a:noFill/>
          <a:ln w="25400">
            <a:solidFill>
              <a:srgbClr val="7FA8C9"/>
            </a:solidFill>
            <a:prstDash val="solid"/>
          </a:ln>
        </p:spPr>
      </p:sp>
      <p:sp>
        <p:nvSpPr>
          <p:cNvPr id="53" name="Text 51"/>
          <p:cNvSpPr/>
          <p:nvPr/>
        </p:nvSpPr>
        <p:spPr>
          <a:xfrm>
            <a:off x="4206240" y="2962656"/>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wr_en</a:t>
            </a:r>
            <a:endParaRPr lang="en-US" sz="1000" dirty="0"/>
          </a:p>
        </p:txBody>
      </p:sp>
      <p:sp>
        <p:nvSpPr>
          <p:cNvPr id="54" name="Shape 52"/>
          <p:cNvSpPr/>
          <p:nvPr/>
        </p:nvSpPr>
        <p:spPr>
          <a:xfrm>
            <a:off x="5806440" y="3346704"/>
            <a:ext cx="457200" cy="0"/>
          </a:xfrm>
          <a:prstGeom prst="line">
            <a:avLst/>
          </a:prstGeom>
          <a:noFill/>
          <a:ln w="25400">
            <a:solidFill>
              <a:srgbClr val="18C2B8"/>
            </a:solidFill>
            <a:prstDash val="solid"/>
          </a:ln>
        </p:spPr>
      </p:sp>
      <p:sp>
        <p:nvSpPr>
          <p:cNvPr id="55" name="Shape 53"/>
          <p:cNvSpPr/>
          <p:nvPr/>
        </p:nvSpPr>
        <p:spPr>
          <a:xfrm>
            <a:off x="6263640" y="2980944"/>
            <a:ext cx="457200" cy="0"/>
          </a:xfrm>
          <a:prstGeom prst="line">
            <a:avLst/>
          </a:prstGeom>
          <a:noFill/>
          <a:ln w="25400">
            <a:solidFill>
              <a:srgbClr val="18C2B8"/>
            </a:solidFill>
            <a:prstDash val="solid"/>
          </a:ln>
        </p:spPr>
      </p:sp>
      <p:sp>
        <p:nvSpPr>
          <p:cNvPr id="56" name="Shape 54"/>
          <p:cNvSpPr/>
          <p:nvPr/>
        </p:nvSpPr>
        <p:spPr>
          <a:xfrm>
            <a:off x="6263640" y="2980944"/>
            <a:ext cx="0" cy="365760"/>
          </a:xfrm>
          <a:prstGeom prst="line">
            <a:avLst/>
          </a:prstGeom>
          <a:noFill/>
          <a:ln w="25400">
            <a:solidFill>
              <a:srgbClr val="18C2B8"/>
            </a:solidFill>
            <a:prstDash val="solid"/>
          </a:ln>
        </p:spPr>
      </p:sp>
      <p:sp>
        <p:nvSpPr>
          <p:cNvPr id="57" name="Shape 55"/>
          <p:cNvSpPr/>
          <p:nvPr/>
        </p:nvSpPr>
        <p:spPr>
          <a:xfrm>
            <a:off x="6720840" y="2980944"/>
            <a:ext cx="457200" cy="0"/>
          </a:xfrm>
          <a:prstGeom prst="line">
            <a:avLst/>
          </a:prstGeom>
          <a:noFill/>
          <a:ln w="25400">
            <a:solidFill>
              <a:srgbClr val="18C2B8"/>
            </a:solidFill>
            <a:prstDash val="solid"/>
          </a:ln>
        </p:spPr>
      </p:sp>
      <p:sp>
        <p:nvSpPr>
          <p:cNvPr id="58" name="Shape 56"/>
          <p:cNvSpPr/>
          <p:nvPr/>
        </p:nvSpPr>
        <p:spPr>
          <a:xfrm>
            <a:off x="7178040" y="2980944"/>
            <a:ext cx="457200" cy="0"/>
          </a:xfrm>
          <a:prstGeom prst="line">
            <a:avLst/>
          </a:prstGeom>
          <a:noFill/>
          <a:ln w="25400">
            <a:solidFill>
              <a:srgbClr val="18C2B8"/>
            </a:solidFill>
            <a:prstDash val="solid"/>
          </a:ln>
        </p:spPr>
      </p:sp>
      <p:sp>
        <p:nvSpPr>
          <p:cNvPr id="59" name="Shape 57"/>
          <p:cNvSpPr/>
          <p:nvPr/>
        </p:nvSpPr>
        <p:spPr>
          <a:xfrm>
            <a:off x="7635240" y="3346704"/>
            <a:ext cx="457200" cy="0"/>
          </a:xfrm>
          <a:prstGeom prst="line">
            <a:avLst/>
          </a:prstGeom>
          <a:noFill/>
          <a:ln w="25400">
            <a:solidFill>
              <a:srgbClr val="18C2B8"/>
            </a:solidFill>
            <a:prstDash val="solid"/>
          </a:ln>
        </p:spPr>
      </p:sp>
      <p:sp>
        <p:nvSpPr>
          <p:cNvPr id="60" name="Shape 58"/>
          <p:cNvSpPr/>
          <p:nvPr/>
        </p:nvSpPr>
        <p:spPr>
          <a:xfrm>
            <a:off x="7635240" y="2980944"/>
            <a:ext cx="0" cy="365760"/>
          </a:xfrm>
          <a:prstGeom prst="line">
            <a:avLst/>
          </a:prstGeom>
          <a:noFill/>
          <a:ln w="25400">
            <a:solidFill>
              <a:srgbClr val="18C2B8"/>
            </a:solidFill>
            <a:prstDash val="solid"/>
          </a:ln>
        </p:spPr>
      </p:sp>
      <p:sp>
        <p:nvSpPr>
          <p:cNvPr id="61" name="Shape 59"/>
          <p:cNvSpPr/>
          <p:nvPr/>
        </p:nvSpPr>
        <p:spPr>
          <a:xfrm>
            <a:off x="8092440" y="3346704"/>
            <a:ext cx="457200" cy="0"/>
          </a:xfrm>
          <a:prstGeom prst="line">
            <a:avLst/>
          </a:prstGeom>
          <a:noFill/>
          <a:ln w="25400">
            <a:solidFill>
              <a:srgbClr val="18C2B8"/>
            </a:solidFill>
            <a:prstDash val="solid"/>
          </a:ln>
        </p:spPr>
      </p:sp>
      <p:sp>
        <p:nvSpPr>
          <p:cNvPr id="62" name="Shape 60"/>
          <p:cNvSpPr/>
          <p:nvPr/>
        </p:nvSpPr>
        <p:spPr>
          <a:xfrm>
            <a:off x="8549640" y="3346704"/>
            <a:ext cx="457200" cy="0"/>
          </a:xfrm>
          <a:prstGeom prst="line">
            <a:avLst/>
          </a:prstGeom>
          <a:noFill/>
          <a:ln w="25400">
            <a:solidFill>
              <a:srgbClr val="18C2B8"/>
            </a:solidFill>
            <a:prstDash val="solid"/>
          </a:ln>
        </p:spPr>
      </p:sp>
      <p:sp>
        <p:nvSpPr>
          <p:cNvPr id="63" name="Shape 61"/>
          <p:cNvSpPr/>
          <p:nvPr/>
        </p:nvSpPr>
        <p:spPr>
          <a:xfrm>
            <a:off x="9006840" y="3346704"/>
            <a:ext cx="457200" cy="0"/>
          </a:xfrm>
          <a:prstGeom prst="line">
            <a:avLst/>
          </a:prstGeom>
          <a:noFill/>
          <a:ln w="25400">
            <a:solidFill>
              <a:srgbClr val="18C2B8"/>
            </a:solidFill>
            <a:prstDash val="solid"/>
          </a:ln>
        </p:spPr>
      </p:sp>
      <p:sp>
        <p:nvSpPr>
          <p:cNvPr id="64" name="Shape 62"/>
          <p:cNvSpPr/>
          <p:nvPr/>
        </p:nvSpPr>
        <p:spPr>
          <a:xfrm>
            <a:off x="9464040" y="3346704"/>
            <a:ext cx="457200" cy="0"/>
          </a:xfrm>
          <a:prstGeom prst="line">
            <a:avLst/>
          </a:prstGeom>
          <a:noFill/>
          <a:ln w="25400">
            <a:solidFill>
              <a:srgbClr val="18C2B8"/>
            </a:solidFill>
            <a:prstDash val="solid"/>
          </a:ln>
        </p:spPr>
      </p:sp>
      <p:sp>
        <p:nvSpPr>
          <p:cNvPr id="65" name="Shape 63"/>
          <p:cNvSpPr/>
          <p:nvPr/>
        </p:nvSpPr>
        <p:spPr>
          <a:xfrm>
            <a:off x="9921240" y="3346704"/>
            <a:ext cx="457200" cy="0"/>
          </a:xfrm>
          <a:prstGeom prst="line">
            <a:avLst/>
          </a:prstGeom>
          <a:noFill/>
          <a:ln w="25400">
            <a:solidFill>
              <a:srgbClr val="18C2B8"/>
            </a:solidFill>
            <a:prstDash val="solid"/>
          </a:ln>
        </p:spPr>
      </p:sp>
      <p:sp>
        <p:nvSpPr>
          <p:cNvPr id="66" name="Shape 64"/>
          <p:cNvSpPr/>
          <p:nvPr/>
        </p:nvSpPr>
        <p:spPr>
          <a:xfrm>
            <a:off x="10378440" y="3346704"/>
            <a:ext cx="457200" cy="0"/>
          </a:xfrm>
          <a:prstGeom prst="line">
            <a:avLst/>
          </a:prstGeom>
          <a:noFill/>
          <a:ln w="25400">
            <a:solidFill>
              <a:srgbClr val="18C2B8"/>
            </a:solidFill>
            <a:prstDash val="solid"/>
          </a:ln>
        </p:spPr>
      </p:sp>
      <p:sp>
        <p:nvSpPr>
          <p:cNvPr id="67" name="Shape 65"/>
          <p:cNvSpPr/>
          <p:nvPr/>
        </p:nvSpPr>
        <p:spPr>
          <a:xfrm>
            <a:off x="10835640" y="3346704"/>
            <a:ext cx="457200" cy="0"/>
          </a:xfrm>
          <a:prstGeom prst="line">
            <a:avLst/>
          </a:prstGeom>
          <a:noFill/>
          <a:ln w="25400">
            <a:solidFill>
              <a:srgbClr val="18C2B8"/>
            </a:solidFill>
            <a:prstDash val="solid"/>
          </a:ln>
        </p:spPr>
      </p:sp>
      <p:sp>
        <p:nvSpPr>
          <p:cNvPr id="68" name="Text 66"/>
          <p:cNvSpPr/>
          <p:nvPr/>
        </p:nvSpPr>
        <p:spPr>
          <a:xfrm>
            <a:off x="4206240" y="3474720"/>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din</a:t>
            </a:r>
            <a:endParaRPr lang="en-US" sz="1000" dirty="0"/>
          </a:p>
        </p:txBody>
      </p:sp>
      <p:sp>
        <p:nvSpPr>
          <p:cNvPr id="69" name="Shape 67"/>
          <p:cNvSpPr/>
          <p:nvPr/>
        </p:nvSpPr>
        <p:spPr>
          <a:xfrm>
            <a:off x="5806440" y="3675888"/>
            <a:ext cx="457200" cy="0"/>
          </a:xfrm>
          <a:prstGeom prst="line">
            <a:avLst/>
          </a:prstGeom>
          <a:noFill/>
          <a:ln w="19050">
            <a:solidFill>
              <a:srgbClr val="3A536B"/>
            </a:solidFill>
            <a:prstDash val="dash"/>
          </a:ln>
        </p:spPr>
      </p:sp>
      <p:sp>
        <p:nvSpPr>
          <p:cNvPr id="70" name="Shape 68"/>
          <p:cNvSpPr/>
          <p:nvPr/>
        </p:nvSpPr>
        <p:spPr>
          <a:xfrm>
            <a:off x="6291072" y="3511296"/>
            <a:ext cx="402336" cy="329184"/>
          </a:xfrm>
          <a:prstGeom prst="roundRect">
            <a:avLst>
              <a:gd name="adj" fmla="val 11111"/>
            </a:avLst>
          </a:prstGeom>
          <a:solidFill>
            <a:srgbClr val="1B3A5B"/>
          </a:solidFill>
          <a:ln w="17780">
            <a:solidFill>
              <a:srgbClr val="18C2B8"/>
            </a:solidFill>
            <a:prstDash val="solid"/>
          </a:ln>
        </p:spPr>
      </p:sp>
      <p:sp>
        <p:nvSpPr>
          <p:cNvPr id="71" name="Text 69"/>
          <p:cNvSpPr/>
          <p:nvPr/>
        </p:nvSpPr>
        <p:spPr>
          <a:xfrm>
            <a:off x="6263640" y="3493008"/>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D0</a:t>
            </a:r>
            <a:endParaRPr lang="en-US" sz="950" dirty="0"/>
          </a:p>
        </p:txBody>
      </p:sp>
      <p:sp>
        <p:nvSpPr>
          <p:cNvPr id="72" name="Shape 70"/>
          <p:cNvSpPr/>
          <p:nvPr/>
        </p:nvSpPr>
        <p:spPr>
          <a:xfrm>
            <a:off x="6748272" y="3511296"/>
            <a:ext cx="402336" cy="329184"/>
          </a:xfrm>
          <a:prstGeom prst="roundRect">
            <a:avLst>
              <a:gd name="adj" fmla="val 11111"/>
            </a:avLst>
          </a:prstGeom>
          <a:solidFill>
            <a:srgbClr val="1B3A5B"/>
          </a:solidFill>
          <a:ln w="17780">
            <a:solidFill>
              <a:srgbClr val="18C2B8"/>
            </a:solidFill>
            <a:prstDash val="solid"/>
          </a:ln>
        </p:spPr>
      </p:sp>
      <p:sp>
        <p:nvSpPr>
          <p:cNvPr id="73" name="Text 71"/>
          <p:cNvSpPr/>
          <p:nvPr/>
        </p:nvSpPr>
        <p:spPr>
          <a:xfrm>
            <a:off x="6720840" y="3493008"/>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D1</a:t>
            </a:r>
            <a:endParaRPr lang="en-US" sz="950" dirty="0"/>
          </a:p>
        </p:txBody>
      </p:sp>
      <p:sp>
        <p:nvSpPr>
          <p:cNvPr id="74" name="Shape 72"/>
          <p:cNvSpPr/>
          <p:nvPr/>
        </p:nvSpPr>
        <p:spPr>
          <a:xfrm>
            <a:off x="7205472" y="3511296"/>
            <a:ext cx="402336" cy="329184"/>
          </a:xfrm>
          <a:prstGeom prst="roundRect">
            <a:avLst>
              <a:gd name="adj" fmla="val 11111"/>
            </a:avLst>
          </a:prstGeom>
          <a:solidFill>
            <a:srgbClr val="1B3A5B"/>
          </a:solidFill>
          <a:ln w="17780">
            <a:solidFill>
              <a:srgbClr val="18C2B8"/>
            </a:solidFill>
            <a:prstDash val="solid"/>
          </a:ln>
        </p:spPr>
      </p:sp>
      <p:sp>
        <p:nvSpPr>
          <p:cNvPr id="75" name="Text 73"/>
          <p:cNvSpPr/>
          <p:nvPr/>
        </p:nvSpPr>
        <p:spPr>
          <a:xfrm>
            <a:off x="7178040" y="3493008"/>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D2</a:t>
            </a:r>
            <a:endParaRPr lang="en-US" sz="950" dirty="0"/>
          </a:p>
        </p:txBody>
      </p:sp>
      <p:sp>
        <p:nvSpPr>
          <p:cNvPr id="76" name="Shape 74"/>
          <p:cNvSpPr/>
          <p:nvPr/>
        </p:nvSpPr>
        <p:spPr>
          <a:xfrm>
            <a:off x="7635240" y="3675888"/>
            <a:ext cx="3657600" cy="0"/>
          </a:xfrm>
          <a:prstGeom prst="line">
            <a:avLst/>
          </a:prstGeom>
          <a:noFill/>
          <a:ln w="19050">
            <a:solidFill>
              <a:srgbClr val="3A536B"/>
            </a:solidFill>
            <a:prstDash val="dash"/>
          </a:ln>
        </p:spPr>
      </p:sp>
      <p:sp>
        <p:nvSpPr>
          <p:cNvPr id="77" name="Text 75"/>
          <p:cNvSpPr/>
          <p:nvPr/>
        </p:nvSpPr>
        <p:spPr>
          <a:xfrm>
            <a:off x="4206240" y="3986784"/>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rd_en</a:t>
            </a:r>
            <a:endParaRPr lang="en-US" sz="1000" dirty="0"/>
          </a:p>
        </p:txBody>
      </p:sp>
      <p:sp>
        <p:nvSpPr>
          <p:cNvPr id="78" name="Shape 76"/>
          <p:cNvSpPr/>
          <p:nvPr/>
        </p:nvSpPr>
        <p:spPr>
          <a:xfrm>
            <a:off x="5806440" y="4370832"/>
            <a:ext cx="457200" cy="0"/>
          </a:xfrm>
          <a:prstGeom prst="line">
            <a:avLst/>
          </a:prstGeom>
          <a:noFill/>
          <a:ln w="25400">
            <a:solidFill>
              <a:srgbClr val="F4A825"/>
            </a:solidFill>
            <a:prstDash val="solid"/>
          </a:ln>
        </p:spPr>
      </p:sp>
      <p:sp>
        <p:nvSpPr>
          <p:cNvPr id="79" name="Shape 77"/>
          <p:cNvSpPr/>
          <p:nvPr/>
        </p:nvSpPr>
        <p:spPr>
          <a:xfrm>
            <a:off x="6263640" y="4370832"/>
            <a:ext cx="457200" cy="0"/>
          </a:xfrm>
          <a:prstGeom prst="line">
            <a:avLst/>
          </a:prstGeom>
          <a:noFill/>
          <a:ln w="25400">
            <a:solidFill>
              <a:srgbClr val="F4A825"/>
            </a:solidFill>
            <a:prstDash val="solid"/>
          </a:ln>
        </p:spPr>
      </p:sp>
      <p:sp>
        <p:nvSpPr>
          <p:cNvPr id="80" name="Shape 78"/>
          <p:cNvSpPr/>
          <p:nvPr/>
        </p:nvSpPr>
        <p:spPr>
          <a:xfrm>
            <a:off x="6720840" y="4370832"/>
            <a:ext cx="457200" cy="0"/>
          </a:xfrm>
          <a:prstGeom prst="line">
            <a:avLst/>
          </a:prstGeom>
          <a:noFill/>
          <a:ln w="25400">
            <a:solidFill>
              <a:srgbClr val="F4A825"/>
            </a:solidFill>
            <a:prstDash val="solid"/>
          </a:ln>
        </p:spPr>
      </p:sp>
      <p:sp>
        <p:nvSpPr>
          <p:cNvPr id="81" name="Shape 79"/>
          <p:cNvSpPr/>
          <p:nvPr/>
        </p:nvSpPr>
        <p:spPr>
          <a:xfrm>
            <a:off x="7178040" y="4370832"/>
            <a:ext cx="457200" cy="0"/>
          </a:xfrm>
          <a:prstGeom prst="line">
            <a:avLst/>
          </a:prstGeom>
          <a:noFill/>
          <a:ln w="25400">
            <a:solidFill>
              <a:srgbClr val="F4A825"/>
            </a:solidFill>
            <a:prstDash val="solid"/>
          </a:ln>
        </p:spPr>
      </p:sp>
      <p:sp>
        <p:nvSpPr>
          <p:cNvPr id="82" name="Shape 80"/>
          <p:cNvSpPr/>
          <p:nvPr/>
        </p:nvSpPr>
        <p:spPr>
          <a:xfrm>
            <a:off x="7635240" y="4370832"/>
            <a:ext cx="457200" cy="0"/>
          </a:xfrm>
          <a:prstGeom prst="line">
            <a:avLst/>
          </a:prstGeom>
          <a:noFill/>
          <a:ln w="25400">
            <a:solidFill>
              <a:srgbClr val="F4A825"/>
            </a:solidFill>
            <a:prstDash val="solid"/>
          </a:ln>
        </p:spPr>
      </p:sp>
      <p:sp>
        <p:nvSpPr>
          <p:cNvPr id="83" name="Shape 81"/>
          <p:cNvSpPr/>
          <p:nvPr/>
        </p:nvSpPr>
        <p:spPr>
          <a:xfrm>
            <a:off x="8092440" y="4005072"/>
            <a:ext cx="457200" cy="0"/>
          </a:xfrm>
          <a:prstGeom prst="line">
            <a:avLst/>
          </a:prstGeom>
          <a:noFill/>
          <a:ln w="25400">
            <a:solidFill>
              <a:srgbClr val="F4A825"/>
            </a:solidFill>
            <a:prstDash val="solid"/>
          </a:ln>
        </p:spPr>
      </p:sp>
      <p:sp>
        <p:nvSpPr>
          <p:cNvPr id="84" name="Shape 82"/>
          <p:cNvSpPr/>
          <p:nvPr/>
        </p:nvSpPr>
        <p:spPr>
          <a:xfrm>
            <a:off x="8092440" y="4005072"/>
            <a:ext cx="0" cy="365760"/>
          </a:xfrm>
          <a:prstGeom prst="line">
            <a:avLst/>
          </a:prstGeom>
          <a:noFill/>
          <a:ln w="25400">
            <a:solidFill>
              <a:srgbClr val="F4A825"/>
            </a:solidFill>
            <a:prstDash val="solid"/>
          </a:ln>
        </p:spPr>
      </p:sp>
      <p:sp>
        <p:nvSpPr>
          <p:cNvPr id="85" name="Shape 83"/>
          <p:cNvSpPr/>
          <p:nvPr/>
        </p:nvSpPr>
        <p:spPr>
          <a:xfrm>
            <a:off x="8549640" y="4005072"/>
            <a:ext cx="457200" cy="0"/>
          </a:xfrm>
          <a:prstGeom prst="line">
            <a:avLst/>
          </a:prstGeom>
          <a:noFill/>
          <a:ln w="25400">
            <a:solidFill>
              <a:srgbClr val="F4A825"/>
            </a:solidFill>
            <a:prstDash val="solid"/>
          </a:ln>
        </p:spPr>
      </p:sp>
      <p:sp>
        <p:nvSpPr>
          <p:cNvPr id="86" name="Shape 84"/>
          <p:cNvSpPr/>
          <p:nvPr/>
        </p:nvSpPr>
        <p:spPr>
          <a:xfrm>
            <a:off x="9006840" y="4005072"/>
            <a:ext cx="457200" cy="0"/>
          </a:xfrm>
          <a:prstGeom prst="line">
            <a:avLst/>
          </a:prstGeom>
          <a:noFill/>
          <a:ln w="25400">
            <a:solidFill>
              <a:srgbClr val="F4A825"/>
            </a:solidFill>
            <a:prstDash val="solid"/>
          </a:ln>
        </p:spPr>
      </p:sp>
      <p:sp>
        <p:nvSpPr>
          <p:cNvPr id="87" name="Shape 85"/>
          <p:cNvSpPr/>
          <p:nvPr/>
        </p:nvSpPr>
        <p:spPr>
          <a:xfrm>
            <a:off x="9464040" y="4370832"/>
            <a:ext cx="457200" cy="0"/>
          </a:xfrm>
          <a:prstGeom prst="line">
            <a:avLst/>
          </a:prstGeom>
          <a:noFill/>
          <a:ln w="25400">
            <a:solidFill>
              <a:srgbClr val="F4A825"/>
            </a:solidFill>
            <a:prstDash val="solid"/>
          </a:ln>
        </p:spPr>
      </p:sp>
      <p:sp>
        <p:nvSpPr>
          <p:cNvPr id="88" name="Shape 86"/>
          <p:cNvSpPr/>
          <p:nvPr/>
        </p:nvSpPr>
        <p:spPr>
          <a:xfrm>
            <a:off x="9464040" y="4005072"/>
            <a:ext cx="0" cy="365760"/>
          </a:xfrm>
          <a:prstGeom prst="line">
            <a:avLst/>
          </a:prstGeom>
          <a:noFill/>
          <a:ln w="25400">
            <a:solidFill>
              <a:srgbClr val="F4A825"/>
            </a:solidFill>
            <a:prstDash val="solid"/>
          </a:ln>
        </p:spPr>
      </p:sp>
      <p:sp>
        <p:nvSpPr>
          <p:cNvPr id="89" name="Shape 87"/>
          <p:cNvSpPr/>
          <p:nvPr/>
        </p:nvSpPr>
        <p:spPr>
          <a:xfrm>
            <a:off x="9921240" y="4370832"/>
            <a:ext cx="457200" cy="0"/>
          </a:xfrm>
          <a:prstGeom prst="line">
            <a:avLst/>
          </a:prstGeom>
          <a:noFill/>
          <a:ln w="25400">
            <a:solidFill>
              <a:srgbClr val="F4A825"/>
            </a:solidFill>
            <a:prstDash val="solid"/>
          </a:ln>
        </p:spPr>
      </p:sp>
      <p:sp>
        <p:nvSpPr>
          <p:cNvPr id="90" name="Shape 88"/>
          <p:cNvSpPr/>
          <p:nvPr/>
        </p:nvSpPr>
        <p:spPr>
          <a:xfrm>
            <a:off x="10378440" y="4370832"/>
            <a:ext cx="457200" cy="0"/>
          </a:xfrm>
          <a:prstGeom prst="line">
            <a:avLst/>
          </a:prstGeom>
          <a:noFill/>
          <a:ln w="25400">
            <a:solidFill>
              <a:srgbClr val="F4A825"/>
            </a:solidFill>
            <a:prstDash val="solid"/>
          </a:ln>
        </p:spPr>
      </p:sp>
      <p:sp>
        <p:nvSpPr>
          <p:cNvPr id="91" name="Shape 89"/>
          <p:cNvSpPr/>
          <p:nvPr/>
        </p:nvSpPr>
        <p:spPr>
          <a:xfrm>
            <a:off x="10835640" y="4370832"/>
            <a:ext cx="457200" cy="0"/>
          </a:xfrm>
          <a:prstGeom prst="line">
            <a:avLst/>
          </a:prstGeom>
          <a:noFill/>
          <a:ln w="25400">
            <a:solidFill>
              <a:srgbClr val="F4A825"/>
            </a:solidFill>
            <a:prstDash val="solid"/>
          </a:ln>
        </p:spPr>
      </p:sp>
      <p:sp>
        <p:nvSpPr>
          <p:cNvPr id="92" name="Text 90"/>
          <p:cNvSpPr/>
          <p:nvPr/>
        </p:nvSpPr>
        <p:spPr>
          <a:xfrm>
            <a:off x="4206240" y="4498848"/>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dout</a:t>
            </a:r>
            <a:endParaRPr lang="en-US" sz="1000" dirty="0"/>
          </a:p>
        </p:txBody>
      </p:sp>
      <p:sp>
        <p:nvSpPr>
          <p:cNvPr id="93" name="Shape 91"/>
          <p:cNvSpPr/>
          <p:nvPr/>
        </p:nvSpPr>
        <p:spPr>
          <a:xfrm>
            <a:off x="5806440" y="4700016"/>
            <a:ext cx="2743200" cy="0"/>
          </a:xfrm>
          <a:prstGeom prst="line">
            <a:avLst/>
          </a:prstGeom>
          <a:noFill/>
          <a:ln w="19050">
            <a:solidFill>
              <a:srgbClr val="3A536B"/>
            </a:solidFill>
            <a:prstDash val="dash"/>
          </a:ln>
        </p:spPr>
      </p:sp>
      <p:sp>
        <p:nvSpPr>
          <p:cNvPr id="94" name="Shape 92"/>
          <p:cNvSpPr/>
          <p:nvPr/>
        </p:nvSpPr>
        <p:spPr>
          <a:xfrm>
            <a:off x="8577072" y="4535424"/>
            <a:ext cx="402336" cy="329184"/>
          </a:xfrm>
          <a:prstGeom prst="roundRect">
            <a:avLst>
              <a:gd name="adj" fmla="val 11111"/>
            </a:avLst>
          </a:prstGeom>
          <a:solidFill>
            <a:srgbClr val="5A4410"/>
          </a:solidFill>
          <a:ln w="17780">
            <a:solidFill>
              <a:srgbClr val="F4A825"/>
            </a:solidFill>
            <a:prstDash val="solid"/>
          </a:ln>
        </p:spPr>
      </p:sp>
      <p:sp>
        <p:nvSpPr>
          <p:cNvPr id="95" name="Text 93"/>
          <p:cNvSpPr/>
          <p:nvPr/>
        </p:nvSpPr>
        <p:spPr>
          <a:xfrm>
            <a:off x="8549640" y="4517136"/>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D0</a:t>
            </a:r>
            <a:endParaRPr lang="en-US" sz="950" dirty="0"/>
          </a:p>
        </p:txBody>
      </p:sp>
      <p:sp>
        <p:nvSpPr>
          <p:cNvPr id="96" name="Shape 94"/>
          <p:cNvSpPr/>
          <p:nvPr/>
        </p:nvSpPr>
        <p:spPr>
          <a:xfrm>
            <a:off x="9034272" y="4535424"/>
            <a:ext cx="402336" cy="329184"/>
          </a:xfrm>
          <a:prstGeom prst="roundRect">
            <a:avLst>
              <a:gd name="adj" fmla="val 11111"/>
            </a:avLst>
          </a:prstGeom>
          <a:solidFill>
            <a:srgbClr val="5A4410"/>
          </a:solidFill>
          <a:ln w="17780">
            <a:solidFill>
              <a:srgbClr val="F4A825"/>
            </a:solidFill>
            <a:prstDash val="solid"/>
          </a:ln>
        </p:spPr>
      </p:sp>
      <p:sp>
        <p:nvSpPr>
          <p:cNvPr id="97" name="Text 95"/>
          <p:cNvSpPr/>
          <p:nvPr/>
        </p:nvSpPr>
        <p:spPr>
          <a:xfrm>
            <a:off x="9006840" y="4517136"/>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D1</a:t>
            </a:r>
            <a:endParaRPr lang="en-US" sz="950" dirty="0"/>
          </a:p>
        </p:txBody>
      </p:sp>
      <p:sp>
        <p:nvSpPr>
          <p:cNvPr id="98" name="Shape 96"/>
          <p:cNvSpPr/>
          <p:nvPr/>
        </p:nvSpPr>
        <p:spPr>
          <a:xfrm>
            <a:off x="9491472" y="4535424"/>
            <a:ext cx="402336" cy="329184"/>
          </a:xfrm>
          <a:prstGeom prst="roundRect">
            <a:avLst>
              <a:gd name="adj" fmla="val 11111"/>
            </a:avLst>
          </a:prstGeom>
          <a:solidFill>
            <a:srgbClr val="5A4410"/>
          </a:solidFill>
          <a:ln w="17780">
            <a:solidFill>
              <a:srgbClr val="F4A825"/>
            </a:solidFill>
            <a:prstDash val="solid"/>
          </a:ln>
        </p:spPr>
      </p:sp>
      <p:sp>
        <p:nvSpPr>
          <p:cNvPr id="99" name="Text 97"/>
          <p:cNvSpPr/>
          <p:nvPr/>
        </p:nvSpPr>
        <p:spPr>
          <a:xfrm>
            <a:off x="9464040" y="4517136"/>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D2</a:t>
            </a:r>
            <a:endParaRPr lang="en-US" sz="950" dirty="0"/>
          </a:p>
        </p:txBody>
      </p:sp>
      <p:sp>
        <p:nvSpPr>
          <p:cNvPr id="100" name="Shape 98"/>
          <p:cNvSpPr/>
          <p:nvPr/>
        </p:nvSpPr>
        <p:spPr>
          <a:xfrm>
            <a:off x="9921240" y="4700016"/>
            <a:ext cx="1371600" cy="0"/>
          </a:xfrm>
          <a:prstGeom prst="line">
            <a:avLst/>
          </a:prstGeom>
          <a:noFill/>
          <a:ln w="19050">
            <a:solidFill>
              <a:srgbClr val="3A536B"/>
            </a:solidFill>
            <a:prstDash val="dash"/>
          </a:ln>
        </p:spPr>
      </p:sp>
      <p:sp>
        <p:nvSpPr>
          <p:cNvPr id="101" name="Text 99"/>
          <p:cNvSpPr/>
          <p:nvPr/>
        </p:nvSpPr>
        <p:spPr>
          <a:xfrm>
            <a:off x="4206240" y="501091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empty</a:t>
            </a:r>
            <a:endParaRPr lang="en-US" sz="1000" dirty="0"/>
          </a:p>
        </p:txBody>
      </p:sp>
      <p:sp>
        <p:nvSpPr>
          <p:cNvPr id="102" name="Shape 100"/>
          <p:cNvSpPr/>
          <p:nvPr/>
        </p:nvSpPr>
        <p:spPr>
          <a:xfrm>
            <a:off x="5806440" y="5029200"/>
            <a:ext cx="457200" cy="0"/>
          </a:xfrm>
          <a:prstGeom prst="line">
            <a:avLst/>
          </a:prstGeom>
          <a:noFill/>
          <a:ln w="25400">
            <a:solidFill>
              <a:srgbClr val="9DB4C7"/>
            </a:solidFill>
            <a:prstDash val="solid"/>
          </a:ln>
        </p:spPr>
      </p:sp>
      <p:sp>
        <p:nvSpPr>
          <p:cNvPr id="103" name="Shape 101"/>
          <p:cNvSpPr/>
          <p:nvPr/>
        </p:nvSpPr>
        <p:spPr>
          <a:xfrm>
            <a:off x="6263640" y="5029200"/>
            <a:ext cx="457200" cy="0"/>
          </a:xfrm>
          <a:prstGeom prst="line">
            <a:avLst/>
          </a:prstGeom>
          <a:noFill/>
          <a:ln w="25400">
            <a:solidFill>
              <a:srgbClr val="9DB4C7"/>
            </a:solidFill>
            <a:prstDash val="solid"/>
          </a:ln>
        </p:spPr>
      </p:sp>
      <p:sp>
        <p:nvSpPr>
          <p:cNvPr id="104" name="Shape 102"/>
          <p:cNvSpPr/>
          <p:nvPr/>
        </p:nvSpPr>
        <p:spPr>
          <a:xfrm>
            <a:off x="6720840" y="5394960"/>
            <a:ext cx="457200" cy="0"/>
          </a:xfrm>
          <a:prstGeom prst="line">
            <a:avLst/>
          </a:prstGeom>
          <a:noFill/>
          <a:ln w="25400">
            <a:solidFill>
              <a:srgbClr val="9DB4C7"/>
            </a:solidFill>
            <a:prstDash val="solid"/>
          </a:ln>
        </p:spPr>
      </p:sp>
      <p:sp>
        <p:nvSpPr>
          <p:cNvPr id="105" name="Shape 103"/>
          <p:cNvSpPr/>
          <p:nvPr/>
        </p:nvSpPr>
        <p:spPr>
          <a:xfrm>
            <a:off x="6720840" y="5029200"/>
            <a:ext cx="0" cy="365760"/>
          </a:xfrm>
          <a:prstGeom prst="line">
            <a:avLst/>
          </a:prstGeom>
          <a:noFill/>
          <a:ln w="25400">
            <a:solidFill>
              <a:srgbClr val="9DB4C7"/>
            </a:solidFill>
            <a:prstDash val="solid"/>
          </a:ln>
        </p:spPr>
      </p:sp>
      <p:sp>
        <p:nvSpPr>
          <p:cNvPr id="106" name="Shape 104"/>
          <p:cNvSpPr/>
          <p:nvPr/>
        </p:nvSpPr>
        <p:spPr>
          <a:xfrm>
            <a:off x="7178040" y="5394960"/>
            <a:ext cx="457200" cy="0"/>
          </a:xfrm>
          <a:prstGeom prst="line">
            <a:avLst/>
          </a:prstGeom>
          <a:noFill/>
          <a:ln w="25400">
            <a:solidFill>
              <a:srgbClr val="9DB4C7"/>
            </a:solidFill>
            <a:prstDash val="solid"/>
          </a:ln>
        </p:spPr>
      </p:sp>
      <p:sp>
        <p:nvSpPr>
          <p:cNvPr id="107" name="Shape 105"/>
          <p:cNvSpPr/>
          <p:nvPr/>
        </p:nvSpPr>
        <p:spPr>
          <a:xfrm>
            <a:off x="7635240" y="5394960"/>
            <a:ext cx="457200" cy="0"/>
          </a:xfrm>
          <a:prstGeom prst="line">
            <a:avLst/>
          </a:prstGeom>
          <a:noFill/>
          <a:ln w="25400">
            <a:solidFill>
              <a:srgbClr val="9DB4C7"/>
            </a:solidFill>
            <a:prstDash val="solid"/>
          </a:ln>
        </p:spPr>
      </p:sp>
      <p:sp>
        <p:nvSpPr>
          <p:cNvPr id="108" name="Shape 106"/>
          <p:cNvSpPr/>
          <p:nvPr/>
        </p:nvSpPr>
        <p:spPr>
          <a:xfrm>
            <a:off x="8092440" y="5394960"/>
            <a:ext cx="457200" cy="0"/>
          </a:xfrm>
          <a:prstGeom prst="line">
            <a:avLst/>
          </a:prstGeom>
          <a:noFill/>
          <a:ln w="25400">
            <a:solidFill>
              <a:srgbClr val="9DB4C7"/>
            </a:solidFill>
            <a:prstDash val="solid"/>
          </a:ln>
        </p:spPr>
      </p:sp>
      <p:sp>
        <p:nvSpPr>
          <p:cNvPr id="109" name="Shape 107"/>
          <p:cNvSpPr/>
          <p:nvPr/>
        </p:nvSpPr>
        <p:spPr>
          <a:xfrm>
            <a:off x="8549640" y="5394960"/>
            <a:ext cx="457200" cy="0"/>
          </a:xfrm>
          <a:prstGeom prst="line">
            <a:avLst/>
          </a:prstGeom>
          <a:noFill/>
          <a:ln w="25400">
            <a:solidFill>
              <a:srgbClr val="9DB4C7"/>
            </a:solidFill>
            <a:prstDash val="solid"/>
          </a:ln>
        </p:spPr>
      </p:sp>
      <p:sp>
        <p:nvSpPr>
          <p:cNvPr id="110" name="Shape 108"/>
          <p:cNvSpPr/>
          <p:nvPr/>
        </p:nvSpPr>
        <p:spPr>
          <a:xfrm>
            <a:off x="9006840" y="5394960"/>
            <a:ext cx="457200" cy="0"/>
          </a:xfrm>
          <a:prstGeom prst="line">
            <a:avLst/>
          </a:prstGeom>
          <a:noFill/>
          <a:ln w="25400">
            <a:solidFill>
              <a:srgbClr val="9DB4C7"/>
            </a:solidFill>
            <a:prstDash val="solid"/>
          </a:ln>
        </p:spPr>
      </p:sp>
      <p:sp>
        <p:nvSpPr>
          <p:cNvPr id="111" name="Shape 109"/>
          <p:cNvSpPr/>
          <p:nvPr/>
        </p:nvSpPr>
        <p:spPr>
          <a:xfrm>
            <a:off x="9464040" y="5394960"/>
            <a:ext cx="457200" cy="0"/>
          </a:xfrm>
          <a:prstGeom prst="line">
            <a:avLst/>
          </a:prstGeom>
          <a:noFill/>
          <a:ln w="25400">
            <a:solidFill>
              <a:srgbClr val="9DB4C7"/>
            </a:solidFill>
            <a:prstDash val="solid"/>
          </a:ln>
        </p:spPr>
      </p:sp>
      <p:sp>
        <p:nvSpPr>
          <p:cNvPr id="112" name="Shape 110"/>
          <p:cNvSpPr/>
          <p:nvPr/>
        </p:nvSpPr>
        <p:spPr>
          <a:xfrm>
            <a:off x="9921240" y="5029200"/>
            <a:ext cx="457200" cy="0"/>
          </a:xfrm>
          <a:prstGeom prst="line">
            <a:avLst/>
          </a:prstGeom>
          <a:noFill/>
          <a:ln w="25400">
            <a:solidFill>
              <a:srgbClr val="9DB4C7"/>
            </a:solidFill>
            <a:prstDash val="solid"/>
          </a:ln>
        </p:spPr>
      </p:sp>
      <p:sp>
        <p:nvSpPr>
          <p:cNvPr id="113" name="Shape 111"/>
          <p:cNvSpPr/>
          <p:nvPr/>
        </p:nvSpPr>
        <p:spPr>
          <a:xfrm>
            <a:off x="9921240" y="5029200"/>
            <a:ext cx="0" cy="365760"/>
          </a:xfrm>
          <a:prstGeom prst="line">
            <a:avLst/>
          </a:prstGeom>
          <a:noFill/>
          <a:ln w="25400">
            <a:solidFill>
              <a:srgbClr val="9DB4C7"/>
            </a:solidFill>
            <a:prstDash val="solid"/>
          </a:ln>
        </p:spPr>
      </p:sp>
      <p:sp>
        <p:nvSpPr>
          <p:cNvPr id="114" name="Shape 112"/>
          <p:cNvSpPr/>
          <p:nvPr/>
        </p:nvSpPr>
        <p:spPr>
          <a:xfrm>
            <a:off x="10378440" y="5029200"/>
            <a:ext cx="457200" cy="0"/>
          </a:xfrm>
          <a:prstGeom prst="line">
            <a:avLst/>
          </a:prstGeom>
          <a:noFill/>
          <a:ln w="25400">
            <a:solidFill>
              <a:srgbClr val="9DB4C7"/>
            </a:solidFill>
            <a:prstDash val="solid"/>
          </a:ln>
        </p:spPr>
      </p:sp>
      <p:sp>
        <p:nvSpPr>
          <p:cNvPr id="115" name="Shape 113"/>
          <p:cNvSpPr/>
          <p:nvPr/>
        </p:nvSpPr>
        <p:spPr>
          <a:xfrm>
            <a:off x="10835640" y="5029200"/>
            <a:ext cx="457200" cy="0"/>
          </a:xfrm>
          <a:prstGeom prst="line">
            <a:avLst/>
          </a:prstGeom>
          <a:noFill/>
          <a:ln w="25400">
            <a:solidFill>
              <a:srgbClr val="9DB4C7"/>
            </a:solidFill>
            <a:prstDash val="solid"/>
          </a:ln>
        </p:spPr>
      </p:sp>
      <p:sp>
        <p:nvSpPr>
          <p:cNvPr id="116" name="Text 114"/>
          <p:cNvSpPr/>
          <p:nvPr/>
        </p:nvSpPr>
        <p:spPr>
          <a:xfrm>
            <a:off x="4206240" y="5522976"/>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full</a:t>
            </a:r>
            <a:endParaRPr lang="en-US" sz="1000" dirty="0"/>
          </a:p>
        </p:txBody>
      </p:sp>
      <p:sp>
        <p:nvSpPr>
          <p:cNvPr id="117" name="Shape 115"/>
          <p:cNvSpPr/>
          <p:nvPr/>
        </p:nvSpPr>
        <p:spPr>
          <a:xfrm>
            <a:off x="5806440" y="5907024"/>
            <a:ext cx="457200" cy="0"/>
          </a:xfrm>
          <a:prstGeom prst="line">
            <a:avLst/>
          </a:prstGeom>
          <a:noFill/>
          <a:ln w="25400">
            <a:solidFill>
              <a:srgbClr val="9DB4C7"/>
            </a:solidFill>
            <a:prstDash val="solid"/>
          </a:ln>
        </p:spPr>
      </p:sp>
      <p:sp>
        <p:nvSpPr>
          <p:cNvPr id="118" name="Shape 116"/>
          <p:cNvSpPr/>
          <p:nvPr/>
        </p:nvSpPr>
        <p:spPr>
          <a:xfrm>
            <a:off x="6263640" y="5907024"/>
            <a:ext cx="457200" cy="0"/>
          </a:xfrm>
          <a:prstGeom prst="line">
            <a:avLst/>
          </a:prstGeom>
          <a:noFill/>
          <a:ln w="25400">
            <a:solidFill>
              <a:srgbClr val="9DB4C7"/>
            </a:solidFill>
            <a:prstDash val="solid"/>
          </a:ln>
        </p:spPr>
      </p:sp>
      <p:sp>
        <p:nvSpPr>
          <p:cNvPr id="119" name="Shape 117"/>
          <p:cNvSpPr/>
          <p:nvPr/>
        </p:nvSpPr>
        <p:spPr>
          <a:xfrm>
            <a:off x="6720840" y="5907024"/>
            <a:ext cx="457200" cy="0"/>
          </a:xfrm>
          <a:prstGeom prst="line">
            <a:avLst/>
          </a:prstGeom>
          <a:noFill/>
          <a:ln w="25400">
            <a:solidFill>
              <a:srgbClr val="9DB4C7"/>
            </a:solidFill>
            <a:prstDash val="solid"/>
          </a:ln>
        </p:spPr>
      </p:sp>
      <p:sp>
        <p:nvSpPr>
          <p:cNvPr id="120" name="Shape 118"/>
          <p:cNvSpPr/>
          <p:nvPr/>
        </p:nvSpPr>
        <p:spPr>
          <a:xfrm>
            <a:off x="7178040" y="5907024"/>
            <a:ext cx="457200" cy="0"/>
          </a:xfrm>
          <a:prstGeom prst="line">
            <a:avLst/>
          </a:prstGeom>
          <a:noFill/>
          <a:ln w="25400">
            <a:solidFill>
              <a:srgbClr val="9DB4C7"/>
            </a:solidFill>
            <a:prstDash val="solid"/>
          </a:ln>
        </p:spPr>
      </p:sp>
      <p:sp>
        <p:nvSpPr>
          <p:cNvPr id="121" name="Shape 119"/>
          <p:cNvSpPr/>
          <p:nvPr/>
        </p:nvSpPr>
        <p:spPr>
          <a:xfrm>
            <a:off x="7635240" y="5907024"/>
            <a:ext cx="457200" cy="0"/>
          </a:xfrm>
          <a:prstGeom prst="line">
            <a:avLst/>
          </a:prstGeom>
          <a:noFill/>
          <a:ln w="25400">
            <a:solidFill>
              <a:srgbClr val="9DB4C7"/>
            </a:solidFill>
            <a:prstDash val="solid"/>
          </a:ln>
        </p:spPr>
      </p:sp>
      <p:sp>
        <p:nvSpPr>
          <p:cNvPr id="122" name="Shape 120"/>
          <p:cNvSpPr/>
          <p:nvPr/>
        </p:nvSpPr>
        <p:spPr>
          <a:xfrm>
            <a:off x="8092440" y="5907024"/>
            <a:ext cx="457200" cy="0"/>
          </a:xfrm>
          <a:prstGeom prst="line">
            <a:avLst/>
          </a:prstGeom>
          <a:noFill/>
          <a:ln w="25400">
            <a:solidFill>
              <a:srgbClr val="9DB4C7"/>
            </a:solidFill>
            <a:prstDash val="solid"/>
          </a:ln>
        </p:spPr>
      </p:sp>
      <p:sp>
        <p:nvSpPr>
          <p:cNvPr id="123" name="Shape 121"/>
          <p:cNvSpPr/>
          <p:nvPr/>
        </p:nvSpPr>
        <p:spPr>
          <a:xfrm>
            <a:off x="8549640" y="5907024"/>
            <a:ext cx="457200" cy="0"/>
          </a:xfrm>
          <a:prstGeom prst="line">
            <a:avLst/>
          </a:prstGeom>
          <a:noFill/>
          <a:ln w="25400">
            <a:solidFill>
              <a:srgbClr val="9DB4C7"/>
            </a:solidFill>
            <a:prstDash val="solid"/>
          </a:ln>
        </p:spPr>
      </p:sp>
      <p:sp>
        <p:nvSpPr>
          <p:cNvPr id="124" name="Shape 122"/>
          <p:cNvSpPr/>
          <p:nvPr/>
        </p:nvSpPr>
        <p:spPr>
          <a:xfrm>
            <a:off x="9006840" y="5907024"/>
            <a:ext cx="457200" cy="0"/>
          </a:xfrm>
          <a:prstGeom prst="line">
            <a:avLst/>
          </a:prstGeom>
          <a:noFill/>
          <a:ln w="25400">
            <a:solidFill>
              <a:srgbClr val="9DB4C7"/>
            </a:solidFill>
            <a:prstDash val="solid"/>
          </a:ln>
        </p:spPr>
      </p:sp>
      <p:sp>
        <p:nvSpPr>
          <p:cNvPr id="125" name="Shape 123"/>
          <p:cNvSpPr/>
          <p:nvPr/>
        </p:nvSpPr>
        <p:spPr>
          <a:xfrm>
            <a:off x="9464040" y="5907024"/>
            <a:ext cx="457200" cy="0"/>
          </a:xfrm>
          <a:prstGeom prst="line">
            <a:avLst/>
          </a:prstGeom>
          <a:noFill/>
          <a:ln w="25400">
            <a:solidFill>
              <a:srgbClr val="9DB4C7"/>
            </a:solidFill>
            <a:prstDash val="solid"/>
          </a:ln>
        </p:spPr>
      </p:sp>
      <p:sp>
        <p:nvSpPr>
          <p:cNvPr id="126" name="Shape 124"/>
          <p:cNvSpPr/>
          <p:nvPr/>
        </p:nvSpPr>
        <p:spPr>
          <a:xfrm>
            <a:off x="9921240" y="5907024"/>
            <a:ext cx="457200" cy="0"/>
          </a:xfrm>
          <a:prstGeom prst="line">
            <a:avLst/>
          </a:prstGeom>
          <a:noFill/>
          <a:ln w="25400">
            <a:solidFill>
              <a:srgbClr val="9DB4C7"/>
            </a:solidFill>
            <a:prstDash val="solid"/>
          </a:ln>
        </p:spPr>
      </p:sp>
      <p:sp>
        <p:nvSpPr>
          <p:cNvPr id="127" name="Shape 125"/>
          <p:cNvSpPr/>
          <p:nvPr/>
        </p:nvSpPr>
        <p:spPr>
          <a:xfrm>
            <a:off x="10378440" y="5907024"/>
            <a:ext cx="457200" cy="0"/>
          </a:xfrm>
          <a:prstGeom prst="line">
            <a:avLst/>
          </a:prstGeom>
          <a:noFill/>
          <a:ln w="25400">
            <a:solidFill>
              <a:srgbClr val="9DB4C7"/>
            </a:solidFill>
            <a:prstDash val="solid"/>
          </a:ln>
        </p:spPr>
      </p:sp>
      <p:sp>
        <p:nvSpPr>
          <p:cNvPr id="128" name="Shape 126"/>
          <p:cNvSpPr/>
          <p:nvPr/>
        </p:nvSpPr>
        <p:spPr>
          <a:xfrm>
            <a:off x="10835640" y="5907024"/>
            <a:ext cx="457200" cy="0"/>
          </a:xfrm>
          <a:prstGeom prst="line">
            <a:avLst/>
          </a:prstGeom>
          <a:noFill/>
          <a:ln w="25400">
            <a:solidFill>
              <a:srgbClr val="9DB4C7"/>
            </a:solidFill>
            <a:prstDash val="solid"/>
          </a:ln>
        </p:spPr>
      </p:sp>
      <p:sp>
        <p:nvSpPr>
          <p:cNvPr id="129" name="Shape 127"/>
          <p:cNvSpPr/>
          <p:nvPr/>
        </p:nvSpPr>
        <p:spPr>
          <a:xfrm>
            <a:off x="8366760" y="3355848"/>
            <a:ext cx="205740" cy="740664"/>
          </a:xfrm>
          <a:prstGeom prst="line">
            <a:avLst/>
          </a:prstGeom>
          <a:noFill/>
          <a:ln w="19050">
            <a:solidFill>
              <a:srgbClr val="F4A825"/>
            </a:solidFill>
            <a:prstDash val="solid"/>
            <a:tailEnd type="triangle"/>
          </a:ln>
        </p:spPr>
      </p:sp>
      <p:sp>
        <p:nvSpPr>
          <p:cNvPr id="130" name="Text 128"/>
          <p:cNvSpPr/>
          <p:nvPr/>
        </p:nvSpPr>
        <p:spPr>
          <a:xfrm>
            <a:off x="8641080" y="4892040"/>
            <a:ext cx="2377440" cy="548640"/>
          </a:xfrm>
          <a:prstGeom prst="rect">
            <a:avLst/>
          </a:prstGeom>
          <a:noFill/>
          <a:ln/>
        </p:spPr>
        <p:txBody>
          <a:bodyPr wrap="square" lIns="0" tIns="0" rIns="0" bIns="0" rtlCol="0" anchor="ctr"/>
          <a:lstStyle/>
          <a:p>
            <a:pPr indent="0" marL="0">
              <a:buNone/>
            </a:pPr>
            <a:r>
              <a:rPr lang="en-US" sz="1000" i="1" dirty="0">
                <a:solidFill>
                  <a:srgbClr val="F4A825"/>
                </a:solidFill>
                <a:latin typeface="Calibri" pitchFamily="34" charset="0"/>
                <a:ea typeface="Calibri" pitchFamily="34" charset="-122"/>
                <a:cs typeface="Calibri" pitchFamily="34" charset="-120"/>
              </a:rPr>
              <a:t>registered read:</a:t>
            </a:r>
            <a:endParaRPr lang="en-US" sz="1000" dirty="0"/>
          </a:p>
          <a:p>
            <a:pPr indent="0" marL="0">
              <a:buNone/>
            </a:pPr>
            <a:r>
              <a:rPr lang="en-US" sz="1000" i="1" dirty="0">
                <a:solidFill>
                  <a:srgbClr val="F4A825"/>
                </a:solidFill>
                <a:latin typeface="Calibri" pitchFamily="34" charset="0"/>
                <a:ea typeface="Calibri" pitchFamily="34" charset="-122"/>
                <a:cs typeface="Calibri" pitchFamily="34" charset="-120"/>
              </a:rPr>
              <a:t>dout valid 1 cycle after rd_en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FIFO BUILDING BLOCKS</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Asynchronous (Dual-Clock) FIFO</a:t>
            </a:r>
            <a:endParaRPr lang="en-US" sz="3100" dirty="0"/>
          </a:p>
        </p:txBody>
      </p:sp>
      <p:sp>
        <p:nvSpPr>
          <p:cNvPr id="5" name="Text 3"/>
          <p:cNvSpPr/>
          <p:nvPr/>
        </p:nvSpPr>
        <p:spPr>
          <a:xfrm>
            <a:off x="566928" y="1261872"/>
            <a:ext cx="10515600" cy="36576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Write and read on different clocks — a clock-domain crossing. Cummings-style: Gray-coded pointers + two-flop synchronizers.</a:t>
            </a:r>
            <a:endParaRPr lang="en-US" sz="1350" dirty="0"/>
          </a:p>
        </p:txBody>
      </p:sp>
      <p:sp>
        <p:nvSpPr>
          <p:cNvPr id="6" name="Shape 4"/>
          <p:cNvSpPr/>
          <p:nvPr/>
        </p:nvSpPr>
        <p:spPr>
          <a:xfrm>
            <a:off x="566928" y="1828800"/>
            <a:ext cx="6766560" cy="4160520"/>
          </a:xfrm>
          <a:prstGeom prst="roundRect">
            <a:avLst>
              <a:gd name="adj" fmla="val 263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7" name="Shape 5"/>
          <p:cNvSpPr/>
          <p:nvPr/>
        </p:nvSpPr>
        <p:spPr>
          <a:xfrm>
            <a:off x="795528" y="2331720"/>
            <a:ext cx="3017520" cy="3383280"/>
          </a:xfrm>
          <a:prstGeom prst="roundRect">
            <a:avLst>
              <a:gd name="adj" fmla="val 2424"/>
            </a:avLst>
          </a:prstGeom>
          <a:solidFill>
            <a:srgbClr val="14A8A0">
              <a:alpha val="12000"/>
            </a:srgbClr>
          </a:solidFill>
          <a:ln/>
        </p:spPr>
      </p:sp>
      <p:sp>
        <p:nvSpPr>
          <p:cNvPr id="8" name="Shape 6"/>
          <p:cNvSpPr/>
          <p:nvPr/>
        </p:nvSpPr>
        <p:spPr>
          <a:xfrm>
            <a:off x="4087368" y="2331720"/>
            <a:ext cx="3017520" cy="3383280"/>
          </a:xfrm>
          <a:prstGeom prst="roundRect">
            <a:avLst>
              <a:gd name="adj" fmla="val 2424"/>
            </a:avLst>
          </a:prstGeom>
          <a:solidFill>
            <a:srgbClr val="F4A825">
              <a:alpha val="12000"/>
            </a:srgbClr>
          </a:solidFill>
          <a:ln/>
        </p:spPr>
      </p:sp>
      <p:sp>
        <p:nvSpPr>
          <p:cNvPr id="9" name="Text 7"/>
          <p:cNvSpPr/>
          <p:nvPr/>
        </p:nvSpPr>
        <p:spPr>
          <a:xfrm>
            <a:off x="795528" y="2011680"/>
            <a:ext cx="3017520" cy="274320"/>
          </a:xfrm>
          <a:prstGeom prst="rect">
            <a:avLst/>
          </a:prstGeom>
          <a:noFill/>
          <a:ln/>
        </p:spPr>
        <p:txBody>
          <a:bodyPr wrap="square" lIns="0" tIns="0" rIns="0" bIns="0" rtlCol="0" anchor="ctr"/>
          <a:lstStyle/>
          <a:p>
            <a:pPr algn="ctr" indent="0" marL="0">
              <a:buNone/>
            </a:pPr>
            <a:r>
              <a:rPr lang="en-US" sz="1100" b="1" spc="100" kern="0" dirty="0">
                <a:solidFill>
                  <a:srgbClr val="0C7A76"/>
                </a:solidFill>
                <a:latin typeface="Calibri" pitchFamily="34" charset="0"/>
                <a:ea typeface="Calibri" pitchFamily="34" charset="-122"/>
                <a:cs typeface="Calibri" pitchFamily="34" charset="-120"/>
              </a:rPr>
              <a:t>WRITE DOMAIN — wclk</a:t>
            </a:r>
            <a:endParaRPr lang="en-US" sz="1100" dirty="0"/>
          </a:p>
        </p:txBody>
      </p:sp>
      <p:sp>
        <p:nvSpPr>
          <p:cNvPr id="10" name="Text 8"/>
          <p:cNvSpPr/>
          <p:nvPr/>
        </p:nvSpPr>
        <p:spPr>
          <a:xfrm>
            <a:off x="4087368" y="2011680"/>
            <a:ext cx="3017520" cy="274320"/>
          </a:xfrm>
          <a:prstGeom prst="rect">
            <a:avLst/>
          </a:prstGeom>
          <a:noFill/>
          <a:ln/>
        </p:spPr>
        <p:txBody>
          <a:bodyPr wrap="square" lIns="0" tIns="0" rIns="0" bIns="0" rtlCol="0" anchor="ctr"/>
          <a:lstStyle/>
          <a:p>
            <a:pPr algn="ctr" indent="0" marL="0">
              <a:buNone/>
            </a:pPr>
            <a:r>
              <a:rPr lang="en-US" sz="1100" b="1" spc="100" kern="0" dirty="0">
                <a:solidFill>
                  <a:srgbClr val="B07A0E"/>
                </a:solidFill>
                <a:latin typeface="Calibri" pitchFamily="34" charset="0"/>
                <a:ea typeface="Calibri" pitchFamily="34" charset="-122"/>
                <a:cs typeface="Calibri" pitchFamily="34" charset="-120"/>
              </a:rPr>
              <a:t>READ DOMAIN — rclk</a:t>
            </a:r>
            <a:endParaRPr lang="en-US" sz="1100" dirty="0"/>
          </a:p>
        </p:txBody>
      </p:sp>
      <p:sp>
        <p:nvSpPr>
          <p:cNvPr id="11" name="Shape 9"/>
          <p:cNvSpPr/>
          <p:nvPr/>
        </p:nvSpPr>
        <p:spPr>
          <a:xfrm>
            <a:off x="932688" y="2880360"/>
            <a:ext cx="1554480" cy="640080"/>
          </a:xfrm>
          <a:prstGeom prst="roundRect">
            <a:avLst>
              <a:gd name="adj" fmla="val 10000"/>
            </a:avLst>
          </a:prstGeom>
          <a:solidFill>
            <a:srgbClr val="FFFFFF"/>
          </a:solidFill>
          <a:ln w="15240">
            <a:solidFill>
              <a:srgbClr val="1B3A5B"/>
            </a:solidFill>
            <a:prstDash val="solid"/>
          </a:ln>
        </p:spPr>
      </p:sp>
      <p:sp>
        <p:nvSpPr>
          <p:cNvPr id="12" name="Text 10"/>
          <p:cNvSpPr/>
          <p:nvPr/>
        </p:nvSpPr>
        <p:spPr>
          <a:xfrm>
            <a:off x="932688" y="2880360"/>
            <a:ext cx="1554480" cy="640080"/>
          </a:xfrm>
          <a:prstGeom prst="rect">
            <a:avLst/>
          </a:prstGeom>
          <a:noFill/>
          <a:ln/>
        </p:spPr>
        <p:txBody>
          <a:bodyPr wrap="square" lIns="0" tIns="0" rIns="0" bIns="0" rtlCol="0" anchor="ctr"/>
          <a:lstStyle/>
          <a:p>
            <a:pPr algn="ctr" indent="0" marL="0">
              <a:buNone/>
            </a:pPr>
            <a:r>
              <a:rPr lang="en-US" sz="1050" b="1" dirty="0">
                <a:solidFill>
                  <a:srgbClr val="16324F"/>
                </a:solidFill>
                <a:latin typeface="Courier New" pitchFamily="34" charset="0"/>
                <a:ea typeface="Courier New" pitchFamily="34" charset="-122"/>
                <a:cs typeface="Courier New" pitchFamily="34" charset="-120"/>
              </a:rPr>
              <a:t>wptr_full</a:t>
            </a:r>
            <a:endParaRPr lang="en-US" sz="1050" dirty="0"/>
          </a:p>
        </p:txBody>
      </p:sp>
      <p:sp>
        <p:nvSpPr>
          <p:cNvPr id="13" name="Shape 11"/>
          <p:cNvSpPr/>
          <p:nvPr/>
        </p:nvSpPr>
        <p:spPr>
          <a:xfrm>
            <a:off x="932688" y="4023360"/>
            <a:ext cx="1554480" cy="640080"/>
          </a:xfrm>
          <a:prstGeom prst="roundRect">
            <a:avLst>
              <a:gd name="adj" fmla="val 10000"/>
            </a:avLst>
          </a:prstGeom>
          <a:solidFill>
            <a:srgbClr val="FFFFFF"/>
          </a:solidFill>
          <a:ln w="15240">
            <a:solidFill>
              <a:srgbClr val="1B3A5B"/>
            </a:solidFill>
            <a:prstDash val="solid"/>
          </a:ln>
        </p:spPr>
      </p:sp>
      <p:sp>
        <p:nvSpPr>
          <p:cNvPr id="14" name="Text 12"/>
          <p:cNvSpPr/>
          <p:nvPr/>
        </p:nvSpPr>
        <p:spPr>
          <a:xfrm>
            <a:off x="932688" y="4023360"/>
            <a:ext cx="1554480" cy="640080"/>
          </a:xfrm>
          <a:prstGeom prst="rect">
            <a:avLst/>
          </a:prstGeom>
          <a:noFill/>
          <a:ln/>
        </p:spPr>
        <p:txBody>
          <a:bodyPr wrap="square" lIns="0" tIns="0" rIns="0" bIns="0" rtlCol="0" anchor="ctr"/>
          <a:lstStyle/>
          <a:p>
            <a:pPr algn="ctr" indent="0" marL="0">
              <a:buNone/>
            </a:pPr>
            <a:r>
              <a:rPr lang="en-US" sz="1050" b="1" dirty="0">
                <a:solidFill>
                  <a:srgbClr val="16324F"/>
                </a:solidFill>
                <a:latin typeface="Courier New" pitchFamily="34" charset="0"/>
                <a:ea typeface="Courier New" pitchFamily="34" charset="-122"/>
                <a:cs typeface="Courier New" pitchFamily="34" charset="-120"/>
              </a:rPr>
              <a:t>fifomem</a:t>
            </a:r>
            <a:endParaRPr lang="en-US" sz="1050" dirty="0"/>
          </a:p>
          <a:p>
            <a:pPr algn="ctr" indent="0" marL="0">
              <a:buNone/>
            </a:pPr>
            <a:r>
              <a:rPr lang="en-US" sz="1050" b="1" dirty="0">
                <a:solidFill>
                  <a:srgbClr val="16324F"/>
                </a:solidFill>
                <a:latin typeface="Courier New" pitchFamily="34" charset="0"/>
                <a:ea typeface="Courier New" pitchFamily="34" charset="-122"/>
                <a:cs typeface="Courier New" pitchFamily="34" charset="-120"/>
              </a:rPr>
              <a:t>(dual-port)</a:t>
            </a:r>
            <a:endParaRPr lang="en-US" sz="1050" dirty="0"/>
          </a:p>
        </p:txBody>
      </p:sp>
      <p:sp>
        <p:nvSpPr>
          <p:cNvPr id="15" name="Shape 13"/>
          <p:cNvSpPr/>
          <p:nvPr/>
        </p:nvSpPr>
        <p:spPr>
          <a:xfrm>
            <a:off x="4270248" y="2880360"/>
            <a:ext cx="1554480" cy="640080"/>
          </a:xfrm>
          <a:prstGeom prst="roundRect">
            <a:avLst>
              <a:gd name="adj" fmla="val 10000"/>
            </a:avLst>
          </a:prstGeom>
          <a:solidFill>
            <a:srgbClr val="FFFFFF"/>
          </a:solidFill>
          <a:ln w="15240">
            <a:solidFill>
              <a:srgbClr val="1B3A5B"/>
            </a:solidFill>
            <a:prstDash val="solid"/>
          </a:ln>
        </p:spPr>
      </p:sp>
      <p:sp>
        <p:nvSpPr>
          <p:cNvPr id="16" name="Text 14"/>
          <p:cNvSpPr/>
          <p:nvPr/>
        </p:nvSpPr>
        <p:spPr>
          <a:xfrm>
            <a:off x="4270248" y="2880360"/>
            <a:ext cx="1554480" cy="640080"/>
          </a:xfrm>
          <a:prstGeom prst="rect">
            <a:avLst/>
          </a:prstGeom>
          <a:noFill/>
          <a:ln/>
        </p:spPr>
        <p:txBody>
          <a:bodyPr wrap="square" lIns="0" tIns="0" rIns="0" bIns="0" rtlCol="0" anchor="ctr"/>
          <a:lstStyle/>
          <a:p>
            <a:pPr algn="ctr" indent="0" marL="0">
              <a:buNone/>
            </a:pPr>
            <a:r>
              <a:rPr lang="en-US" sz="1050" b="1" dirty="0">
                <a:solidFill>
                  <a:srgbClr val="16324F"/>
                </a:solidFill>
                <a:latin typeface="Courier New" pitchFamily="34" charset="0"/>
                <a:ea typeface="Courier New" pitchFamily="34" charset="-122"/>
                <a:cs typeface="Courier New" pitchFamily="34" charset="-120"/>
              </a:rPr>
              <a:t>rptr_empty</a:t>
            </a:r>
            <a:endParaRPr lang="en-US" sz="1050" dirty="0"/>
          </a:p>
        </p:txBody>
      </p:sp>
      <p:sp>
        <p:nvSpPr>
          <p:cNvPr id="17" name="Shape 15"/>
          <p:cNvSpPr/>
          <p:nvPr/>
        </p:nvSpPr>
        <p:spPr>
          <a:xfrm>
            <a:off x="4270248" y="4023360"/>
            <a:ext cx="1554480" cy="640080"/>
          </a:xfrm>
          <a:prstGeom prst="roundRect">
            <a:avLst>
              <a:gd name="adj" fmla="val 10000"/>
            </a:avLst>
          </a:prstGeom>
          <a:solidFill>
            <a:srgbClr val="FFFFFF"/>
          </a:solidFill>
          <a:ln w="15240">
            <a:solidFill>
              <a:srgbClr val="1B3A5B"/>
            </a:solidFill>
            <a:prstDash val="solid"/>
          </a:ln>
        </p:spPr>
      </p:sp>
      <p:sp>
        <p:nvSpPr>
          <p:cNvPr id="18" name="Text 16"/>
          <p:cNvSpPr/>
          <p:nvPr/>
        </p:nvSpPr>
        <p:spPr>
          <a:xfrm>
            <a:off x="4270248" y="4023360"/>
            <a:ext cx="1554480" cy="640080"/>
          </a:xfrm>
          <a:prstGeom prst="rect">
            <a:avLst/>
          </a:prstGeom>
          <a:noFill/>
          <a:ln/>
        </p:spPr>
        <p:txBody>
          <a:bodyPr wrap="square" lIns="0" tIns="0" rIns="0" bIns="0" rtlCol="0" anchor="ctr"/>
          <a:lstStyle/>
          <a:p>
            <a:pPr algn="ctr" indent="0" marL="0">
              <a:buNone/>
            </a:pPr>
            <a:r>
              <a:rPr lang="en-US" sz="1050" b="1" dirty="0">
                <a:solidFill>
                  <a:srgbClr val="16324F"/>
                </a:solidFill>
                <a:latin typeface="Courier New" pitchFamily="34" charset="0"/>
                <a:ea typeface="Courier New" pitchFamily="34" charset="-122"/>
                <a:cs typeface="Courier New" pitchFamily="34" charset="-120"/>
              </a:rPr>
              <a:t>read logic</a:t>
            </a:r>
            <a:endParaRPr lang="en-US" sz="1050" dirty="0"/>
          </a:p>
        </p:txBody>
      </p:sp>
      <p:sp>
        <p:nvSpPr>
          <p:cNvPr id="19" name="Shape 17"/>
          <p:cNvSpPr/>
          <p:nvPr/>
        </p:nvSpPr>
        <p:spPr>
          <a:xfrm>
            <a:off x="3172968" y="2788920"/>
            <a:ext cx="1234440" cy="502920"/>
          </a:xfrm>
          <a:prstGeom prst="roundRect">
            <a:avLst>
              <a:gd name="adj" fmla="val 12727"/>
            </a:avLst>
          </a:prstGeom>
          <a:solidFill>
            <a:srgbClr val="D9EEEC"/>
          </a:solidFill>
          <a:ln w="15240">
            <a:solidFill>
              <a:srgbClr val="1B3A5B"/>
            </a:solidFill>
            <a:prstDash val="solid"/>
          </a:ln>
        </p:spPr>
      </p:sp>
      <p:sp>
        <p:nvSpPr>
          <p:cNvPr id="20" name="Text 18"/>
          <p:cNvSpPr/>
          <p:nvPr/>
        </p:nvSpPr>
        <p:spPr>
          <a:xfrm>
            <a:off x="3172968" y="2788920"/>
            <a:ext cx="1234440" cy="502920"/>
          </a:xfrm>
          <a:prstGeom prst="rect">
            <a:avLst/>
          </a:prstGeom>
          <a:noFill/>
          <a:ln/>
        </p:spPr>
        <p:txBody>
          <a:bodyPr wrap="square" lIns="0" tIns="0" rIns="0" bIns="0" rtlCol="0" anchor="ctr"/>
          <a:lstStyle/>
          <a:p>
            <a:pPr algn="ctr" indent="0" marL="0">
              <a:buNone/>
            </a:pPr>
            <a:r>
              <a:rPr lang="en-US" sz="1050" b="1" dirty="0">
                <a:solidFill>
                  <a:srgbClr val="16324F"/>
                </a:solidFill>
                <a:latin typeface="Courier New" pitchFamily="34" charset="0"/>
                <a:ea typeface="Courier New" pitchFamily="34" charset="-122"/>
                <a:cs typeface="Courier New" pitchFamily="34" charset="-120"/>
              </a:rPr>
              <a:t>sync_w2r</a:t>
            </a:r>
            <a:endParaRPr lang="en-US" sz="1050" dirty="0"/>
          </a:p>
        </p:txBody>
      </p:sp>
      <p:sp>
        <p:nvSpPr>
          <p:cNvPr id="21" name="Shape 19"/>
          <p:cNvSpPr/>
          <p:nvPr/>
        </p:nvSpPr>
        <p:spPr>
          <a:xfrm>
            <a:off x="3172968" y="3931920"/>
            <a:ext cx="1234440" cy="502920"/>
          </a:xfrm>
          <a:prstGeom prst="roundRect">
            <a:avLst>
              <a:gd name="adj" fmla="val 12727"/>
            </a:avLst>
          </a:prstGeom>
          <a:solidFill>
            <a:srgbClr val="FDEFCF"/>
          </a:solidFill>
          <a:ln w="15240">
            <a:solidFill>
              <a:srgbClr val="1B3A5B"/>
            </a:solidFill>
            <a:prstDash val="solid"/>
          </a:ln>
        </p:spPr>
      </p:sp>
      <p:sp>
        <p:nvSpPr>
          <p:cNvPr id="22" name="Text 20"/>
          <p:cNvSpPr/>
          <p:nvPr/>
        </p:nvSpPr>
        <p:spPr>
          <a:xfrm>
            <a:off x="3172968" y="3931920"/>
            <a:ext cx="1234440" cy="502920"/>
          </a:xfrm>
          <a:prstGeom prst="rect">
            <a:avLst/>
          </a:prstGeom>
          <a:noFill/>
          <a:ln/>
        </p:spPr>
        <p:txBody>
          <a:bodyPr wrap="square" lIns="0" tIns="0" rIns="0" bIns="0" rtlCol="0" anchor="ctr"/>
          <a:lstStyle/>
          <a:p>
            <a:pPr algn="ctr" indent="0" marL="0">
              <a:buNone/>
            </a:pPr>
            <a:r>
              <a:rPr lang="en-US" sz="1050" b="1" dirty="0">
                <a:solidFill>
                  <a:srgbClr val="16324F"/>
                </a:solidFill>
                <a:latin typeface="Courier New" pitchFamily="34" charset="0"/>
                <a:ea typeface="Courier New" pitchFamily="34" charset="-122"/>
                <a:cs typeface="Courier New" pitchFamily="34" charset="-120"/>
              </a:rPr>
              <a:t>sync_r2w</a:t>
            </a:r>
            <a:endParaRPr lang="en-US" sz="1050" dirty="0"/>
          </a:p>
        </p:txBody>
      </p:sp>
      <p:sp>
        <p:nvSpPr>
          <p:cNvPr id="23" name="Text 21"/>
          <p:cNvSpPr/>
          <p:nvPr/>
        </p:nvSpPr>
        <p:spPr>
          <a:xfrm>
            <a:off x="3172968" y="3337560"/>
            <a:ext cx="1234440" cy="502920"/>
          </a:xfrm>
          <a:prstGeom prst="rect">
            <a:avLst/>
          </a:prstGeom>
          <a:noFill/>
          <a:ln/>
        </p:spPr>
        <p:txBody>
          <a:bodyPr wrap="square" lIns="0" tIns="0" rIns="0" bIns="0" rtlCol="0" anchor="ctr"/>
          <a:lstStyle/>
          <a:p>
            <a:pPr algn="ctr" indent="0" marL="0">
              <a:buNone/>
            </a:pPr>
            <a:r>
              <a:rPr lang="en-US" sz="900" i="1" dirty="0">
                <a:solidFill>
                  <a:srgbClr val="5A6B7B"/>
                </a:solidFill>
                <a:latin typeface="Calibri" pitchFamily="34" charset="0"/>
                <a:ea typeface="Calibri" pitchFamily="34" charset="-122"/>
                <a:cs typeface="Calibri" pitchFamily="34" charset="-120"/>
              </a:rPr>
              <a:t>2-FF</a:t>
            </a:r>
            <a:endParaRPr lang="en-US" sz="900" dirty="0"/>
          </a:p>
          <a:p>
            <a:pPr algn="ctr" indent="0" marL="0">
              <a:buNone/>
            </a:pPr>
            <a:r>
              <a:rPr lang="en-US" sz="900" i="1" dirty="0">
                <a:solidFill>
                  <a:srgbClr val="5A6B7B"/>
                </a:solidFill>
                <a:latin typeface="Calibri" pitchFamily="34" charset="0"/>
                <a:ea typeface="Calibri" pitchFamily="34" charset="-122"/>
                <a:cs typeface="Calibri" pitchFamily="34" charset="-120"/>
              </a:rPr>
              <a:t>Gray</a:t>
            </a:r>
            <a:endParaRPr lang="en-US" sz="900" dirty="0"/>
          </a:p>
        </p:txBody>
      </p:sp>
      <p:sp>
        <p:nvSpPr>
          <p:cNvPr id="24" name="Shape 22"/>
          <p:cNvSpPr/>
          <p:nvPr/>
        </p:nvSpPr>
        <p:spPr>
          <a:xfrm flipV="1">
            <a:off x="2487168" y="3154680"/>
            <a:ext cx="685800" cy="45720"/>
          </a:xfrm>
          <a:prstGeom prst="line">
            <a:avLst/>
          </a:prstGeom>
          <a:noFill/>
          <a:ln w="19050">
            <a:solidFill>
              <a:srgbClr val="14A8A0"/>
            </a:solidFill>
            <a:prstDash val="solid"/>
            <a:tailEnd type="triangle"/>
          </a:ln>
        </p:spPr>
      </p:sp>
      <p:sp>
        <p:nvSpPr>
          <p:cNvPr id="25" name="Shape 23"/>
          <p:cNvSpPr/>
          <p:nvPr/>
        </p:nvSpPr>
        <p:spPr>
          <a:xfrm flipH="1" flipV="1">
            <a:off x="3172968" y="4251960"/>
            <a:ext cx="1234440" cy="91440"/>
          </a:xfrm>
          <a:prstGeom prst="line">
            <a:avLst/>
          </a:prstGeom>
          <a:noFill/>
          <a:ln w="19050">
            <a:solidFill>
              <a:srgbClr val="F4A825"/>
            </a:solidFill>
            <a:prstDash val="solid"/>
            <a:tailEnd type="triangle"/>
          </a:ln>
        </p:spPr>
      </p:sp>
      <p:sp>
        <p:nvSpPr>
          <p:cNvPr id="26" name="Text 24"/>
          <p:cNvSpPr/>
          <p:nvPr/>
        </p:nvSpPr>
        <p:spPr>
          <a:xfrm>
            <a:off x="841248" y="5486400"/>
            <a:ext cx="6217920" cy="411480"/>
          </a:xfrm>
          <a:prstGeom prst="rect">
            <a:avLst/>
          </a:prstGeom>
          <a:noFill/>
          <a:ln/>
        </p:spPr>
        <p:txBody>
          <a:bodyPr wrap="square" lIns="0" tIns="0" rIns="0" bIns="0" rtlCol="0" anchor="ctr"/>
          <a:lstStyle/>
          <a:p>
            <a:pPr indent="0" marL="0">
              <a:buNone/>
            </a:pPr>
            <a:r>
              <a:rPr lang="en-US" sz="1100" i="1" dirty="0">
                <a:solidFill>
                  <a:srgbClr val="16324F"/>
                </a:solidFill>
                <a:latin typeface="Calibri" pitchFamily="34" charset="0"/>
                <a:ea typeface="Calibri" pitchFamily="34" charset="-122"/>
                <a:cs typeface="Calibri" pitchFamily="34" charset="-120"/>
              </a:rPr>
              <a:t>Gray code: only 1 bit flips per step  →  a stale sample is never garbage, just one step old.</a:t>
            </a:r>
            <a:endParaRPr lang="en-US" sz="1100" dirty="0"/>
          </a:p>
        </p:txBody>
      </p:sp>
      <p:sp>
        <p:nvSpPr>
          <p:cNvPr id="27" name="Shape 25"/>
          <p:cNvSpPr/>
          <p:nvPr/>
        </p:nvSpPr>
        <p:spPr>
          <a:xfrm>
            <a:off x="7543800" y="1828800"/>
            <a:ext cx="4069080" cy="2148840"/>
          </a:xfrm>
          <a:prstGeom prst="roundRect">
            <a:avLst>
              <a:gd name="adj" fmla="val 2979"/>
            </a:avLst>
          </a:prstGeom>
          <a:solidFill>
            <a:srgbClr val="0E2233"/>
          </a:solidFill>
          <a:ln w="12700">
            <a:solidFill>
              <a:srgbClr val="25415A"/>
            </a:solidFill>
            <a:prstDash val="solid"/>
          </a:ln>
          <a:effectLst>
            <a:outerShdw sx="100000" sy="100000" kx="0" ky="0" algn="bl" rotWithShape="0" blurRad="114300" dist="38100" dir="5400000">
              <a:srgbClr val="1B3A5B">
                <a:alpha val="20000"/>
              </a:srgbClr>
            </a:outerShdw>
          </a:effectLst>
        </p:spPr>
      </p:sp>
      <p:sp>
        <p:nvSpPr>
          <p:cNvPr id="28" name="Text 26"/>
          <p:cNvSpPr/>
          <p:nvPr/>
        </p:nvSpPr>
        <p:spPr>
          <a:xfrm>
            <a:off x="7744968" y="1920240"/>
            <a:ext cx="3703320" cy="256032"/>
          </a:xfrm>
          <a:prstGeom prst="rect">
            <a:avLst/>
          </a:prstGeom>
          <a:noFill/>
          <a:ln/>
        </p:spPr>
        <p:txBody>
          <a:bodyPr wrap="square" lIns="0" tIns="0" rIns="0" bIns="0" rtlCol="0" anchor="ctr"/>
          <a:lstStyle/>
          <a:p>
            <a:pPr algn="l" indent="0" marL="0">
              <a:buNone/>
            </a:pPr>
            <a:r>
              <a:rPr lang="en-US" sz="1000" i="1" dirty="0">
                <a:solidFill>
                  <a:srgbClr val="18C2B8"/>
                </a:solidFill>
                <a:latin typeface="Courier New" pitchFamily="34" charset="0"/>
                <a:ea typeface="Courier New" pitchFamily="34" charset="-122"/>
                <a:cs typeface="Courier New" pitchFamily="34" charset="-120"/>
              </a:rPr>
              <a:t>async_fifo.v</a:t>
            </a:r>
            <a:endParaRPr lang="en-US" sz="1000" dirty="0"/>
          </a:p>
        </p:txBody>
      </p:sp>
      <p:sp>
        <p:nvSpPr>
          <p:cNvPr id="29" name="Text 27"/>
          <p:cNvSpPr/>
          <p:nvPr/>
        </p:nvSpPr>
        <p:spPr>
          <a:xfrm>
            <a:off x="7744968" y="2231136"/>
            <a:ext cx="3703320" cy="1636776"/>
          </a:xfrm>
          <a:prstGeom prst="rect">
            <a:avLst/>
          </a:prstGeom>
          <a:noFill/>
          <a:ln/>
        </p:spPr>
        <p:txBody>
          <a:bodyPr wrap="square" lIns="0" tIns="0" rIns="0" bIns="0" rtlCol="0" anchor="t"/>
          <a:lstStyle/>
          <a:p>
            <a:pPr algn="l" indent="0" marL="0">
              <a:lnSpc>
                <a:spcPct val="102000"/>
              </a:lnSpc>
              <a:buNone/>
            </a:pPr>
            <a:r>
              <a:rPr lang="en-US" sz="1050" dirty="0">
                <a:solidFill>
                  <a:srgbClr val="6FA8A0"/>
                </a:solidFill>
                <a:latin typeface="Courier New" pitchFamily="34" charset="0"/>
                <a:ea typeface="Courier New" pitchFamily="34" charset="-122"/>
                <a:cs typeface="Courier New" pitchFamily="34" charset="-120"/>
              </a:rPr>
              <a:t>// binary -&gt; gray  (one bit changes per +1)</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assign rgraynext =</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     (rbinnext &gt;&gt; 1) ^ rbinnext;</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 </a:t>
            </a:r>
            <a:endParaRPr lang="en-US" sz="1050" dirty="0"/>
          </a:p>
          <a:p>
            <a:pPr algn="l" indent="0" marL="0">
              <a:lnSpc>
                <a:spcPct val="102000"/>
              </a:lnSpc>
              <a:buNone/>
            </a:pPr>
            <a:r>
              <a:rPr lang="en-US" sz="1050" dirty="0">
                <a:solidFill>
                  <a:srgbClr val="6FA8A0"/>
                </a:solidFill>
                <a:latin typeface="Courier New" pitchFamily="34" charset="0"/>
                <a:ea typeface="Courier New" pitchFamily="34" charset="-122"/>
                <a:cs typeface="Courier New" pitchFamily="34" charset="-120"/>
              </a:rPr>
              <a:t>// 2-flop synchronizer (ASYNC_REG)</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always @(posedge wclk)</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  {wq2_rptr, wq1_rptr} &lt;=</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        {wq1_rptr, rptr};</a:t>
            </a:r>
            <a:endParaRPr lang="en-US" sz="1050" dirty="0"/>
          </a:p>
        </p:txBody>
      </p:sp>
      <p:sp>
        <p:nvSpPr>
          <p:cNvPr id="30" name="Shape 28"/>
          <p:cNvSpPr/>
          <p:nvPr/>
        </p:nvSpPr>
        <p:spPr>
          <a:xfrm>
            <a:off x="7543800" y="4160520"/>
            <a:ext cx="4069080" cy="566928"/>
          </a:xfrm>
          <a:prstGeom prst="roundRect">
            <a:avLst>
              <a:gd name="adj" fmla="val 11290"/>
            </a:avLst>
          </a:prstGeom>
          <a:solidFill>
            <a:srgbClr val="F1F5F9"/>
          </a:solidFill>
          <a:ln w="12700">
            <a:solidFill>
              <a:srgbClr val="D3DEE8"/>
            </a:solidFill>
            <a:prstDash val="solid"/>
          </a:ln>
        </p:spPr>
      </p:sp>
      <p:sp>
        <p:nvSpPr>
          <p:cNvPr id="31" name="Text 29"/>
          <p:cNvSpPr/>
          <p:nvPr/>
        </p:nvSpPr>
        <p:spPr>
          <a:xfrm>
            <a:off x="7744968" y="4215384"/>
            <a:ext cx="3703320" cy="237744"/>
          </a:xfrm>
          <a:prstGeom prst="rect">
            <a:avLst/>
          </a:prstGeom>
          <a:noFill/>
          <a:ln/>
        </p:spPr>
        <p:txBody>
          <a:bodyPr wrap="square" lIns="0" tIns="0" rIns="0" bIns="0" rtlCol="0" anchor="ctr"/>
          <a:lstStyle/>
          <a:p>
            <a:pPr indent="0" marL="0">
              <a:buNone/>
            </a:pPr>
            <a:r>
              <a:rPr lang="en-US" sz="1250" b="1" dirty="0">
                <a:solidFill>
                  <a:srgbClr val="0C7A76"/>
                </a:solidFill>
                <a:latin typeface="Cambria" pitchFamily="34" charset="0"/>
                <a:ea typeface="Cambria" pitchFamily="34" charset="-122"/>
                <a:cs typeface="Cambria" pitchFamily="34" charset="-120"/>
              </a:rPr>
              <a:t>Gray pointers</a:t>
            </a:r>
            <a:endParaRPr lang="en-US" sz="1250" dirty="0"/>
          </a:p>
        </p:txBody>
      </p:sp>
      <p:sp>
        <p:nvSpPr>
          <p:cNvPr id="32" name="Text 30"/>
          <p:cNvSpPr/>
          <p:nvPr/>
        </p:nvSpPr>
        <p:spPr>
          <a:xfrm>
            <a:off x="7744968" y="4434840"/>
            <a:ext cx="3703320" cy="256032"/>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avoid multi-bit glitches across domains</a:t>
            </a:r>
            <a:endParaRPr lang="en-US" sz="1100" dirty="0"/>
          </a:p>
        </p:txBody>
      </p:sp>
      <p:sp>
        <p:nvSpPr>
          <p:cNvPr id="33" name="Shape 31"/>
          <p:cNvSpPr/>
          <p:nvPr/>
        </p:nvSpPr>
        <p:spPr>
          <a:xfrm>
            <a:off x="7543800" y="4828032"/>
            <a:ext cx="4069080" cy="566928"/>
          </a:xfrm>
          <a:prstGeom prst="roundRect">
            <a:avLst>
              <a:gd name="adj" fmla="val 11290"/>
            </a:avLst>
          </a:prstGeom>
          <a:solidFill>
            <a:srgbClr val="F1F5F9"/>
          </a:solidFill>
          <a:ln w="12700">
            <a:solidFill>
              <a:srgbClr val="D3DEE8"/>
            </a:solidFill>
            <a:prstDash val="solid"/>
          </a:ln>
        </p:spPr>
      </p:sp>
      <p:sp>
        <p:nvSpPr>
          <p:cNvPr id="34" name="Text 32"/>
          <p:cNvSpPr/>
          <p:nvPr/>
        </p:nvSpPr>
        <p:spPr>
          <a:xfrm>
            <a:off x="7744968" y="4882896"/>
            <a:ext cx="3703320" cy="237744"/>
          </a:xfrm>
          <a:prstGeom prst="rect">
            <a:avLst/>
          </a:prstGeom>
          <a:noFill/>
          <a:ln/>
        </p:spPr>
        <p:txBody>
          <a:bodyPr wrap="square" lIns="0" tIns="0" rIns="0" bIns="0" rtlCol="0" anchor="ctr"/>
          <a:lstStyle/>
          <a:p>
            <a:pPr indent="0" marL="0">
              <a:buNone/>
            </a:pPr>
            <a:r>
              <a:rPr lang="en-US" sz="1250" b="1" dirty="0">
                <a:solidFill>
                  <a:srgbClr val="0C7A76"/>
                </a:solidFill>
                <a:latin typeface="Cambria" pitchFamily="34" charset="0"/>
                <a:ea typeface="Cambria" pitchFamily="34" charset="-122"/>
                <a:cs typeface="Cambria" pitchFamily="34" charset="-120"/>
              </a:rPr>
              <a:t>Two-flop sync</a:t>
            </a:r>
            <a:endParaRPr lang="en-US" sz="1250" dirty="0"/>
          </a:p>
        </p:txBody>
      </p:sp>
      <p:sp>
        <p:nvSpPr>
          <p:cNvPr id="35" name="Text 33"/>
          <p:cNvSpPr/>
          <p:nvPr/>
        </p:nvSpPr>
        <p:spPr>
          <a:xfrm>
            <a:off x="7744968" y="5102352"/>
            <a:ext cx="3703320" cy="256032"/>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lets metastability settle before use</a:t>
            </a:r>
            <a:endParaRPr lang="en-US" sz="1100" dirty="0"/>
          </a:p>
        </p:txBody>
      </p:sp>
      <p:sp>
        <p:nvSpPr>
          <p:cNvPr id="36" name="Shape 34"/>
          <p:cNvSpPr/>
          <p:nvPr/>
        </p:nvSpPr>
        <p:spPr>
          <a:xfrm>
            <a:off x="7543800" y="5495544"/>
            <a:ext cx="4069080" cy="566928"/>
          </a:xfrm>
          <a:prstGeom prst="roundRect">
            <a:avLst>
              <a:gd name="adj" fmla="val 11290"/>
            </a:avLst>
          </a:prstGeom>
          <a:solidFill>
            <a:srgbClr val="F1F5F9"/>
          </a:solidFill>
          <a:ln w="12700">
            <a:solidFill>
              <a:srgbClr val="D3DEE8"/>
            </a:solidFill>
            <a:prstDash val="solid"/>
          </a:ln>
        </p:spPr>
      </p:sp>
      <p:sp>
        <p:nvSpPr>
          <p:cNvPr id="37" name="Text 35"/>
          <p:cNvSpPr/>
          <p:nvPr/>
        </p:nvSpPr>
        <p:spPr>
          <a:xfrm>
            <a:off x="7744968" y="5550408"/>
            <a:ext cx="3703320" cy="237744"/>
          </a:xfrm>
          <a:prstGeom prst="rect">
            <a:avLst/>
          </a:prstGeom>
          <a:noFill/>
          <a:ln/>
        </p:spPr>
        <p:txBody>
          <a:bodyPr wrap="square" lIns="0" tIns="0" rIns="0" bIns="0" rtlCol="0" anchor="ctr"/>
          <a:lstStyle/>
          <a:p>
            <a:pPr indent="0" marL="0">
              <a:buNone/>
            </a:pPr>
            <a:r>
              <a:rPr lang="en-US" sz="1250" b="1" dirty="0">
                <a:solidFill>
                  <a:srgbClr val="0C7A76"/>
                </a:solidFill>
                <a:latin typeface="Cambria" pitchFamily="34" charset="0"/>
                <a:ea typeface="Cambria" pitchFamily="34" charset="-122"/>
                <a:cs typeface="Cambria" pitchFamily="34" charset="-120"/>
              </a:rPr>
              <a:t>Full / Empty</a:t>
            </a:r>
            <a:endParaRPr lang="en-US" sz="1250" dirty="0"/>
          </a:p>
        </p:txBody>
      </p:sp>
      <p:sp>
        <p:nvSpPr>
          <p:cNvPr id="38" name="Text 36"/>
          <p:cNvSpPr/>
          <p:nvPr/>
        </p:nvSpPr>
        <p:spPr>
          <a:xfrm>
            <a:off x="7744968" y="5769864"/>
            <a:ext cx="3703320" cy="256032"/>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compared against the synced Gray pointer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VERIFICATION</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Asynchronous FIFO — Testbench &amp; Waveform</a:t>
            </a:r>
            <a:endParaRPr lang="en-US" sz="3100" dirty="0"/>
          </a:p>
        </p:txBody>
      </p:sp>
      <p:sp>
        <p:nvSpPr>
          <p:cNvPr id="5" name="Shape 3"/>
          <p:cNvSpPr/>
          <p:nvPr/>
        </p:nvSpPr>
        <p:spPr>
          <a:xfrm>
            <a:off x="566928" y="1645920"/>
            <a:ext cx="3200400" cy="4434840"/>
          </a:xfrm>
          <a:prstGeom prst="roundRect">
            <a:avLst>
              <a:gd name="adj" fmla="val 3429"/>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6" name="Text 4"/>
          <p:cNvSpPr/>
          <p:nvPr/>
        </p:nvSpPr>
        <p:spPr>
          <a:xfrm>
            <a:off x="822960" y="1783080"/>
            <a:ext cx="2743200" cy="292608"/>
          </a:xfrm>
          <a:prstGeom prst="rect">
            <a:avLst/>
          </a:prstGeom>
          <a:noFill/>
          <a:ln/>
        </p:spPr>
        <p:txBody>
          <a:bodyPr wrap="square" lIns="0" tIns="0" rIns="0" bIns="0" rtlCol="0" anchor="ctr"/>
          <a:lstStyle/>
          <a:p>
            <a:pPr indent="0" marL="0">
              <a:buNone/>
            </a:pPr>
            <a:r>
              <a:rPr lang="en-US" sz="1400" b="1" dirty="0">
                <a:solidFill>
                  <a:srgbClr val="0C7A76"/>
                </a:solidFill>
                <a:latin typeface="Courier New" pitchFamily="34" charset="0"/>
                <a:ea typeface="Courier New" pitchFamily="34" charset="-122"/>
                <a:cs typeface="Courier New" pitchFamily="34" charset="-120"/>
              </a:rPr>
              <a:t>tb_async_fifo.v</a:t>
            </a:r>
            <a:endParaRPr lang="en-US" sz="1400" dirty="0"/>
          </a:p>
        </p:txBody>
      </p:sp>
      <p:sp>
        <p:nvSpPr>
          <p:cNvPr id="7" name="Shape 5"/>
          <p:cNvSpPr/>
          <p:nvPr/>
        </p:nvSpPr>
        <p:spPr>
          <a:xfrm>
            <a:off x="822960" y="2194560"/>
            <a:ext cx="329184" cy="329184"/>
          </a:xfrm>
          <a:prstGeom prst="ellipse">
            <a:avLst/>
          </a:prstGeom>
          <a:solidFill>
            <a:srgbClr val="14A8A0"/>
          </a:solidFill>
          <a:ln/>
        </p:spPr>
      </p:sp>
      <p:sp>
        <p:nvSpPr>
          <p:cNvPr id="8" name="Text 6"/>
          <p:cNvSpPr/>
          <p:nvPr/>
        </p:nvSpPr>
        <p:spPr>
          <a:xfrm>
            <a:off x="822960" y="2185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7"/>
          <p:cNvSpPr/>
          <p:nvPr/>
        </p:nvSpPr>
        <p:spPr>
          <a:xfrm>
            <a:off x="1252728" y="216712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Two clocks</a:t>
            </a:r>
            <a:endParaRPr lang="en-US" sz="1250" dirty="0"/>
          </a:p>
        </p:txBody>
      </p:sp>
      <p:sp>
        <p:nvSpPr>
          <p:cNvPr id="10" name="Text 8"/>
          <p:cNvSpPr/>
          <p:nvPr/>
        </p:nvSpPr>
        <p:spPr>
          <a:xfrm>
            <a:off x="1252728" y="241401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independent wclk &amp; rclk (different periods)</a:t>
            </a:r>
            <a:endParaRPr lang="en-US" sz="1050" dirty="0"/>
          </a:p>
        </p:txBody>
      </p:sp>
      <p:sp>
        <p:nvSpPr>
          <p:cNvPr id="11" name="Shape 9"/>
          <p:cNvSpPr/>
          <p:nvPr/>
        </p:nvSpPr>
        <p:spPr>
          <a:xfrm>
            <a:off x="822960" y="2971800"/>
            <a:ext cx="329184" cy="329184"/>
          </a:xfrm>
          <a:prstGeom prst="ellipse">
            <a:avLst/>
          </a:prstGeom>
          <a:solidFill>
            <a:srgbClr val="14A8A0"/>
          </a:solidFill>
          <a:ln/>
        </p:spPr>
      </p:sp>
      <p:sp>
        <p:nvSpPr>
          <p:cNvPr id="12" name="Text 10"/>
          <p:cNvSpPr/>
          <p:nvPr/>
        </p:nvSpPr>
        <p:spPr>
          <a:xfrm>
            <a:off x="822960" y="29626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252728" y="294436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Write burst</a:t>
            </a:r>
            <a:endParaRPr lang="en-US" sz="1250" dirty="0"/>
          </a:p>
        </p:txBody>
      </p:sp>
      <p:sp>
        <p:nvSpPr>
          <p:cNvPr id="14" name="Text 12"/>
          <p:cNvSpPr/>
          <p:nvPr/>
        </p:nvSpPr>
        <p:spPr>
          <a:xfrm>
            <a:off x="1252728" y="319125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stream data in on the fast write clock</a:t>
            </a:r>
            <a:endParaRPr lang="en-US" sz="1050" dirty="0"/>
          </a:p>
        </p:txBody>
      </p:sp>
      <p:sp>
        <p:nvSpPr>
          <p:cNvPr id="15" name="Shape 13"/>
          <p:cNvSpPr/>
          <p:nvPr/>
        </p:nvSpPr>
        <p:spPr>
          <a:xfrm>
            <a:off x="822960" y="3749040"/>
            <a:ext cx="329184" cy="329184"/>
          </a:xfrm>
          <a:prstGeom prst="ellipse">
            <a:avLst/>
          </a:prstGeom>
          <a:solidFill>
            <a:srgbClr val="14A8A0"/>
          </a:solidFill>
          <a:ln/>
        </p:spPr>
      </p:sp>
      <p:sp>
        <p:nvSpPr>
          <p:cNvPr id="16" name="Text 14"/>
          <p:cNvSpPr/>
          <p:nvPr/>
        </p:nvSpPr>
        <p:spPr>
          <a:xfrm>
            <a:off x="822960" y="3739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252728" y="372160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Read drain</a:t>
            </a:r>
            <a:endParaRPr lang="en-US" sz="1250" dirty="0"/>
          </a:p>
        </p:txBody>
      </p:sp>
      <p:sp>
        <p:nvSpPr>
          <p:cNvPr id="18" name="Text 16"/>
          <p:cNvSpPr/>
          <p:nvPr/>
        </p:nvSpPr>
        <p:spPr>
          <a:xfrm>
            <a:off x="1252728" y="396849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pop on the slower read clock</a:t>
            </a:r>
            <a:endParaRPr lang="en-US" sz="1050" dirty="0"/>
          </a:p>
        </p:txBody>
      </p:sp>
      <p:sp>
        <p:nvSpPr>
          <p:cNvPr id="19" name="Shape 17"/>
          <p:cNvSpPr/>
          <p:nvPr/>
        </p:nvSpPr>
        <p:spPr>
          <a:xfrm>
            <a:off x="822960" y="4526280"/>
            <a:ext cx="329184" cy="329184"/>
          </a:xfrm>
          <a:prstGeom prst="ellipse">
            <a:avLst/>
          </a:prstGeom>
          <a:solidFill>
            <a:srgbClr val="14A8A0"/>
          </a:solidFill>
          <a:ln/>
        </p:spPr>
      </p:sp>
      <p:sp>
        <p:nvSpPr>
          <p:cNvPr id="20" name="Text 18"/>
          <p:cNvSpPr/>
          <p:nvPr/>
        </p:nvSpPr>
        <p:spPr>
          <a:xfrm>
            <a:off x="822960" y="45171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p:nvPr/>
        </p:nvSpPr>
        <p:spPr>
          <a:xfrm>
            <a:off x="1252728" y="449884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CDC settle</a:t>
            </a:r>
            <a:endParaRPr lang="en-US" sz="1250" dirty="0"/>
          </a:p>
        </p:txBody>
      </p:sp>
      <p:sp>
        <p:nvSpPr>
          <p:cNvPr id="22" name="Text 20"/>
          <p:cNvSpPr/>
          <p:nvPr/>
        </p:nvSpPr>
        <p:spPr>
          <a:xfrm>
            <a:off x="1252728" y="474573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allow 2-FF synchronizer latency before flags</a:t>
            </a:r>
            <a:endParaRPr lang="en-US" sz="1050" dirty="0"/>
          </a:p>
        </p:txBody>
      </p:sp>
      <p:sp>
        <p:nvSpPr>
          <p:cNvPr id="23" name="Shape 21"/>
          <p:cNvSpPr/>
          <p:nvPr/>
        </p:nvSpPr>
        <p:spPr>
          <a:xfrm>
            <a:off x="822960" y="5303520"/>
            <a:ext cx="329184" cy="329184"/>
          </a:xfrm>
          <a:prstGeom prst="ellipse">
            <a:avLst/>
          </a:prstGeom>
          <a:solidFill>
            <a:srgbClr val="14A8A0"/>
          </a:solidFill>
          <a:ln/>
        </p:spPr>
      </p:sp>
      <p:sp>
        <p:nvSpPr>
          <p:cNvPr id="24" name="Text 22"/>
          <p:cNvSpPr/>
          <p:nvPr/>
        </p:nvSpPr>
        <p:spPr>
          <a:xfrm>
            <a:off x="822960" y="52943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5" name="Text 23"/>
          <p:cNvSpPr/>
          <p:nvPr/>
        </p:nvSpPr>
        <p:spPr>
          <a:xfrm>
            <a:off x="1252728" y="5276088"/>
            <a:ext cx="2377440" cy="256032"/>
          </a:xfrm>
          <a:prstGeom prst="rect">
            <a:avLst/>
          </a:prstGeom>
          <a:noFill/>
          <a:ln/>
        </p:spPr>
        <p:txBody>
          <a:bodyPr wrap="square" lIns="0" tIns="0" rIns="0" bIns="0" rtlCol="0" anchor="ctr"/>
          <a:lstStyle/>
          <a:p>
            <a:pPr indent="0" marL="0">
              <a:buNone/>
            </a:pPr>
            <a:r>
              <a:rPr lang="en-US" sz="1250" b="1" dirty="0">
                <a:solidFill>
                  <a:srgbClr val="16324F"/>
                </a:solidFill>
                <a:latin typeface="Cambria" pitchFamily="34" charset="0"/>
                <a:ea typeface="Cambria" pitchFamily="34" charset="-122"/>
                <a:cs typeface="Cambria" pitchFamily="34" charset="-120"/>
              </a:rPr>
              <a:t>Data integrity</a:t>
            </a:r>
            <a:endParaRPr lang="en-US" sz="1250" dirty="0"/>
          </a:p>
        </p:txBody>
      </p:sp>
      <p:sp>
        <p:nvSpPr>
          <p:cNvPr id="26" name="Text 24"/>
          <p:cNvSpPr/>
          <p:nvPr/>
        </p:nvSpPr>
        <p:spPr>
          <a:xfrm>
            <a:off x="1252728" y="5522976"/>
            <a:ext cx="233172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every byte crosses intact, in order  →  PASS</a:t>
            </a:r>
            <a:endParaRPr lang="en-US" sz="1050" dirty="0"/>
          </a:p>
        </p:txBody>
      </p:sp>
      <p:sp>
        <p:nvSpPr>
          <p:cNvPr id="27" name="Shape 25"/>
          <p:cNvSpPr/>
          <p:nvPr/>
        </p:nvSpPr>
        <p:spPr>
          <a:xfrm>
            <a:off x="4023360" y="1645920"/>
            <a:ext cx="7589520" cy="4434840"/>
          </a:xfrm>
          <a:prstGeom prst="roundRect">
            <a:avLst>
              <a:gd name="adj" fmla="val 2474"/>
            </a:avLst>
          </a:prstGeom>
          <a:solidFill>
            <a:srgbClr val="0D1B2A"/>
          </a:solidFill>
          <a:ln/>
          <a:effectLst>
            <a:outerShdw sx="100000" sy="100000" kx="0" ky="0" algn="bl" rotWithShape="0" blurRad="114300" dist="38100" dir="5400000">
              <a:srgbClr val="1B3A5B">
                <a:alpha val="20000"/>
              </a:srgbClr>
            </a:outerShdw>
          </a:effectLst>
        </p:spPr>
      </p:sp>
      <p:sp>
        <p:nvSpPr>
          <p:cNvPr id="28" name="Text 26"/>
          <p:cNvSpPr/>
          <p:nvPr/>
        </p:nvSpPr>
        <p:spPr>
          <a:xfrm>
            <a:off x="4343400" y="1783080"/>
            <a:ext cx="457200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Dual-clock waveform</a:t>
            </a:r>
            <a:endParaRPr lang="en-US" sz="1400" dirty="0"/>
          </a:p>
        </p:txBody>
      </p:sp>
      <p:sp>
        <p:nvSpPr>
          <p:cNvPr id="29" name="Text 27"/>
          <p:cNvSpPr/>
          <p:nvPr/>
        </p:nvSpPr>
        <p:spPr>
          <a:xfrm>
            <a:off x="8001000" y="1773936"/>
            <a:ext cx="3429000" cy="585216"/>
          </a:xfrm>
          <a:prstGeom prst="rect">
            <a:avLst/>
          </a:prstGeom>
          <a:noFill/>
          <a:ln/>
        </p:spPr>
        <p:txBody>
          <a:bodyPr wrap="square" lIns="0" tIns="0" rIns="0" bIns="0" rtlCol="0" anchor="t"/>
          <a:lstStyle/>
          <a:p>
            <a:pPr algn="r" indent="0" marL="0">
              <a:buNone/>
            </a:pPr>
            <a:r>
              <a:rPr lang="en-US" sz="950" i="1" dirty="0">
                <a:solidFill>
                  <a:srgbClr val="18C2B8"/>
                </a:solidFill>
                <a:latin typeface="Calibri" pitchFamily="34" charset="0"/>
                <a:ea typeface="Calibri" pitchFamily="34" charset="-122"/>
                <a:cs typeface="Calibri" pitchFamily="34" charset="-120"/>
              </a:rPr>
              <a:t>CDC latency: the Gray write-pointer crosses via the 2-FF synchronizer before rempty can fall.</a:t>
            </a:r>
            <a:endParaRPr lang="en-US" sz="950" dirty="0"/>
          </a:p>
        </p:txBody>
      </p:sp>
      <p:sp>
        <p:nvSpPr>
          <p:cNvPr id="30" name="Text 28"/>
          <p:cNvSpPr/>
          <p:nvPr/>
        </p:nvSpPr>
        <p:spPr>
          <a:xfrm>
            <a:off x="4206240" y="245059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wclk</a:t>
            </a:r>
            <a:endParaRPr lang="en-US" sz="1000" dirty="0"/>
          </a:p>
        </p:txBody>
      </p:sp>
      <p:sp>
        <p:nvSpPr>
          <p:cNvPr id="31" name="Shape 29"/>
          <p:cNvSpPr/>
          <p:nvPr/>
        </p:nvSpPr>
        <p:spPr>
          <a:xfrm>
            <a:off x="5806440" y="2834640"/>
            <a:ext cx="457200" cy="0"/>
          </a:xfrm>
          <a:prstGeom prst="line">
            <a:avLst/>
          </a:prstGeom>
          <a:noFill/>
          <a:ln w="25400">
            <a:solidFill>
              <a:srgbClr val="7FE0D8"/>
            </a:solidFill>
            <a:prstDash val="solid"/>
          </a:ln>
        </p:spPr>
      </p:sp>
      <p:sp>
        <p:nvSpPr>
          <p:cNvPr id="32" name="Shape 30"/>
          <p:cNvSpPr/>
          <p:nvPr/>
        </p:nvSpPr>
        <p:spPr>
          <a:xfrm>
            <a:off x="6263640" y="2468880"/>
            <a:ext cx="457200" cy="0"/>
          </a:xfrm>
          <a:prstGeom prst="line">
            <a:avLst/>
          </a:prstGeom>
          <a:noFill/>
          <a:ln w="25400">
            <a:solidFill>
              <a:srgbClr val="7FE0D8"/>
            </a:solidFill>
            <a:prstDash val="solid"/>
          </a:ln>
        </p:spPr>
      </p:sp>
      <p:sp>
        <p:nvSpPr>
          <p:cNvPr id="33" name="Shape 31"/>
          <p:cNvSpPr/>
          <p:nvPr/>
        </p:nvSpPr>
        <p:spPr>
          <a:xfrm>
            <a:off x="6263640" y="2468880"/>
            <a:ext cx="0" cy="365760"/>
          </a:xfrm>
          <a:prstGeom prst="line">
            <a:avLst/>
          </a:prstGeom>
          <a:noFill/>
          <a:ln w="25400">
            <a:solidFill>
              <a:srgbClr val="7FE0D8"/>
            </a:solidFill>
            <a:prstDash val="solid"/>
          </a:ln>
        </p:spPr>
      </p:sp>
      <p:sp>
        <p:nvSpPr>
          <p:cNvPr id="34" name="Shape 32"/>
          <p:cNvSpPr/>
          <p:nvPr/>
        </p:nvSpPr>
        <p:spPr>
          <a:xfrm>
            <a:off x="6720840" y="2834640"/>
            <a:ext cx="457200" cy="0"/>
          </a:xfrm>
          <a:prstGeom prst="line">
            <a:avLst/>
          </a:prstGeom>
          <a:noFill/>
          <a:ln w="25400">
            <a:solidFill>
              <a:srgbClr val="7FE0D8"/>
            </a:solidFill>
            <a:prstDash val="solid"/>
          </a:ln>
        </p:spPr>
      </p:sp>
      <p:sp>
        <p:nvSpPr>
          <p:cNvPr id="35" name="Shape 33"/>
          <p:cNvSpPr/>
          <p:nvPr/>
        </p:nvSpPr>
        <p:spPr>
          <a:xfrm>
            <a:off x="6720840" y="2468880"/>
            <a:ext cx="0" cy="365760"/>
          </a:xfrm>
          <a:prstGeom prst="line">
            <a:avLst/>
          </a:prstGeom>
          <a:noFill/>
          <a:ln w="25400">
            <a:solidFill>
              <a:srgbClr val="7FE0D8"/>
            </a:solidFill>
            <a:prstDash val="solid"/>
          </a:ln>
        </p:spPr>
      </p:sp>
      <p:sp>
        <p:nvSpPr>
          <p:cNvPr id="36" name="Shape 34"/>
          <p:cNvSpPr/>
          <p:nvPr/>
        </p:nvSpPr>
        <p:spPr>
          <a:xfrm>
            <a:off x="7178040" y="2468880"/>
            <a:ext cx="457200" cy="0"/>
          </a:xfrm>
          <a:prstGeom prst="line">
            <a:avLst/>
          </a:prstGeom>
          <a:noFill/>
          <a:ln w="25400">
            <a:solidFill>
              <a:srgbClr val="7FE0D8"/>
            </a:solidFill>
            <a:prstDash val="solid"/>
          </a:ln>
        </p:spPr>
      </p:sp>
      <p:sp>
        <p:nvSpPr>
          <p:cNvPr id="37" name="Shape 35"/>
          <p:cNvSpPr/>
          <p:nvPr/>
        </p:nvSpPr>
        <p:spPr>
          <a:xfrm>
            <a:off x="7178040" y="2468880"/>
            <a:ext cx="0" cy="365760"/>
          </a:xfrm>
          <a:prstGeom prst="line">
            <a:avLst/>
          </a:prstGeom>
          <a:noFill/>
          <a:ln w="25400">
            <a:solidFill>
              <a:srgbClr val="7FE0D8"/>
            </a:solidFill>
            <a:prstDash val="solid"/>
          </a:ln>
        </p:spPr>
      </p:sp>
      <p:sp>
        <p:nvSpPr>
          <p:cNvPr id="38" name="Shape 36"/>
          <p:cNvSpPr/>
          <p:nvPr/>
        </p:nvSpPr>
        <p:spPr>
          <a:xfrm>
            <a:off x="7635240" y="2834640"/>
            <a:ext cx="457200" cy="0"/>
          </a:xfrm>
          <a:prstGeom prst="line">
            <a:avLst/>
          </a:prstGeom>
          <a:noFill/>
          <a:ln w="25400">
            <a:solidFill>
              <a:srgbClr val="7FE0D8"/>
            </a:solidFill>
            <a:prstDash val="solid"/>
          </a:ln>
        </p:spPr>
      </p:sp>
      <p:sp>
        <p:nvSpPr>
          <p:cNvPr id="39" name="Shape 37"/>
          <p:cNvSpPr/>
          <p:nvPr/>
        </p:nvSpPr>
        <p:spPr>
          <a:xfrm>
            <a:off x="7635240" y="2468880"/>
            <a:ext cx="0" cy="365760"/>
          </a:xfrm>
          <a:prstGeom prst="line">
            <a:avLst/>
          </a:prstGeom>
          <a:noFill/>
          <a:ln w="25400">
            <a:solidFill>
              <a:srgbClr val="7FE0D8"/>
            </a:solidFill>
            <a:prstDash val="solid"/>
          </a:ln>
        </p:spPr>
      </p:sp>
      <p:sp>
        <p:nvSpPr>
          <p:cNvPr id="40" name="Shape 38"/>
          <p:cNvSpPr/>
          <p:nvPr/>
        </p:nvSpPr>
        <p:spPr>
          <a:xfrm>
            <a:off x="8092440" y="2468880"/>
            <a:ext cx="457200" cy="0"/>
          </a:xfrm>
          <a:prstGeom prst="line">
            <a:avLst/>
          </a:prstGeom>
          <a:noFill/>
          <a:ln w="25400">
            <a:solidFill>
              <a:srgbClr val="7FE0D8"/>
            </a:solidFill>
            <a:prstDash val="solid"/>
          </a:ln>
        </p:spPr>
      </p:sp>
      <p:sp>
        <p:nvSpPr>
          <p:cNvPr id="41" name="Shape 39"/>
          <p:cNvSpPr/>
          <p:nvPr/>
        </p:nvSpPr>
        <p:spPr>
          <a:xfrm>
            <a:off x="8092440" y="2468880"/>
            <a:ext cx="0" cy="365760"/>
          </a:xfrm>
          <a:prstGeom prst="line">
            <a:avLst/>
          </a:prstGeom>
          <a:noFill/>
          <a:ln w="25400">
            <a:solidFill>
              <a:srgbClr val="7FE0D8"/>
            </a:solidFill>
            <a:prstDash val="solid"/>
          </a:ln>
        </p:spPr>
      </p:sp>
      <p:sp>
        <p:nvSpPr>
          <p:cNvPr id="42" name="Shape 40"/>
          <p:cNvSpPr/>
          <p:nvPr/>
        </p:nvSpPr>
        <p:spPr>
          <a:xfrm>
            <a:off x="8549640" y="2834640"/>
            <a:ext cx="457200" cy="0"/>
          </a:xfrm>
          <a:prstGeom prst="line">
            <a:avLst/>
          </a:prstGeom>
          <a:noFill/>
          <a:ln w="25400">
            <a:solidFill>
              <a:srgbClr val="7FE0D8"/>
            </a:solidFill>
            <a:prstDash val="solid"/>
          </a:ln>
        </p:spPr>
      </p:sp>
      <p:sp>
        <p:nvSpPr>
          <p:cNvPr id="43" name="Shape 41"/>
          <p:cNvSpPr/>
          <p:nvPr/>
        </p:nvSpPr>
        <p:spPr>
          <a:xfrm>
            <a:off x="8549640" y="2468880"/>
            <a:ext cx="0" cy="365760"/>
          </a:xfrm>
          <a:prstGeom prst="line">
            <a:avLst/>
          </a:prstGeom>
          <a:noFill/>
          <a:ln w="25400">
            <a:solidFill>
              <a:srgbClr val="7FE0D8"/>
            </a:solidFill>
            <a:prstDash val="solid"/>
          </a:ln>
        </p:spPr>
      </p:sp>
      <p:sp>
        <p:nvSpPr>
          <p:cNvPr id="44" name="Shape 42"/>
          <p:cNvSpPr/>
          <p:nvPr/>
        </p:nvSpPr>
        <p:spPr>
          <a:xfrm>
            <a:off x="9006840" y="2468880"/>
            <a:ext cx="457200" cy="0"/>
          </a:xfrm>
          <a:prstGeom prst="line">
            <a:avLst/>
          </a:prstGeom>
          <a:noFill/>
          <a:ln w="25400">
            <a:solidFill>
              <a:srgbClr val="7FE0D8"/>
            </a:solidFill>
            <a:prstDash val="solid"/>
          </a:ln>
        </p:spPr>
      </p:sp>
      <p:sp>
        <p:nvSpPr>
          <p:cNvPr id="45" name="Shape 43"/>
          <p:cNvSpPr/>
          <p:nvPr/>
        </p:nvSpPr>
        <p:spPr>
          <a:xfrm>
            <a:off x="9006840" y="2468880"/>
            <a:ext cx="0" cy="365760"/>
          </a:xfrm>
          <a:prstGeom prst="line">
            <a:avLst/>
          </a:prstGeom>
          <a:noFill/>
          <a:ln w="25400">
            <a:solidFill>
              <a:srgbClr val="7FE0D8"/>
            </a:solidFill>
            <a:prstDash val="solid"/>
          </a:ln>
        </p:spPr>
      </p:sp>
      <p:sp>
        <p:nvSpPr>
          <p:cNvPr id="46" name="Shape 44"/>
          <p:cNvSpPr/>
          <p:nvPr/>
        </p:nvSpPr>
        <p:spPr>
          <a:xfrm>
            <a:off x="9464040" y="2834640"/>
            <a:ext cx="457200" cy="0"/>
          </a:xfrm>
          <a:prstGeom prst="line">
            <a:avLst/>
          </a:prstGeom>
          <a:noFill/>
          <a:ln w="25400">
            <a:solidFill>
              <a:srgbClr val="7FE0D8"/>
            </a:solidFill>
            <a:prstDash val="solid"/>
          </a:ln>
        </p:spPr>
      </p:sp>
      <p:sp>
        <p:nvSpPr>
          <p:cNvPr id="47" name="Shape 45"/>
          <p:cNvSpPr/>
          <p:nvPr/>
        </p:nvSpPr>
        <p:spPr>
          <a:xfrm>
            <a:off x="9464040" y="2468880"/>
            <a:ext cx="0" cy="365760"/>
          </a:xfrm>
          <a:prstGeom prst="line">
            <a:avLst/>
          </a:prstGeom>
          <a:noFill/>
          <a:ln w="25400">
            <a:solidFill>
              <a:srgbClr val="7FE0D8"/>
            </a:solidFill>
            <a:prstDash val="solid"/>
          </a:ln>
        </p:spPr>
      </p:sp>
      <p:sp>
        <p:nvSpPr>
          <p:cNvPr id="48" name="Shape 46"/>
          <p:cNvSpPr/>
          <p:nvPr/>
        </p:nvSpPr>
        <p:spPr>
          <a:xfrm>
            <a:off x="9921240" y="2468880"/>
            <a:ext cx="457200" cy="0"/>
          </a:xfrm>
          <a:prstGeom prst="line">
            <a:avLst/>
          </a:prstGeom>
          <a:noFill/>
          <a:ln w="25400">
            <a:solidFill>
              <a:srgbClr val="7FE0D8"/>
            </a:solidFill>
            <a:prstDash val="solid"/>
          </a:ln>
        </p:spPr>
      </p:sp>
      <p:sp>
        <p:nvSpPr>
          <p:cNvPr id="49" name="Shape 47"/>
          <p:cNvSpPr/>
          <p:nvPr/>
        </p:nvSpPr>
        <p:spPr>
          <a:xfrm>
            <a:off x="9921240" y="2468880"/>
            <a:ext cx="0" cy="365760"/>
          </a:xfrm>
          <a:prstGeom prst="line">
            <a:avLst/>
          </a:prstGeom>
          <a:noFill/>
          <a:ln w="25400">
            <a:solidFill>
              <a:srgbClr val="7FE0D8"/>
            </a:solidFill>
            <a:prstDash val="solid"/>
          </a:ln>
        </p:spPr>
      </p:sp>
      <p:sp>
        <p:nvSpPr>
          <p:cNvPr id="50" name="Shape 48"/>
          <p:cNvSpPr/>
          <p:nvPr/>
        </p:nvSpPr>
        <p:spPr>
          <a:xfrm>
            <a:off x="10378440" y="2834640"/>
            <a:ext cx="457200" cy="0"/>
          </a:xfrm>
          <a:prstGeom prst="line">
            <a:avLst/>
          </a:prstGeom>
          <a:noFill/>
          <a:ln w="25400">
            <a:solidFill>
              <a:srgbClr val="7FE0D8"/>
            </a:solidFill>
            <a:prstDash val="solid"/>
          </a:ln>
        </p:spPr>
      </p:sp>
      <p:sp>
        <p:nvSpPr>
          <p:cNvPr id="51" name="Shape 49"/>
          <p:cNvSpPr/>
          <p:nvPr/>
        </p:nvSpPr>
        <p:spPr>
          <a:xfrm>
            <a:off x="10378440" y="2468880"/>
            <a:ext cx="0" cy="365760"/>
          </a:xfrm>
          <a:prstGeom prst="line">
            <a:avLst/>
          </a:prstGeom>
          <a:noFill/>
          <a:ln w="25400">
            <a:solidFill>
              <a:srgbClr val="7FE0D8"/>
            </a:solidFill>
            <a:prstDash val="solid"/>
          </a:ln>
        </p:spPr>
      </p:sp>
      <p:sp>
        <p:nvSpPr>
          <p:cNvPr id="52" name="Shape 50"/>
          <p:cNvSpPr/>
          <p:nvPr/>
        </p:nvSpPr>
        <p:spPr>
          <a:xfrm>
            <a:off x="10835640" y="2468880"/>
            <a:ext cx="457200" cy="0"/>
          </a:xfrm>
          <a:prstGeom prst="line">
            <a:avLst/>
          </a:prstGeom>
          <a:noFill/>
          <a:ln w="25400">
            <a:solidFill>
              <a:srgbClr val="7FE0D8"/>
            </a:solidFill>
            <a:prstDash val="solid"/>
          </a:ln>
        </p:spPr>
      </p:sp>
      <p:sp>
        <p:nvSpPr>
          <p:cNvPr id="53" name="Shape 51"/>
          <p:cNvSpPr/>
          <p:nvPr/>
        </p:nvSpPr>
        <p:spPr>
          <a:xfrm>
            <a:off x="10835640" y="2468880"/>
            <a:ext cx="0" cy="365760"/>
          </a:xfrm>
          <a:prstGeom prst="line">
            <a:avLst/>
          </a:prstGeom>
          <a:noFill/>
          <a:ln w="25400">
            <a:solidFill>
              <a:srgbClr val="7FE0D8"/>
            </a:solidFill>
            <a:prstDash val="solid"/>
          </a:ln>
        </p:spPr>
      </p:sp>
      <p:sp>
        <p:nvSpPr>
          <p:cNvPr id="54" name="Text 52"/>
          <p:cNvSpPr/>
          <p:nvPr/>
        </p:nvSpPr>
        <p:spPr>
          <a:xfrm>
            <a:off x="4206240" y="2962656"/>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winc</a:t>
            </a:r>
            <a:endParaRPr lang="en-US" sz="1000" dirty="0"/>
          </a:p>
        </p:txBody>
      </p:sp>
      <p:sp>
        <p:nvSpPr>
          <p:cNvPr id="55" name="Shape 53"/>
          <p:cNvSpPr/>
          <p:nvPr/>
        </p:nvSpPr>
        <p:spPr>
          <a:xfrm>
            <a:off x="5806440" y="3346704"/>
            <a:ext cx="457200" cy="0"/>
          </a:xfrm>
          <a:prstGeom prst="line">
            <a:avLst/>
          </a:prstGeom>
          <a:noFill/>
          <a:ln w="25400">
            <a:solidFill>
              <a:srgbClr val="18C2B8"/>
            </a:solidFill>
            <a:prstDash val="solid"/>
          </a:ln>
        </p:spPr>
      </p:sp>
      <p:sp>
        <p:nvSpPr>
          <p:cNvPr id="56" name="Shape 54"/>
          <p:cNvSpPr/>
          <p:nvPr/>
        </p:nvSpPr>
        <p:spPr>
          <a:xfrm>
            <a:off x="6263640" y="2980944"/>
            <a:ext cx="457200" cy="0"/>
          </a:xfrm>
          <a:prstGeom prst="line">
            <a:avLst/>
          </a:prstGeom>
          <a:noFill/>
          <a:ln w="25400">
            <a:solidFill>
              <a:srgbClr val="18C2B8"/>
            </a:solidFill>
            <a:prstDash val="solid"/>
          </a:ln>
        </p:spPr>
      </p:sp>
      <p:sp>
        <p:nvSpPr>
          <p:cNvPr id="57" name="Shape 55"/>
          <p:cNvSpPr/>
          <p:nvPr/>
        </p:nvSpPr>
        <p:spPr>
          <a:xfrm>
            <a:off x="6263640" y="2980944"/>
            <a:ext cx="0" cy="365760"/>
          </a:xfrm>
          <a:prstGeom prst="line">
            <a:avLst/>
          </a:prstGeom>
          <a:noFill/>
          <a:ln w="25400">
            <a:solidFill>
              <a:srgbClr val="18C2B8"/>
            </a:solidFill>
            <a:prstDash val="solid"/>
          </a:ln>
        </p:spPr>
      </p:sp>
      <p:sp>
        <p:nvSpPr>
          <p:cNvPr id="58" name="Shape 56"/>
          <p:cNvSpPr/>
          <p:nvPr/>
        </p:nvSpPr>
        <p:spPr>
          <a:xfrm>
            <a:off x="6720840" y="2980944"/>
            <a:ext cx="457200" cy="0"/>
          </a:xfrm>
          <a:prstGeom prst="line">
            <a:avLst/>
          </a:prstGeom>
          <a:noFill/>
          <a:ln w="25400">
            <a:solidFill>
              <a:srgbClr val="18C2B8"/>
            </a:solidFill>
            <a:prstDash val="solid"/>
          </a:ln>
        </p:spPr>
      </p:sp>
      <p:sp>
        <p:nvSpPr>
          <p:cNvPr id="59" name="Shape 57"/>
          <p:cNvSpPr/>
          <p:nvPr/>
        </p:nvSpPr>
        <p:spPr>
          <a:xfrm>
            <a:off x="7178040" y="2980944"/>
            <a:ext cx="457200" cy="0"/>
          </a:xfrm>
          <a:prstGeom prst="line">
            <a:avLst/>
          </a:prstGeom>
          <a:noFill/>
          <a:ln w="25400">
            <a:solidFill>
              <a:srgbClr val="18C2B8"/>
            </a:solidFill>
            <a:prstDash val="solid"/>
          </a:ln>
        </p:spPr>
      </p:sp>
      <p:sp>
        <p:nvSpPr>
          <p:cNvPr id="60" name="Shape 58"/>
          <p:cNvSpPr/>
          <p:nvPr/>
        </p:nvSpPr>
        <p:spPr>
          <a:xfrm>
            <a:off x="7635240" y="2980944"/>
            <a:ext cx="457200" cy="0"/>
          </a:xfrm>
          <a:prstGeom prst="line">
            <a:avLst/>
          </a:prstGeom>
          <a:noFill/>
          <a:ln w="25400">
            <a:solidFill>
              <a:srgbClr val="18C2B8"/>
            </a:solidFill>
            <a:prstDash val="solid"/>
          </a:ln>
        </p:spPr>
      </p:sp>
      <p:sp>
        <p:nvSpPr>
          <p:cNvPr id="61" name="Shape 59"/>
          <p:cNvSpPr/>
          <p:nvPr/>
        </p:nvSpPr>
        <p:spPr>
          <a:xfrm>
            <a:off x="8092440" y="3346704"/>
            <a:ext cx="457200" cy="0"/>
          </a:xfrm>
          <a:prstGeom prst="line">
            <a:avLst/>
          </a:prstGeom>
          <a:noFill/>
          <a:ln w="25400">
            <a:solidFill>
              <a:srgbClr val="18C2B8"/>
            </a:solidFill>
            <a:prstDash val="solid"/>
          </a:ln>
        </p:spPr>
      </p:sp>
      <p:sp>
        <p:nvSpPr>
          <p:cNvPr id="62" name="Shape 60"/>
          <p:cNvSpPr/>
          <p:nvPr/>
        </p:nvSpPr>
        <p:spPr>
          <a:xfrm>
            <a:off x="8092440" y="2980944"/>
            <a:ext cx="0" cy="365760"/>
          </a:xfrm>
          <a:prstGeom prst="line">
            <a:avLst/>
          </a:prstGeom>
          <a:noFill/>
          <a:ln w="25400">
            <a:solidFill>
              <a:srgbClr val="18C2B8"/>
            </a:solidFill>
            <a:prstDash val="solid"/>
          </a:ln>
        </p:spPr>
      </p:sp>
      <p:sp>
        <p:nvSpPr>
          <p:cNvPr id="63" name="Shape 61"/>
          <p:cNvSpPr/>
          <p:nvPr/>
        </p:nvSpPr>
        <p:spPr>
          <a:xfrm>
            <a:off x="8549640" y="3346704"/>
            <a:ext cx="457200" cy="0"/>
          </a:xfrm>
          <a:prstGeom prst="line">
            <a:avLst/>
          </a:prstGeom>
          <a:noFill/>
          <a:ln w="25400">
            <a:solidFill>
              <a:srgbClr val="18C2B8"/>
            </a:solidFill>
            <a:prstDash val="solid"/>
          </a:ln>
        </p:spPr>
      </p:sp>
      <p:sp>
        <p:nvSpPr>
          <p:cNvPr id="64" name="Shape 62"/>
          <p:cNvSpPr/>
          <p:nvPr/>
        </p:nvSpPr>
        <p:spPr>
          <a:xfrm>
            <a:off x="9006840" y="3346704"/>
            <a:ext cx="457200" cy="0"/>
          </a:xfrm>
          <a:prstGeom prst="line">
            <a:avLst/>
          </a:prstGeom>
          <a:noFill/>
          <a:ln w="25400">
            <a:solidFill>
              <a:srgbClr val="18C2B8"/>
            </a:solidFill>
            <a:prstDash val="solid"/>
          </a:ln>
        </p:spPr>
      </p:sp>
      <p:sp>
        <p:nvSpPr>
          <p:cNvPr id="65" name="Shape 63"/>
          <p:cNvSpPr/>
          <p:nvPr/>
        </p:nvSpPr>
        <p:spPr>
          <a:xfrm>
            <a:off x="9464040" y="3346704"/>
            <a:ext cx="457200" cy="0"/>
          </a:xfrm>
          <a:prstGeom prst="line">
            <a:avLst/>
          </a:prstGeom>
          <a:noFill/>
          <a:ln w="25400">
            <a:solidFill>
              <a:srgbClr val="18C2B8"/>
            </a:solidFill>
            <a:prstDash val="solid"/>
          </a:ln>
        </p:spPr>
      </p:sp>
      <p:sp>
        <p:nvSpPr>
          <p:cNvPr id="66" name="Shape 64"/>
          <p:cNvSpPr/>
          <p:nvPr/>
        </p:nvSpPr>
        <p:spPr>
          <a:xfrm>
            <a:off x="9921240" y="3346704"/>
            <a:ext cx="457200" cy="0"/>
          </a:xfrm>
          <a:prstGeom prst="line">
            <a:avLst/>
          </a:prstGeom>
          <a:noFill/>
          <a:ln w="25400">
            <a:solidFill>
              <a:srgbClr val="18C2B8"/>
            </a:solidFill>
            <a:prstDash val="solid"/>
          </a:ln>
        </p:spPr>
      </p:sp>
      <p:sp>
        <p:nvSpPr>
          <p:cNvPr id="67" name="Shape 65"/>
          <p:cNvSpPr/>
          <p:nvPr/>
        </p:nvSpPr>
        <p:spPr>
          <a:xfrm>
            <a:off x="10378440" y="3346704"/>
            <a:ext cx="457200" cy="0"/>
          </a:xfrm>
          <a:prstGeom prst="line">
            <a:avLst/>
          </a:prstGeom>
          <a:noFill/>
          <a:ln w="25400">
            <a:solidFill>
              <a:srgbClr val="18C2B8"/>
            </a:solidFill>
            <a:prstDash val="solid"/>
          </a:ln>
        </p:spPr>
      </p:sp>
      <p:sp>
        <p:nvSpPr>
          <p:cNvPr id="68" name="Shape 66"/>
          <p:cNvSpPr/>
          <p:nvPr/>
        </p:nvSpPr>
        <p:spPr>
          <a:xfrm>
            <a:off x="10835640" y="3346704"/>
            <a:ext cx="457200" cy="0"/>
          </a:xfrm>
          <a:prstGeom prst="line">
            <a:avLst/>
          </a:prstGeom>
          <a:noFill/>
          <a:ln w="25400">
            <a:solidFill>
              <a:srgbClr val="18C2B8"/>
            </a:solidFill>
            <a:prstDash val="solid"/>
          </a:ln>
        </p:spPr>
      </p:sp>
      <p:sp>
        <p:nvSpPr>
          <p:cNvPr id="69" name="Text 67"/>
          <p:cNvSpPr/>
          <p:nvPr/>
        </p:nvSpPr>
        <p:spPr>
          <a:xfrm>
            <a:off x="4206240" y="3474720"/>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wdata</a:t>
            </a:r>
            <a:endParaRPr lang="en-US" sz="1000" dirty="0"/>
          </a:p>
        </p:txBody>
      </p:sp>
      <p:sp>
        <p:nvSpPr>
          <p:cNvPr id="70" name="Shape 68"/>
          <p:cNvSpPr/>
          <p:nvPr/>
        </p:nvSpPr>
        <p:spPr>
          <a:xfrm>
            <a:off x="5806440" y="3675888"/>
            <a:ext cx="457200" cy="0"/>
          </a:xfrm>
          <a:prstGeom prst="line">
            <a:avLst/>
          </a:prstGeom>
          <a:noFill/>
          <a:ln w="19050">
            <a:solidFill>
              <a:srgbClr val="3A536B"/>
            </a:solidFill>
            <a:prstDash val="dash"/>
          </a:ln>
        </p:spPr>
      </p:sp>
      <p:sp>
        <p:nvSpPr>
          <p:cNvPr id="71" name="Shape 69"/>
          <p:cNvSpPr/>
          <p:nvPr/>
        </p:nvSpPr>
        <p:spPr>
          <a:xfrm>
            <a:off x="6291072" y="3511296"/>
            <a:ext cx="402336" cy="329184"/>
          </a:xfrm>
          <a:prstGeom prst="roundRect">
            <a:avLst>
              <a:gd name="adj" fmla="val 11111"/>
            </a:avLst>
          </a:prstGeom>
          <a:solidFill>
            <a:srgbClr val="1B3A5B"/>
          </a:solidFill>
          <a:ln w="17780">
            <a:solidFill>
              <a:srgbClr val="18C2B8"/>
            </a:solidFill>
            <a:prstDash val="solid"/>
          </a:ln>
        </p:spPr>
      </p:sp>
      <p:sp>
        <p:nvSpPr>
          <p:cNvPr id="72" name="Text 70"/>
          <p:cNvSpPr/>
          <p:nvPr/>
        </p:nvSpPr>
        <p:spPr>
          <a:xfrm>
            <a:off x="6263640" y="3493008"/>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A0</a:t>
            </a:r>
            <a:endParaRPr lang="en-US" sz="950" dirty="0"/>
          </a:p>
        </p:txBody>
      </p:sp>
      <p:sp>
        <p:nvSpPr>
          <p:cNvPr id="73" name="Shape 71"/>
          <p:cNvSpPr/>
          <p:nvPr/>
        </p:nvSpPr>
        <p:spPr>
          <a:xfrm>
            <a:off x="6748272" y="3511296"/>
            <a:ext cx="402336" cy="329184"/>
          </a:xfrm>
          <a:prstGeom prst="roundRect">
            <a:avLst>
              <a:gd name="adj" fmla="val 11111"/>
            </a:avLst>
          </a:prstGeom>
          <a:solidFill>
            <a:srgbClr val="1B3A5B"/>
          </a:solidFill>
          <a:ln w="17780">
            <a:solidFill>
              <a:srgbClr val="18C2B8"/>
            </a:solidFill>
            <a:prstDash val="solid"/>
          </a:ln>
        </p:spPr>
      </p:sp>
      <p:sp>
        <p:nvSpPr>
          <p:cNvPr id="74" name="Text 72"/>
          <p:cNvSpPr/>
          <p:nvPr/>
        </p:nvSpPr>
        <p:spPr>
          <a:xfrm>
            <a:off x="6720840" y="3493008"/>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A1</a:t>
            </a:r>
            <a:endParaRPr lang="en-US" sz="950" dirty="0"/>
          </a:p>
        </p:txBody>
      </p:sp>
      <p:sp>
        <p:nvSpPr>
          <p:cNvPr id="75" name="Shape 73"/>
          <p:cNvSpPr/>
          <p:nvPr/>
        </p:nvSpPr>
        <p:spPr>
          <a:xfrm>
            <a:off x="7205472" y="3511296"/>
            <a:ext cx="402336" cy="329184"/>
          </a:xfrm>
          <a:prstGeom prst="roundRect">
            <a:avLst>
              <a:gd name="adj" fmla="val 11111"/>
            </a:avLst>
          </a:prstGeom>
          <a:solidFill>
            <a:srgbClr val="1B3A5B"/>
          </a:solidFill>
          <a:ln w="17780">
            <a:solidFill>
              <a:srgbClr val="18C2B8"/>
            </a:solidFill>
            <a:prstDash val="solid"/>
          </a:ln>
        </p:spPr>
      </p:sp>
      <p:sp>
        <p:nvSpPr>
          <p:cNvPr id="76" name="Text 74"/>
          <p:cNvSpPr/>
          <p:nvPr/>
        </p:nvSpPr>
        <p:spPr>
          <a:xfrm>
            <a:off x="7178040" y="3493008"/>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A2</a:t>
            </a:r>
            <a:endParaRPr lang="en-US" sz="950" dirty="0"/>
          </a:p>
        </p:txBody>
      </p:sp>
      <p:sp>
        <p:nvSpPr>
          <p:cNvPr id="77" name="Shape 75"/>
          <p:cNvSpPr/>
          <p:nvPr/>
        </p:nvSpPr>
        <p:spPr>
          <a:xfrm>
            <a:off x="7662672" y="3511296"/>
            <a:ext cx="402336" cy="329184"/>
          </a:xfrm>
          <a:prstGeom prst="roundRect">
            <a:avLst>
              <a:gd name="adj" fmla="val 11111"/>
            </a:avLst>
          </a:prstGeom>
          <a:solidFill>
            <a:srgbClr val="1B3A5B"/>
          </a:solidFill>
          <a:ln w="17780">
            <a:solidFill>
              <a:srgbClr val="18C2B8"/>
            </a:solidFill>
            <a:prstDash val="solid"/>
          </a:ln>
        </p:spPr>
      </p:sp>
      <p:sp>
        <p:nvSpPr>
          <p:cNvPr id="78" name="Text 76"/>
          <p:cNvSpPr/>
          <p:nvPr/>
        </p:nvSpPr>
        <p:spPr>
          <a:xfrm>
            <a:off x="7635240" y="3493008"/>
            <a:ext cx="4572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A3</a:t>
            </a:r>
            <a:endParaRPr lang="en-US" sz="950" dirty="0"/>
          </a:p>
        </p:txBody>
      </p:sp>
      <p:sp>
        <p:nvSpPr>
          <p:cNvPr id="79" name="Shape 77"/>
          <p:cNvSpPr/>
          <p:nvPr/>
        </p:nvSpPr>
        <p:spPr>
          <a:xfrm>
            <a:off x="8092440" y="3675888"/>
            <a:ext cx="3200400" cy="0"/>
          </a:xfrm>
          <a:prstGeom prst="line">
            <a:avLst/>
          </a:prstGeom>
          <a:noFill/>
          <a:ln w="19050">
            <a:solidFill>
              <a:srgbClr val="3A536B"/>
            </a:solidFill>
            <a:prstDash val="dash"/>
          </a:ln>
        </p:spPr>
      </p:sp>
      <p:sp>
        <p:nvSpPr>
          <p:cNvPr id="80" name="Text 78"/>
          <p:cNvSpPr/>
          <p:nvPr/>
        </p:nvSpPr>
        <p:spPr>
          <a:xfrm>
            <a:off x="4206240" y="3986784"/>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rclk</a:t>
            </a:r>
            <a:endParaRPr lang="en-US" sz="1000" dirty="0"/>
          </a:p>
        </p:txBody>
      </p:sp>
      <p:sp>
        <p:nvSpPr>
          <p:cNvPr id="81" name="Shape 79"/>
          <p:cNvSpPr/>
          <p:nvPr/>
        </p:nvSpPr>
        <p:spPr>
          <a:xfrm>
            <a:off x="5806440" y="4370832"/>
            <a:ext cx="457200" cy="0"/>
          </a:xfrm>
          <a:prstGeom prst="line">
            <a:avLst/>
          </a:prstGeom>
          <a:noFill/>
          <a:ln w="25400">
            <a:solidFill>
              <a:srgbClr val="F6C86A"/>
            </a:solidFill>
            <a:prstDash val="solid"/>
          </a:ln>
        </p:spPr>
      </p:sp>
      <p:sp>
        <p:nvSpPr>
          <p:cNvPr id="82" name="Shape 80"/>
          <p:cNvSpPr/>
          <p:nvPr/>
        </p:nvSpPr>
        <p:spPr>
          <a:xfrm>
            <a:off x="6263640" y="4370832"/>
            <a:ext cx="457200" cy="0"/>
          </a:xfrm>
          <a:prstGeom prst="line">
            <a:avLst/>
          </a:prstGeom>
          <a:noFill/>
          <a:ln w="25400">
            <a:solidFill>
              <a:srgbClr val="F6C86A"/>
            </a:solidFill>
            <a:prstDash val="solid"/>
          </a:ln>
        </p:spPr>
      </p:sp>
      <p:sp>
        <p:nvSpPr>
          <p:cNvPr id="83" name="Shape 81"/>
          <p:cNvSpPr/>
          <p:nvPr/>
        </p:nvSpPr>
        <p:spPr>
          <a:xfrm>
            <a:off x="6720840" y="4005072"/>
            <a:ext cx="457200" cy="0"/>
          </a:xfrm>
          <a:prstGeom prst="line">
            <a:avLst/>
          </a:prstGeom>
          <a:noFill/>
          <a:ln w="25400">
            <a:solidFill>
              <a:srgbClr val="F6C86A"/>
            </a:solidFill>
            <a:prstDash val="solid"/>
          </a:ln>
        </p:spPr>
      </p:sp>
      <p:sp>
        <p:nvSpPr>
          <p:cNvPr id="84" name="Shape 82"/>
          <p:cNvSpPr/>
          <p:nvPr/>
        </p:nvSpPr>
        <p:spPr>
          <a:xfrm>
            <a:off x="6720840" y="4005072"/>
            <a:ext cx="0" cy="365760"/>
          </a:xfrm>
          <a:prstGeom prst="line">
            <a:avLst/>
          </a:prstGeom>
          <a:noFill/>
          <a:ln w="25400">
            <a:solidFill>
              <a:srgbClr val="F6C86A"/>
            </a:solidFill>
            <a:prstDash val="solid"/>
          </a:ln>
        </p:spPr>
      </p:sp>
      <p:sp>
        <p:nvSpPr>
          <p:cNvPr id="85" name="Shape 83"/>
          <p:cNvSpPr/>
          <p:nvPr/>
        </p:nvSpPr>
        <p:spPr>
          <a:xfrm>
            <a:off x="7178040" y="4005072"/>
            <a:ext cx="457200" cy="0"/>
          </a:xfrm>
          <a:prstGeom prst="line">
            <a:avLst/>
          </a:prstGeom>
          <a:noFill/>
          <a:ln w="25400">
            <a:solidFill>
              <a:srgbClr val="F6C86A"/>
            </a:solidFill>
            <a:prstDash val="solid"/>
          </a:ln>
        </p:spPr>
      </p:sp>
      <p:sp>
        <p:nvSpPr>
          <p:cNvPr id="86" name="Shape 84"/>
          <p:cNvSpPr/>
          <p:nvPr/>
        </p:nvSpPr>
        <p:spPr>
          <a:xfrm>
            <a:off x="7635240" y="4370832"/>
            <a:ext cx="457200" cy="0"/>
          </a:xfrm>
          <a:prstGeom prst="line">
            <a:avLst/>
          </a:prstGeom>
          <a:noFill/>
          <a:ln w="25400">
            <a:solidFill>
              <a:srgbClr val="F6C86A"/>
            </a:solidFill>
            <a:prstDash val="solid"/>
          </a:ln>
        </p:spPr>
      </p:sp>
      <p:sp>
        <p:nvSpPr>
          <p:cNvPr id="87" name="Shape 85"/>
          <p:cNvSpPr/>
          <p:nvPr/>
        </p:nvSpPr>
        <p:spPr>
          <a:xfrm>
            <a:off x="7635240" y="4005072"/>
            <a:ext cx="0" cy="365760"/>
          </a:xfrm>
          <a:prstGeom prst="line">
            <a:avLst/>
          </a:prstGeom>
          <a:noFill/>
          <a:ln w="25400">
            <a:solidFill>
              <a:srgbClr val="F6C86A"/>
            </a:solidFill>
            <a:prstDash val="solid"/>
          </a:ln>
        </p:spPr>
      </p:sp>
      <p:sp>
        <p:nvSpPr>
          <p:cNvPr id="88" name="Shape 86"/>
          <p:cNvSpPr/>
          <p:nvPr/>
        </p:nvSpPr>
        <p:spPr>
          <a:xfrm>
            <a:off x="8092440" y="4370832"/>
            <a:ext cx="457200" cy="0"/>
          </a:xfrm>
          <a:prstGeom prst="line">
            <a:avLst/>
          </a:prstGeom>
          <a:noFill/>
          <a:ln w="25400">
            <a:solidFill>
              <a:srgbClr val="F6C86A"/>
            </a:solidFill>
            <a:prstDash val="solid"/>
          </a:ln>
        </p:spPr>
      </p:sp>
      <p:sp>
        <p:nvSpPr>
          <p:cNvPr id="89" name="Shape 87"/>
          <p:cNvSpPr/>
          <p:nvPr/>
        </p:nvSpPr>
        <p:spPr>
          <a:xfrm>
            <a:off x="8549640" y="4005072"/>
            <a:ext cx="457200" cy="0"/>
          </a:xfrm>
          <a:prstGeom prst="line">
            <a:avLst/>
          </a:prstGeom>
          <a:noFill/>
          <a:ln w="25400">
            <a:solidFill>
              <a:srgbClr val="F6C86A"/>
            </a:solidFill>
            <a:prstDash val="solid"/>
          </a:ln>
        </p:spPr>
      </p:sp>
      <p:sp>
        <p:nvSpPr>
          <p:cNvPr id="90" name="Shape 88"/>
          <p:cNvSpPr/>
          <p:nvPr/>
        </p:nvSpPr>
        <p:spPr>
          <a:xfrm>
            <a:off x="8549640" y="4005072"/>
            <a:ext cx="0" cy="365760"/>
          </a:xfrm>
          <a:prstGeom prst="line">
            <a:avLst/>
          </a:prstGeom>
          <a:noFill/>
          <a:ln w="25400">
            <a:solidFill>
              <a:srgbClr val="F6C86A"/>
            </a:solidFill>
            <a:prstDash val="solid"/>
          </a:ln>
        </p:spPr>
      </p:sp>
      <p:sp>
        <p:nvSpPr>
          <p:cNvPr id="91" name="Shape 89"/>
          <p:cNvSpPr/>
          <p:nvPr/>
        </p:nvSpPr>
        <p:spPr>
          <a:xfrm>
            <a:off x="9006840" y="4005072"/>
            <a:ext cx="457200" cy="0"/>
          </a:xfrm>
          <a:prstGeom prst="line">
            <a:avLst/>
          </a:prstGeom>
          <a:noFill/>
          <a:ln w="25400">
            <a:solidFill>
              <a:srgbClr val="F6C86A"/>
            </a:solidFill>
            <a:prstDash val="solid"/>
          </a:ln>
        </p:spPr>
      </p:sp>
      <p:sp>
        <p:nvSpPr>
          <p:cNvPr id="92" name="Shape 90"/>
          <p:cNvSpPr/>
          <p:nvPr/>
        </p:nvSpPr>
        <p:spPr>
          <a:xfrm>
            <a:off x="9464040" y="4370832"/>
            <a:ext cx="457200" cy="0"/>
          </a:xfrm>
          <a:prstGeom prst="line">
            <a:avLst/>
          </a:prstGeom>
          <a:noFill/>
          <a:ln w="25400">
            <a:solidFill>
              <a:srgbClr val="F6C86A"/>
            </a:solidFill>
            <a:prstDash val="solid"/>
          </a:ln>
        </p:spPr>
      </p:sp>
      <p:sp>
        <p:nvSpPr>
          <p:cNvPr id="93" name="Shape 91"/>
          <p:cNvSpPr/>
          <p:nvPr/>
        </p:nvSpPr>
        <p:spPr>
          <a:xfrm>
            <a:off x="9464040" y="4005072"/>
            <a:ext cx="0" cy="365760"/>
          </a:xfrm>
          <a:prstGeom prst="line">
            <a:avLst/>
          </a:prstGeom>
          <a:noFill/>
          <a:ln w="25400">
            <a:solidFill>
              <a:srgbClr val="F6C86A"/>
            </a:solidFill>
            <a:prstDash val="solid"/>
          </a:ln>
        </p:spPr>
      </p:sp>
      <p:sp>
        <p:nvSpPr>
          <p:cNvPr id="94" name="Shape 92"/>
          <p:cNvSpPr/>
          <p:nvPr/>
        </p:nvSpPr>
        <p:spPr>
          <a:xfrm>
            <a:off x="9921240" y="4370832"/>
            <a:ext cx="457200" cy="0"/>
          </a:xfrm>
          <a:prstGeom prst="line">
            <a:avLst/>
          </a:prstGeom>
          <a:noFill/>
          <a:ln w="25400">
            <a:solidFill>
              <a:srgbClr val="F6C86A"/>
            </a:solidFill>
            <a:prstDash val="solid"/>
          </a:ln>
        </p:spPr>
      </p:sp>
      <p:sp>
        <p:nvSpPr>
          <p:cNvPr id="95" name="Shape 93"/>
          <p:cNvSpPr/>
          <p:nvPr/>
        </p:nvSpPr>
        <p:spPr>
          <a:xfrm>
            <a:off x="10378440" y="4005072"/>
            <a:ext cx="457200" cy="0"/>
          </a:xfrm>
          <a:prstGeom prst="line">
            <a:avLst/>
          </a:prstGeom>
          <a:noFill/>
          <a:ln w="25400">
            <a:solidFill>
              <a:srgbClr val="F6C86A"/>
            </a:solidFill>
            <a:prstDash val="solid"/>
          </a:ln>
        </p:spPr>
      </p:sp>
      <p:sp>
        <p:nvSpPr>
          <p:cNvPr id="96" name="Shape 94"/>
          <p:cNvSpPr/>
          <p:nvPr/>
        </p:nvSpPr>
        <p:spPr>
          <a:xfrm>
            <a:off x="10378440" y="4005072"/>
            <a:ext cx="0" cy="365760"/>
          </a:xfrm>
          <a:prstGeom prst="line">
            <a:avLst/>
          </a:prstGeom>
          <a:noFill/>
          <a:ln w="25400">
            <a:solidFill>
              <a:srgbClr val="F6C86A"/>
            </a:solidFill>
            <a:prstDash val="solid"/>
          </a:ln>
        </p:spPr>
      </p:sp>
      <p:sp>
        <p:nvSpPr>
          <p:cNvPr id="97" name="Shape 95"/>
          <p:cNvSpPr/>
          <p:nvPr/>
        </p:nvSpPr>
        <p:spPr>
          <a:xfrm>
            <a:off x="10835640" y="4005072"/>
            <a:ext cx="457200" cy="0"/>
          </a:xfrm>
          <a:prstGeom prst="line">
            <a:avLst/>
          </a:prstGeom>
          <a:noFill/>
          <a:ln w="25400">
            <a:solidFill>
              <a:srgbClr val="F6C86A"/>
            </a:solidFill>
            <a:prstDash val="solid"/>
          </a:ln>
        </p:spPr>
      </p:sp>
      <p:sp>
        <p:nvSpPr>
          <p:cNvPr id="98" name="Text 96"/>
          <p:cNvSpPr/>
          <p:nvPr/>
        </p:nvSpPr>
        <p:spPr>
          <a:xfrm>
            <a:off x="4206240" y="4498848"/>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rinc</a:t>
            </a:r>
            <a:endParaRPr lang="en-US" sz="1000" dirty="0"/>
          </a:p>
        </p:txBody>
      </p:sp>
      <p:sp>
        <p:nvSpPr>
          <p:cNvPr id="99" name="Shape 97"/>
          <p:cNvSpPr/>
          <p:nvPr/>
        </p:nvSpPr>
        <p:spPr>
          <a:xfrm>
            <a:off x="5806440" y="4882896"/>
            <a:ext cx="457200" cy="0"/>
          </a:xfrm>
          <a:prstGeom prst="line">
            <a:avLst/>
          </a:prstGeom>
          <a:noFill/>
          <a:ln w="25400">
            <a:solidFill>
              <a:srgbClr val="F4A825"/>
            </a:solidFill>
            <a:prstDash val="solid"/>
          </a:ln>
        </p:spPr>
      </p:sp>
      <p:sp>
        <p:nvSpPr>
          <p:cNvPr id="100" name="Shape 98"/>
          <p:cNvSpPr/>
          <p:nvPr/>
        </p:nvSpPr>
        <p:spPr>
          <a:xfrm>
            <a:off x="6263640" y="4882896"/>
            <a:ext cx="457200" cy="0"/>
          </a:xfrm>
          <a:prstGeom prst="line">
            <a:avLst/>
          </a:prstGeom>
          <a:noFill/>
          <a:ln w="25400">
            <a:solidFill>
              <a:srgbClr val="F4A825"/>
            </a:solidFill>
            <a:prstDash val="solid"/>
          </a:ln>
        </p:spPr>
      </p:sp>
      <p:sp>
        <p:nvSpPr>
          <p:cNvPr id="101" name="Shape 99"/>
          <p:cNvSpPr/>
          <p:nvPr/>
        </p:nvSpPr>
        <p:spPr>
          <a:xfrm>
            <a:off x="6720840" y="4882896"/>
            <a:ext cx="457200" cy="0"/>
          </a:xfrm>
          <a:prstGeom prst="line">
            <a:avLst/>
          </a:prstGeom>
          <a:noFill/>
          <a:ln w="25400">
            <a:solidFill>
              <a:srgbClr val="F4A825"/>
            </a:solidFill>
            <a:prstDash val="solid"/>
          </a:ln>
        </p:spPr>
      </p:sp>
      <p:sp>
        <p:nvSpPr>
          <p:cNvPr id="102" name="Shape 100"/>
          <p:cNvSpPr/>
          <p:nvPr/>
        </p:nvSpPr>
        <p:spPr>
          <a:xfrm>
            <a:off x="7178040" y="4882896"/>
            <a:ext cx="457200" cy="0"/>
          </a:xfrm>
          <a:prstGeom prst="line">
            <a:avLst/>
          </a:prstGeom>
          <a:noFill/>
          <a:ln w="25400">
            <a:solidFill>
              <a:srgbClr val="F4A825"/>
            </a:solidFill>
            <a:prstDash val="solid"/>
          </a:ln>
        </p:spPr>
      </p:sp>
      <p:sp>
        <p:nvSpPr>
          <p:cNvPr id="103" name="Shape 101"/>
          <p:cNvSpPr/>
          <p:nvPr/>
        </p:nvSpPr>
        <p:spPr>
          <a:xfrm>
            <a:off x="7635240" y="4882896"/>
            <a:ext cx="457200" cy="0"/>
          </a:xfrm>
          <a:prstGeom prst="line">
            <a:avLst/>
          </a:prstGeom>
          <a:noFill/>
          <a:ln w="25400">
            <a:solidFill>
              <a:srgbClr val="F4A825"/>
            </a:solidFill>
            <a:prstDash val="solid"/>
          </a:ln>
        </p:spPr>
      </p:sp>
      <p:sp>
        <p:nvSpPr>
          <p:cNvPr id="104" name="Shape 102"/>
          <p:cNvSpPr/>
          <p:nvPr/>
        </p:nvSpPr>
        <p:spPr>
          <a:xfrm>
            <a:off x="8092440" y="4882896"/>
            <a:ext cx="457200" cy="0"/>
          </a:xfrm>
          <a:prstGeom prst="line">
            <a:avLst/>
          </a:prstGeom>
          <a:noFill/>
          <a:ln w="25400">
            <a:solidFill>
              <a:srgbClr val="F4A825"/>
            </a:solidFill>
            <a:prstDash val="solid"/>
          </a:ln>
        </p:spPr>
      </p:sp>
      <p:sp>
        <p:nvSpPr>
          <p:cNvPr id="105" name="Shape 103"/>
          <p:cNvSpPr/>
          <p:nvPr/>
        </p:nvSpPr>
        <p:spPr>
          <a:xfrm>
            <a:off x="8549640" y="4517136"/>
            <a:ext cx="457200" cy="0"/>
          </a:xfrm>
          <a:prstGeom prst="line">
            <a:avLst/>
          </a:prstGeom>
          <a:noFill/>
          <a:ln w="25400">
            <a:solidFill>
              <a:srgbClr val="F4A825"/>
            </a:solidFill>
            <a:prstDash val="solid"/>
          </a:ln>
        </p:spPr>
      </p:sp>
      <p:sp>
        <p:nvSpPr>
          <p:cNvPr id="106" name="Shape 104"/>
          <p:cNvSpPr/>
          <p:nvPr/>
        </p:nvSpPr>
        <p:spPr>
          <a:xfrm>
            <a:off x="8549640" y="4517136"/>
            <a:ext cx="0" cy="365760"/>
          </a:xfrm>
          <a:prstGeom prst="line">
            <a:avLst/>
          </a:prstGeom>
          <a:noFill/>
          <a:ln w="25400">
            <a:solidFill>
              <a:srgbClr val="F4A825"/>
            </a:solidFill>
            <a:prstDash val="solid"/>
          </a:ln>
        </p:spPr>
      </p:sp>
      <p:sp>
        <p:nvSpPr>
          <p:cNvPr id="107" name="Shape 105"/>
          <p:cNvSpPr/>
          <p:nvPr/>
        </p:nvSpPr>
        <p:spPr>
          <a:xfrm>
            <a:off x="9006840" y="4517136"/>
            <a:ext cx="457200" cy="0"/>
          </a:xfrm>
          <a:prstGeom prst="line">
            <a:avLst/>
          </a:prstGeom>
          <a:noFill/>
          <a:ln w="25400">
            <a:solidFill>
              <a:srgbClr val="F4A825"/>
            </a:solidFill>
            <a:prstDash val="solid"/>
          </a:ln>
        </p:spPr>
      </p:sp>
      <p:sp>
        <p:nvSpPr>
          <p:cNvPr id="108" name="Shape 106"/>
          <p:cNvSpPr/>
          <p:nvPr/>
        </p:nvSpPr>
        <p:spPr>
          <a:xfrm>
            <a:off x="9464040" y="4517136"/>
            <a:ext cx="457200" cy="0"/>
          </a:xfrm>
          <a:prstGeom prst="line">
            <a:avLst/>
          </a:prstGeom>
          <a:noFill/>
          <a:ln w="25400">
            <a:solidFill>
              <a:srgbClr val="F4A825"/>
            </a:solidFill>
            <a:prstDash val="solid"/>
          </a:ln>
        </p:spPr>
      </p:sp>
      <p:sp>
        <p:nvSpPr>
          <p:cNvPr id="109" name="Shape 107"/>
          <p:cNvSpPr/>
          <p:nvPr/>
        </p:nvSpPr>
        <p:spPr>
          <a:xfrm>
            <a:off x="9921240" y="4517136"/>
            <a:ext cx="457200" cy="0"/>
          </a:xfrm>
          <a:prstGeom prst="line">
            <a:avLst/>
          </a:prstGeom>
          <a:noFill/>
          <a:ln w="25400">
            <a:solidFill>
              <a:srgbClr val="F4A825"/>
            </a:solidFill>
            <a:prstDash val="solid"/>
          </a:ln>
        </p:spPr>
      </p:sp>
      <p:sp>
        <p:nvSpPr>
          <p:cNvPr id="110" name="Shape 108"/>
          <p:cNvSpPr/>
          <p:nvPr/>
        </p:nvSpPr>
        <p:spPr>
          <a:xfrm>
            <a:off x="10378440" y="4882896"/>
            <a:ext cx="457200" cy="0"/>
          </a:xfrm>
          <a:prstGeom prst="line">
            <a:avLst/>
          </a:prstGeom>
          <a:noFill/>
          <a:ln w="25400">
            <a:solidFill>
              <a:srgbClr val="F4A825"/>
            </a:solidFill>
            <a:prstDash val="solid"/>
          </a:ln>
        </p:spPr>
      </p:sp>
      <p:sp>
        <p:nvSpPr>
          <p:cNvPr id="111" name="Shape 109"/>
          <p:cNvSpPr/>
          <p:nvPr/>
        </p:nvSpPr>
        <p:spPr>
          <a:xfrm>
            <a:off x="10378440" y="4517136"/>
            <a:ext cx="0" cy="365760"/>
          </a:xfrm>
          <a:prstGeom prst="line">
            <a:avLst/>
          </a:prstGeom>
          <a:noFill/>
          <a:ln w="25400">
            <a:solidFill>
              <a:srgbClr val="F4A825"/>
            </a:solidFill>
            <a:prstDash val="solid"/>
          </a:ln>
        </p:spPr>
      </p:sp>
      <p:sp>
        <p:nvSpPr>
          <p:cNvPr id="112" name="Shape 110"/>
          <p:cNvSpPr/>
          <p:nvPr/>
        </p:nvSpPr>
        <p:spPr>
          <a:xfrm>
            <a:off x="10835640" y="4882896"/>
            <a:ext cx="457200" cy="0"/>
          </a:xfrm>
          <a:prstGeom prst="line">
            <a:avLst/>
          </a:prstGeom>
          <a:noFill/>
          <a:ln w="25400">
            <a:solidFill>
              <a:srgbClr val="F4A825"/>
            </a:solidFill>
            <a:prstDash val="solid"/>
          </a:ln>
        </p:spPr>
      </p:sp>
      <p:sp>
        <p:nvSpPr>
          <p:cNvPr id="113" name="Text 111"/>
          <p:cNvSpPr/>
          <p:nvPr/>
        </p:nvSpPr>
        <p:spPr>
          <a:xfrm>
            <a:off x="4206240" y="501091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rdata</a:t>
            </a:r>
            <a:endParaRPr lang="en-US" sz="1000" dirty="0"/>
          </a:p>
        </p:txBody>
      </p:sp>
      <p:sp>
        <p:nvSpPr>
          <p:cNvPr id="114" name="Shape 112"/>
          <p:cNvSpPr/>
          <p:nvPr/>
        </p:nvSpPr>
        <p:spPr>
          <a:xfrm>
            <a:off x="5806440" y="5212080"/>
            <a:ext cx="2743200" cy="0"/>
          </a:xfrm>
          <a:prstGeom prst="line">
            <a:avLst/>
          </a:prstGeom>
          <a:noFill/>
          <a:ln w="19050">
            <a:solidFill>
              <a:srgbClr val="3A536B"/>
            </a:solidFill>
            <a:prstDash val="dash"/>
          </a:ln>
        </p:spPr>
      </p:sp>
      <p:sp>
        <p:nvSpPr>
          <p:cNvPr id="115" name="Shape 113"/>
          <p:cNvSpPr/>
          <p:nvPr/>
        </p:nvSpPr>
        <p:spPr>
          <a:xfrm>
            <a:off x="8577072" y="5047488"/>
            <a:ext cx="859536" cy="329184"/>
          </a:xfrm>
          <a:prstGeom prst="roundRect">
            <a:avLst>
              <a:gd name="adj" fmla="val 11111"/>
            </a:avLst>
          </a:prstGeom>
          <a:solidFill>
            <a:srgbClr val="5A4410"/>
          </a:solidFill>
          <a:ln w="17780">
            <a:solidFill>
              <a:srgbClr val="F4A825"/>
            </a:solidFill>
            <a:prstDash val="solid"/>
          </a:ln>
        </p:spPr>
      </p:sp>
      <p:sp>
        <p:nvSpPr>
          <p:cNvPr id="116" name="Text 114"/>
          <p:cNvSpPr/>
          <p:nvPr/>
        </p:nvSpPr>
        <p:spPr>
          <a:xfrm>
            <a:off x="8549640" y="5029200"/>
            <a:ext cx="9144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A0</a:t>
            </a:r>
            <a:endParaRPr lang="en-US" sz="950" dirty="0"/>
          </a:p>
        </p:txBody>
      </p:sp>
      <p:sp>
        <p:nvSpPr>
          <p:cNvPr id="117" name="Shape 115"/>
          <p:cNvSpPr/>
          <p:nvPr/>
        </p:nvSpPr>
        <p:spPr>
          <a:xfrm>
            <a:off x="9491472" y="5047488"/>
            <a:ext cx="859536" cy="329184"/>
          </a:xfrm>
          <a:prstGeom prst="roundRect">
            <a:avLst>
              <a:gd name="adj" fmla="val 11111"/>
            </a:avLst>
          </a:prstGeom>
          <a:solidFill>
            <a:srgbClr val="5A4410"/>
          </a:solidFill>
          <a:ln w="17780">
            <a:solidFill>
              <a:srgbClr val="F4A825"/>
            </a:solidFill>
            <a:prstDash val="solid"/>
          </a:ln>
        </p:spPr>
      </p:sp>
      <p:sp>
        <p:nvSpPr>
          <p:cNvPr id="118" name="Text 116"/>
          <p:cNvSpPr/>
          <p:nvPr/>
        </p:nvSpPr>
        <p:spPr>
          <a:xfrm>
            <a:off x="9464040" y="5029200"/>
            <a:ext cx="91440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A1</a:t>
            </a:r>
            <a:endParaRPr lang="en-US" sz="950" dirty="0"/>
          </a:p>
        </p:txBody>
      </p:sp>
      <p:sp>
        <p:nvSpPr>
          <p:cNvPr id="119" name="Shape 117"/>
          <p:cNvSpPr/>
          <p:nvPr/>
        </p:nvSpPr>
        <p:spPr>
          <a:xfrm>
            <a:off x="10378440" y="5212080"/>
            <a:ext cx="914400" cy="0"/>
          </a:xfrm>
          <a:prstGeom prst="line">
            <a:avLst/>
          </a:prstGeom>
          <a:noFill/>
          <a:ln w="19050">
            <a:solidFill>
              <a:srgbClr val="3A536B"/>
            </a:solidFill>
            <a:prstDash val="dash"/>
          </a:ln>
        </p:spPr>
      </p:sp>
      <p:sp>
        <p:nvSpPr>
          <p:cNvPr id="120" name="Text 118"/>
          <p:cNvSpPr/>
          <p:nvPr/>
        </p:nvSpPr>
        <p:spPr>
          <a:xfrm>
            <a:off x="4206240" y="5522976"/>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rempty</a:t>
            </a:r>
            <a:endParaRPr lang="en-US" sz="1000" dirty="0"/>
          </a:p>
        </p:txBody>
      </p:sp>
      <p:sp>
        <p:nvSpPr>
          <p:cNvPr id="121" name="Shape 119"/>
          <p:cNvSpPr/>
          <p:nvPr/>
        </p:nvSpPr>
        <p:spPr>
          <a:xfrm>
            <a:off x="5806440" y="5541264"/>
            <a:ext cx="457200" cy="0"/>
          </a:xfrm>
          <a:prstGeom prst="line">
            <a:avLst/>
          </a:prstGeom>
          <a:noFill/>
          <a:ln w="25400">
            <a:solidFill>
              <a:srgbClr val="9DB4C7"/>
            </a:solidFill>
            <a:prstDash val="solid"/>
          </a:ln>
        </p:spPr>
      </p:sp>
      <p:sp>
        <p:nvSpPr>
          <p:cNvPr id="122" name="Shape 120"/>
          <p:cNvSpPr/>
          <p:nvPr/>
        </p:nvSpPr>
        <p:spPr>
          <a:xfrm>
            <a:off x="6263640" y="5541264"/>
            <a:ext cx="457200" cy="0"/>
          </a:xfrm>
          <a:prstGeom prst="line">
            <a:avLst/>
          </a:prstGeom>
          <a:noFill/>
          <a:ln w="25400">
            <a:solidFill>
              <a:srgbClr val="9DB4C7"/>
            </a:solidFill>
            <a:prstDash val="solid"/>
          </a:ln>
        </p:spPr>
      </p:sp>
      <p:sp>
        <p:nvSpPr>
          <p:cNvPr id="123" name="Shape 121"/>
          <p:cNvSpPr/>
          <p:nvPr/>
        </p:nvSpPr>
        <p:spPr>
          <a:xfrm>
            <a:off x="6720840" y="5541264"/>
            <a:ext cx="457200" cy="0"/>
          </a:xfrm>
          <a:prstGeom prst="line">
            <a:avLst/>
          </a:prstGeom>
          <a:noFill/>
          <a:ln w="25400">
            <a:solidFill>
              <a:srgbClr val="9DB4C7"/>
            </a:solidFill>
            <a:prstDash val="solid"/>
          </a:ln>
        </p:spPr>
      </p:sp>
      <p:sp>
        <p:nvSpPr>
          <p:cNvPr id="124" name="Shape 122"/>
          <p:cNvSpPr/>
          <p:nvPr/>
        </p:nvSpPr>
        <p:spPr>
          <a:xfrm>
            <a:off x="7178040" y="5907024"/>
            <a:ext cx="457200" cy="0"/>
          </a:xfrm>
          <a:prstGeom prst="line">
            <a:avLst/>
          </a:prstGeom>
          <a:noFill/>
          <a:ln w="25400">
            <a:solidFill>
              <a:srgbClr val="9DB4C7"/>
            </a:solidFill>
            <a:prstDash val="solid"/>
          </a:ln>
        </p:spPr>
      </p:sp>
      <p:sp>
        <p:nvSpPr>
          <p:cNvPr id="125" name="Shape 123"/>
          <p:cNvSpPr/>
          <p:nvPr/>
        </p:nvSpPr>
        <p:spPr>
          <a:xfrm>
            <a:off x="7178040" y="5541264"/>
            <a:ext cx="0" cy="365760"/>
          </a:xfrm>
          <a:prstGeom prst="line">
            <a:avLst/>
          </a:prstGeom>
          <a:noFill/>
          <a:ln w="25400">
            <a:solidFill>
              <a:srgbClr val="9DB4C7"/>
            </a:solidFill>
            <a:prstDash val="solid"/>
          </a:ln>
        </p:spPr>
      </p:sp>
      <p:sp>
        <p:nvSpPr>
          <p:cNvPr id="126" name="Shape 124"/>
          <p:cNvSpPr/>
          <p:nvPr/>
        </p:nvSpPr>
        <p:spPr>
          <a:xfrm>
            <a:off x="7635240" y="5907024"/>
            <a:ext cx="457200" cy="0"/>
          </a:xfrm>
          <a:prstGeom prst="line">
            <a:avLst/>
          </a:prstGeom>
          <a:noFill/>
          <a:ln w="25400">
            <a:solidFill>
              <a:srgbClr val="9DB4C7"/>
            </a:solidFill>
            <a:prstDash val="solid"/>
          </a:ln>
        </p:spPr>
      </p:sp>
      <p:sp>
        <p:nvSpPr>
          <p:cNvPr id="127" name="Shape 125"/>
          <p:cNvSpPr/>
          <p:nvPr/>
        </p:nvSpPr>
        <p:spPr>
          <a:xfrm>
            <a:off x="8092440" y="5907024"/>
            <a:ext cx="457200" cy="0"/>
          </a:xfrm>
          <a:prstGeom prst="line">
            <a:avLst/>
          </a:prstGeom>
          <a:noFill/>
          <a:ln w="25400">
            <a:solidFill>
              <a:srgbClr val="9DB4C7"/>
            </a:solidFill>
            <a:prstDash val="solid"/>
          </a:ln>
        </p:spPr>
      </p:sp>
      <p:sp>
        <p:nvSpPr>
          <p:cNvPr id="128" name="Shape 126"/>
          <p:cNvSpPr/>
          <p:nvPr/>
        </p:nvSpPr>
        <p:spPr>
          <a:xfrm>
            <a:off x="8549640" y="5907024"/>
            <a:ext cx="457200" cy="0"/>
          </a:xfrm>
          <a:prstGeom prst="line">
            <a:avLst/>
          </a:prstGeom>
          <a:noFill/>
          <a:ln w="25400">
            <a:solidFill>
              <a:srgbClr val="9DB4C7"/>
            </a:solidFill>
            <a:prstDash val="solid"/>
          </a:ln>
        </p:spPr>
      </p:sp>
      <p:sp>
        <p:nvSpPr>
          <p:cNvPr id="129" name="Shape 127"/>
          <p:cNvSpPr/>
          <p:nvPr/>
        </p:nvSpPr>
        <p:spPr>
          <a:xfrm>
            <a:off x="9006840" y="5907024"/>
            <a:ext cx="457200" cy="0"/>
          </a:xfrm>
          <a:prstGeom prst="line">
            <a:avLst/>
          </a:prstGeom>
          <a:noFill/>
          <a:ln w="25400">
            <a:solidFill>
              <a:srgbClr val="9DB4C7"/>
            </a:solidFill>
            <a:prstDash val="solid"/>
          </a:ln>
        </p:spPr>
      </p:sp>
      <p:sp>
        <p:nvSpPr>
          <p:cNvPr id="130" name="Shape 128"/>
          <p:cNvSpPr/>
          <p:nvPr/>
        </p:nvSpPr>
        <p:spPr>
          <a:xfrm>
            <a:off x="9464040" y="5907024"/>
            <a:ext cx="457200" cy="0"/>
          </a:xfrm>
          <a:prstGeom prst="line">
            <a:avLst/>
          </a:prstGeom>
          <a:noFill/>
          <a:ln w="25400">
            <a:solidFill>
              <a:srgbClr val="9DB4C7"/>
            </a:solidFill>
            <a:prstDash val="solid"/>
          </a:ln>
        </p:spPr>
      </p:sp>
      <p:sp>
        <p:nvSpPr>
          <p:cNvPr id="131" name="Shape 129"/>
          <p:cNvSpPr/>
          <p:nvPr/>
        </p:nvSpPr>
        <p:spPr>
          <a:xfrm>
            <a:off x="9921240" y="5907024"/>
            <a:ext cx="457200" cy="0"/>
          </a:xfrm>
          <a:prstGeom prst="line">
            <a:avLst/>
          </a:prstGeom>
          <a:noFill/>
          <a:ln w="25400">
            <a:solidFill>
              <a:srgbClr val="9DB4C7"/>
            </a:solidFill>
            <a:prstDash val="solid"/>
          </a:ln>
        </p:spPr>
      </p:sp>
      <p:sp>
        <p:nvSpPr>
          <p:cNvPr id="132" name="Shape 130"/>
          <p:cNvSpPr/>
          <p:nvPr/>
        </p:nvSpPr>
        <p:spPr>
          <a:xfrm>
            <a:off x="10378440" y="5907024"/>
            <a:ext cx="457200" cy="0"/>
          </a:xfrm>
          <a:prstGeom prst="line">
            <a:avLst/>
          </a:prstGeom>
          <a:noFill/>
          <a:ln w="25400">
            <a:solidFill>
              <a:srgbClr val="9DB4C7"/>
            </a:solidFill>
            <a:prstDash val="solid"/>
          </a:ln>
        </p:spPr>
      </p:sp>
      <p:sp>
        <p:nvSpPr>
          <p:cNvPr id="133" name="Shape 131"/>
          <p:cNvSpPr/>
          <p:nvPr/>
        </p:nvSpPr>
        <p:spPr>
          <a:xfrm>
            <a:off x="10835640" y="5907024"/>
            <a:ext cx="457200" cy="0"/>
          </a:xfrm>
          <a:prstGeom prst="line">
            <a:avLst/>
          </a:prstGeom>
          <a:noFill/>
          <a:ln w="25400">
            <a:solidFill>
              <a:srgbClr val="9DB4C7"/>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FIFO BUILDING BLOCKS</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Revised Synchronous FIFO</a:t>
            </a:r>
            <a:endParaRPr lang="en-US" sz="3100" dirty="0"/>
          </a:p>
        </p:txBody>
      </p:sp>
      <p:sp>
        <p:nvSpPr>
          <p:cNvPr id="5" name="Text 3"/>
          <p:cNvSpPr/>
          <p:nvPr/>
        </p:nvSpPr>
        <p:spPr>
          <a:xfrm>
            <a:off x="566928" y="1261872"/>
            <a:ext cx="10515600" cy="36576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The MSB-wrap trick only works when DEPTH is a power of two. The revised design supports ANY depth.</a:t>
            </a:r>
            <a:endParaRPr lang="en-US" sz="1350" dirty="0"/>
          </a:p>
        </p:txBody>
      </p:sp>
      <p:sp>
        <p:nvSpPr>
          <p:cNvPr id="6" name="Shape 4"/>
          <p:cNvSpPr/>
          <p:nvPr/>
        </p:nvSpPr>
        <p:spPr>
          <a:xfrm>
            <a:off x="566928" y="1874520"/>
            <a:ext cx="5394960" cy="1371600"/>
          </a:xfrm>
          <a:prstGeom prst="roundRect">
            <a:avLst>
              <a:gd name="adj" fmla="val 6667"/>
            </a:avLst>
          </a:prstGeom>
          <a:solidFill>
            <a:srgbClr val="FCEDEC"/>
          </a:solidFill>
          <a:ln w="12700">
            <a:solidFill>
              <a:srgbClr val="F1C7C4"/>
            </a:solidFill>
            <a:prstDash val="solid"/>
          </a:ln>
          <a:effectLst>
            <a:outerShdw sx="100000" sy="100000" kx="0" ky="0" algn="bl" rotWithShape="0" blurRad="114300" dist="38100" dir="5400000">
              <a:srgbClr val="1B3A5B">
                <a:alpha val="20000"/>
              </a:srgbClr>
            </a:outerShdw>
          </a:effectLst>
        </p:spPr>
      </p:sp>
      <p:sp>
        <p:nvSpPr>
          <p:cNvPr id="7" name="Shape 5"/>
          <p:cNvSpPr/>
          <p:nvPr/>
        </p:nvSpPr>
        <p:spPr>
          <a:xfrm>
            <a:off x="822960" y="2075688"/>
            <a:ext cx="2011680" cy="347472"/>
          </a:xfrm>
          <a:prstGeom prst="roundRect">
            <a:avLst>
              <a:gd name="adj" fmla="val 50000"/>
            </a:avLst>
          </a:prstGeom>
          <a:solidFill>
            <a:srgbClr val="E5635E"/>
          </a:solidFill>
          <a:ln/>
        </p:spPr>
      </p:sp>
      <p:sp>
        <p:nvSpPr>
          <p:cNvPr id="8" name="Text 6"/>
          <p:cNvSpPr/>
          <p:nvPr/>
        </p:nvSpPr>
        <p:spPr>
          <a:xfrm>
            <a:off x="822960" y="2075688"/>
            <a:ext cx="20116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Original</a:t>
            </a:r>
            <a:endParaRPr lang="en-US" sz="1150" dirty="0"/>
          </a:p>
        </p:txBody>
      </p:sp>
      <p:sp>
        <p:nvSpPr>
          <p:cNvPr id="9" name="Text 7"/>
          <p:cNvSpPr/>
          <p:nvPr/>
        </p:nvSpPr>
        <p:spPr>
          <a:xfrm>
            <a:off x="868680" y="2478024"/>
            <a:ext cx="4846320" cy="685800"/>
          </a:xfrm>
          <a:prstGeom prst="rect">
            <a:avLst/>
          </a:prstGeom>
          <a:noFill/>
          <a:ln/>
        </p:spPr>
        <p:txBody>
          <a:bodyPr wrap="square" lIns="0" tIns="0" rIns="0" bIns="0" rtlCol="0" anchor="ctr"/>
          <a:lstStyle/>
          <a:p>
            <a:pPr indent="0" marL="0">
              <a:buNone/>
            </a:pPr>
            <a:r>
              <a:rPr lang="en-US" sz="1250" b="1" dirty="0">
                <a:solidFill>
                  <a:srgbClr val="8A3B37"/>
                </a:solidFill>
                <a:latin typeface="Calibri" pitchFamily="34" charset="0"/>
                <a:ea typeface="Calibri" pitchFamily="34" charset="-122"/>
                <a:cs typeface="Calibri" pitchFamily="34" charset="-120"/>
              </a:rPr>
              <a:t>Depth locked to 2^k.  </a:t>
            </a:r>
            <a:pPr indent="0" marL="0">
              <a:buNone/>
            </a:pPr>
            <a:r>
              <a:rPr lang="en-US" sz="1250" dirty="0">
                <a:solidFill>
                  <a:srgbClr val="8A3B37"/>
                </a:solidFill>
                <a:latin typeface="Calibri" pitchFamily="34" charset="0"/>
                <a:ea typeface="Calibri" pitchFamily="34" charset="-122"/>
                <a:cs typeface="Calibri" pitchFamily="34" charset="-120"/>
              </a:rPr>
              <a:t>Full/empty rely on natural binary overflow of the pointer's MSB — breaks for depth 12, 100, ...</a:t>
            </a:r>
            <a:endParaRPr lang="en-US" sz="1250" dirty="0"/>
          </a:p>
        </p:txBody>
      </p:sp>
      <p:sp>
        <p:nvSpPr>
          <p:cNvPr id="10" name="Shape 8"/>
          <p:cNvSpPr/>
          <p:nvPr/>
        </p:nvSpPr>
        <p:spPr>
          <a:xfrm>
            <a:off x="6217920" y="1874520"/>
            <a:ext cx="5394960" cy="1371600"/>
          </a:xfrm>
          <a:prstGeom prst="roundRect">
            <a:avLst>
              <a:gd name="adj" fmla="val 6667"/>
            </a:avLst>
          </a:prstGeom>
          <a:solidFill>
            <a:srgbClr val="E4F4F2"/>
          </a:solidFill>
          <a:ln w="12700">
            <a:solidFill>
              <a:srgbClr val="B7E1DC"/>
            </a:solidFill>
            <a:prstDash val="solid"/>
          </a:ln>
          <a:effectLst>
            <a:outerShdw sx="100000" sy="100000" kx="0" ky="0" algn="bl" rotWithShape="0" blurRad="114300" dist="38100" dir="5400000">
              <a:srgbClr val="1B3A5B">
                <a:alpha val="20000"/>
              </a:srgbClr>
            </a:outerShdw>
          </a:effectLst>
        </p:spPr>
      </p:sp>
      <p:sp>
        <p:nvSpPr>
          <p:cNvPr id="11" name="Shape 9"/>
          <p:cNvSpPr/>
          <p:nvPr/>
        </p:nvSpPr>
        <p:spPr>
          <a:xfrm>
            <a:off x="6473952" y="2075688"/>
            <a:ext cx="2011680" cy="347472"/>
          </a:xfrm>
          <a:prstGeom prst="roundRect">
            <a:avLst>
              <a:gd name="adj" fmla="val 50000"/>
            </a:avLst>
          </a:prstGeom>
          <a:solidFill>
            <a:srgbClr val="14A8A0"/>
          </a:solidFill>
          <a:ln/>
        </p:spPr>
      </p:sp>
      <p:sp>
        <p:nvSpPr>
          <p:cNvPr id="12" name="Text 10"/>
          <p:cNvSpPr/>
          <p:nvPr/>
        </p:nvSpPr>
        <p:spPr>
          <a:xfrm>
            <a:off x="6473952" y="2075688"/>
            <a:ext cx="20116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Revised</a:t>
            </a:r>
            <a:endParaRPr lang="en-US" sz="1150" dirty="0"/>
          </a:p>
        </p:txBody>
      </p:sp>
      <p:sp>
        <p:nvSpPr>
          <p:cNvPr id="13" name="Text 11"/>
          <p:cNvSpPr/>
          <p:nvPr/>
        </p:nvSpPr>
        <p:spPr>
          <a:xfrm>
            <a:off x="6519672" y="2478024"/>
            <a:ext cx="4846320" cy="685800"/>
          </a:xfrm>
          <a:prstGeom prst="rect">
            <a:avLst/>
          </a:prstGeom>
          <a:noFill/>
          <a:ln/>
        </p:spPr>
        <p:txBody>
          <a:bodyPr wrap="square" lIns="0" tIns="0" rIns="0" bIns="0" rtlCol="0" anchor="ctr"/>
          <a:lstStyle/>
          <a:p>
            <a:pPr indent="0" marL="0">
              <a:buNone/>
            </a:pPr>
            <a:r>
              <a:rPr lang="en-US" sz="1250" b="1" dirty="0">
                <a:solidFill>
                  <a:srgbClr val="0C5F5B"/>
                </a:solidFill>
                <a:latin typeface="Calibri" pitchFamily="34" charset="0"/>
                <a:ea typeface="Calibri" pitchFamily="34" charset="-122"/>
                <a:cs typeface="Calibri" pitchFamily="34" charset="-120"/>
              </a:rPr>
              <a:t>Arbitrary depth.  </a:t>
            </a:r>
            <a:pPr indent="0" marL="0">
              <a:buNone/>
            </a:pPr>
            <a:r>
              <a:rPr lang="en-US" sz="1250" dirty="0">
                <a:solidFill>
                  <a:srgbClr val="0C5F5B"/>
                </a:solidFill>
                <a:latin typeface="Calibri" pitchFamily="34" charset="0"/>
                <a:ea typeface="Calibri" pitchFamily="34" charset="-122"/>
                <a:cs typeface="Calibri" pitchFamily="34" charset="-120"/>
              </a:rPr>
              <a:t>An explicit count register + modulo-DEPTH pointer rollover replaces the MSB trick.</a:t>
            </a:r>
            <a:endParaRPr lang="en-US" sz="1250" dirty="0"/>
          </a:p>
        </p:txBody>
      </p:sp>
      <p:sp>
        <p:nvSpPr>
          <p:cNvPr id="14" name="Shape 12"/>
          <p:cNvSpPr/>
          <p:nvPr/>
        </p:nvSpPr>
        <p:spPr>
          <a:xfrm>
            <a:off x="566928" y="3520440"/>
            <a:ext cx="5394960" cy="658368"/>
          </a:xfrm>
          <a:prstGeom prst="roundRect">
            <a:avLst>
              <a:gd name="adj" fmla="val 11111"/>
            </a:avLst>
          </a:prstGeom>
          <a:solidFill>
            <a:srgbClr val="F1F5F9"/>
          </a:solidFill>
          <a:ln w="12700">
            <a:solidFill>
              <a:srgbClr val="D3DEE8"/>
            </a:solidFill>
            <a:prstDash val="solid"/>
          </a:ln>
        </p:spPr>
      </p:sp>
      <p:sp>
        <p:nvSpPr>
          <p:cNvPr id="15" name="Shape 13"/>
          <p:cNvSpPr/>
          <p:nvPr/>
        </p:nvSpPr>
        <p:spPr>
          <a:xfrm>
            <a:off x="768096" y="3666744"/>
            <a:ext cx="365760" cy="365760"/>
          </a:xfrm>
          <a:prstGeom prst="ellipse">
            <a:avLst/>
          </a:prstGeom>
          <a:solidFill>
            <a:srgbClr val="14A8A0"/>
          </a:solidFill>
          <a:ln/>
        </p:spPr>
      </p:sp>
      <p:sp>
        <p:nvSpPr>
          <p:cNvPr id="16" name="Text 14"/>
          <p:cNvSpPr/>
          <p:nvPr/>
        </p:nvSpPr>
        <p:spPr>
          <a:xfrm>
            <a:off x="768096" y="36576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7" name="Text 15"/>
          <p:cNvSpPr/>
          <p:nvPr/>
        </p:nvSpPr>
        <p:spPr>
          <a:xfrm>
            <a:off x="1280160" y="3593592"/>
            <a:ext cx="4572000" cy="256032"/>
          </a:xfrm>
          <a:prstGeom prst="rect">
            <a:avLst/>
          </a:prstGeom>
          <a:noFill/>
          <a:ln/>
        </p:spPr>
        <p:txBody>
          <a:bodyPr wrap="square" lIns="0" tIns="0" rIns="0" bIns="0" rtlCol="0" anchor="ctr"/>
          <a:lstStyle/>
          <a:p>
            <a:pPr indent="0" marL="0">
              <a:buNone/>
            </a:pPr>
            <a:r>
              <a:rPr lang="en-US" sz="1350" b="1" dirty="0">
                <a:solidFill>
                  <a:srgbClr val="16324F"/>
                </a:solidFill>
                <a:latin typeface="Cambria" pitchFamily="34" charset="0"/>
                <a:ea typeface="Cambria" pitchFamily="34" charset="-122"/>
                <a:cs typeface="Cambria" pitchFamily="34" charset="-120"/>
              </a:rPr>
              <a:t>Explicit count</a:t>
            </a:r>
            <a:endParaRPr lang="en-US" sz="1350" dirty="0"/>
          </a:p>
        </p:txBody>
      </p:sp>
      <p:sp>
        <p:nvSpPr>
          <p:cNvPr id="18" name="Text 16"/>
          <p:cNvSpPr/>
          <p:nvPr/>
        </p:nvSpPr>
        <p:spPr>
          <a:xfrm>
            <a:off x="1280160" y="3849624"/>
            <a:ext cx="4572000" cy="27432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full = (count==DEPTH), empty = (count==0) — exact, any depth</a:t>
            </a:r>
            <a:endParaRPr lang="en-US" sz="1100" dirty="0"/>
          </a:p>
        </p:txBody>
      </p:sp>
      <p:sp>
        <p:nvSpPr>
          <p:cNvPr id="19" name="Shape 17"/>
          <p:cNvSpPr/>
          <p:nvPr/>
        </p:nvSpPr>
        <p:spPr>
          <a:xfrm>
            <a:off x="566928" y="4270248"/>
            <a:ext cx="5394960" cy="658368"/>
          </a:xfrm>
          <a:prstGeom prst="roundRect">
            <a:avLst>
              <a:gd name="adj" fmla="val 11111"/>
            </a:avLst>
          </a:prstGeom>
          <a:solidFill>
            <a:srgbClr val="F1F5F9"/>
          </a:solidFill>
          <a:ln w="12700">
            <a:solidFill>
              <a:srgbClr val="D3DEE8"/>
            </a:solidFill>
            <a:prstDash val="solid"/>
          </a:ln>
        </p:spPr>
      </p:sp>
      <p:sp>
        <p:nvSpPr>
          <p:cNvPr id="20" name="Shape 18"/>
          <p:cNvSpPr/>
          <p:nvPr/>
        </p:nvSpPr>
        <p:spPr>
          <a:xfrm>
            <a:off x="768096" y="4416552"/>
            <a:ext cx="365760" cy="365760"/>
          </a:xfrm>
          <a:prstGeom prst="ellipse">
            <a:avLst/>
          </a:prstGeom>
          <a:solidFill>
            <a:srgbClr val="14A8A0"/>
          </a:solidFill>
          <a:ln/>
        </p:spPr>
      </p:sp>
      <p:sp>
        <p:nvSpPr>
          <p:cNvPr id="21" name="Text 19"/>
          <p:cNvSpPr/>
          <p:nvPr/>
        </p:nvSpPr>
        <p:spPr>
          <a:xfrm>
            <a:off x="768096" y="44074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2" name="Text 20"/>
          <p:cNvSpPr/>
          <p:nvPr/>
        </p:nvSpPr>
        <p:spPr>
          <a:xfrm>
            <a:off x="1280160" y="4343400"/>
            <a:ext cx="4572000" cy="256032"/>
          </a:xfrm>
          <a:prstGeom prst="rect">
            <a:avLst/>
          </a:prstGeom>
          <a:noFill/>
          <a:ln/>
        </p:spPr>
        <p:txBody>
          <a:bodyPr wrap="square" lIns="0" tIns="0" rIns="0" bIns="0" rtlCol="0" anchor="ctr"/>
          <a:lstStyle/>
          <a:p>
            <a:pPr indent="0" marL="0">
              <a:buNone/>
            </a:pPr>
            <a:r>
              <a:rPr lang="en-US" sz="1350" b="1" dirty="0">
                <a:solidFill>
                  <a:srgbClr val="16324F"/>
                </a:solidFill>
                <a:latin typeface="Cambria" pitchFamily="34" charset="0"/>
                <a:ea typeface="Cambria" pitchFamily="34" charset="-122"/>
                <a:cs typeface="Cambria" pitchFamily="34" charset="-120"/>
              </a:rPr>
              <a:t>Modulo rollover</a:t>
            </a:r>
            <a:endParaRPr lang="en-US" sz="1350" dirty="0"/>
          </a:p>
        </p:txBody>
      </p:sp>
      <p:sp>
        <p:nvSpPr>
          <p:cNvPr id="23" name="Text 21"/>
          <p:cNvSpPr/>
          <p:nvPr/>
        </p:nvSpPr>
        <p:spPr>
          <a:xfrm>
            <a:off x="1280160" y="4599432"/>
            <a:ext cx="4572000" cy="27432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pointers wrap at DEPTH, not at 2^k</a:t>
            </a:r>
            <a:endParaRPr lang="en-US" sz="1100" dirty="0"/>
          </a:p>
        </p:txBody>
      </p:sp>
      <p:sp>
        <p:nvSpPr>
          <p:cNvPr id="24" name="Shape 22"/>
          <p:cNvSpPr/>
          <p:nvPr/>
        </p:nvSpPr>
        <p:spPr>
          <a:xfrm>
            <a:off x="566928" y="5020056"/>
            <a:ext cx="5394960" cy="658368"/>
          </a:xfrm>
          <a:prstGeom prst="roundRect">
            <a:avLst>
              <a:gd name="adj" fmla="val 11111"/>
            </a:avLst>
          </a:prstGeom>
          <a:solidFill>
            <a:srgbClr val="F1F5F9"/>
          </a:solidFill>
          <a:ln w="12700">
            <a:solidFill>
              <a:srgbClr val="D3DEE8"/>
            </a:solidFill>
            <a:prstDash val="solid"/>
          </a:ln>
        </p:spPr>
      </p:sp>
      <p:sp>
        <p:nvSpPr>
          <p:cNvPr id="25" name="Shape 23"/>
          <p:cNvSpPr/>
          <p:nvPr/>
        </p:nvSpPr>
        <p:spPr>
          <a:xfrm>
            <a:off x="768096" y="5166360"/>
            <a:ext cx="365760" cy="365760"/>
          </a:xfrm>
          <a:prstGeom prst="ellipse">
            <a:avLst/>
          </a:prstGeom>
          <a:solidFill>
            <a:srgbClr val="14A8A0"/>
          </a:solidFill>
          <a:ln/>
        </p:spPr>
      </p:sp>
      <p:sp>
        <p:nvSpPr>
          <p:cNvPr id="26" name="Text 24"/>
          <p:cNvSpPr/>
          <p:nvPr/>
        </p:nvSpPr>
        <p:spPr>
          <a:xfrm>
            <a:off x="768096" y="51572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7" name="Text 25"/>
          <p:cNvSpPr/>
          <p:nvPr/>
        </p:nvSpPr>
        <p:spPr>
          <a:xfrm>
            <a:off x="1280160" y="5093208"/>
            <a:ext cx="4572000" cy="256032"/>
          </a:xfrm>
          <a:prstGeom prst="rect">
            <a:avLst/>
          </a:prstGeom>
          <a:noFill/>
          <a:ln/>
        </p:spPr>
        <p:txBody>
          <a:bodyPr wrap="square" lIns="0" tIns="0" rIns="0" bIns="0" rtlCol="0" anchor="ctr"/>
          <a:lstStyle/>
          <a:p>
            <a:pPr indent="0" marL="0">
              <a:buNone/>
            </a:pPr>
            <a:r>
              <a:rPr lang="en-US" sz="1350" b="1" dirty="0">
                <a:solidFill>
                  <a:srgbClr val="16324F"/>
                </a:solidFill>
                <a:latin typeface="Cambria" pitchFamily="34" charset="0"/>
                <a:ea typeface="Cambria" pitchFamily="34" charset="-122"/>
                <a:cs typeface="Cambria" pitchFamily="34" charset="-120"/>
              </a:rPr>
              <a:t>Same interface</a:t>
            </a:r>
            <a:endParaRPr lang="en-US" sz="1350" dirty="0"/>
          </a:p>
        </p:txBody>
      </p:sp>
      <p:sp>
        <p:nvSpPr>
          <p:cNvPr id="28" name="Text 26"/>
          <p:cNvSpPr/>
          <p:nvPr/>
        </p:nvSpPr>
        <p:spPr>
          <a:xfrm>
            <a:off x="1280160" y="5349240"/>
            <a:ext cx="4572000" cy="27432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identical ports &amp; registered read — a drop-in upgrade</a:t>
            </a:r>
            <a:endParaRPr lang="en-US" sz="1100" dirty="0"/>
          </a:p>
        </p:txBody>
      </p:sp>
      <p:sp>
        <p:nvSpPr>
          <p:cNvPr id="29" name="Shape 27"/>
          <p:cNvSpPr/>
          <p:nvPr/>
        </p:nvSpPr>
        <p:spPr>
          <a:xfrm>
            <a:off x="6217920" y="3520440"/>
            <a:ext cx="5394960" cy="2606040"/>
          </a:xfrm>
          <a:prstGeom prst="roundRect">
            <a:avLst>
              <a:gd name="adj" fmla="val 2456"/>
            </a:avLst>
          </a:prstGeom>
          <a:solidFill>
            <a:srgbClr val="0E2233"/>
          </a:solidFill>
          <a:ln w="12700">
            <a:solidFill>
              <a:srgbClr val="25415A"/>
            </a:solidFill>
            <a:prstDash val="solid"/>
          </a:ln>
          <a:effectLst>
            <a:outerShdw sx="100000" sy="100000" kx="0" ky="0" algn="bl" rotWithShape="0" blurRad="114300" dist="38100" dir="5400000">
              <a:srgbClr val="1B3A5B">
                <a:alpha val="20000"/>
              </a:srgbClr>
            </a:outerShdw>
          </a:effectLst>
        </p:spPr>
      </p:sp>
      <p:sp>
        <p:nvSpPr>
          <p:cNvPr id="30" name="Text 28"/>
          <p:cNvSpPr/>
          <p:nvPr/>
        </p:nvSpPr>
        <p:spPr>
          <a:xfrm>
            <a:off x="6419088" y="3611880"/>
            <a:ext cx="5029200" cy="256032"/>
          </a:xfrm>
          <a:prstGeom prst="rect">
            <a:avLst/>
          </a:prstGeom>
          <a:noFill/>
          <a:ln/>
        </p:spPr>
        <p:txBody>
          <a:bodyPr wrap="square" lIns="0" tIns="0" rIns="0" bIns="0" rtlCol="0" anchor="ctr"/>
          <a:lstStyle/>
          <a:p>
            <a:pPr algn="l" indent="0" marL="0">
              <a:buNone/>
            </a:pPr>
            <a:r>
              <a:rPr lang="en-US" sz="1050" i="1" dirty="0">
                <a:solidFill>
                  <a:srgbClr val="18C2B8"/>
                </a:solidFill>
                <a:latin typeface="Courier New" pitchFamily="34" charset="0"/>
                <a:ea typeface="Courier New" pitchFamily="34" charset="-122"/>
                <a:cs typeface="Courier New" pitchFamily="34" charset="-120"/>
              </a:rPr>
              <a:t>revised_sync_fifo.v</a:t>
            </a:r>
            <a:endParaRPr lang="en-US" sz="1050" dirty="0"/>
          </a:p>
        </p:txBody>
      </p:sp>
      <p:sp>
        <p:nvSpPr>
          <p:cNvPr id="31" name="Text 29"/>
          <p:cNvSpPr/>
          <p:nvPr/>
        </p:nvSpPr>
        <p:spPr>
          <a:xfrm>
            <a:off x="6419088" y="3922776"/>
            <a:ext cx="5029200" cy="2093976"/>
          </a:xfrm>
          <a:prstGeom prst="rect">
            <a:avLst/>
          </a:prstGeom>
          <a:noFill/>
          <a:ln/>
        </p:spPr>
        <p:txBody>
          <a:bodyPr wrap="square" lIns="0" tIns="0" rIns="0" bIns="0" rtlCol="0" anchor="t"/>
          <a:lstStyle/>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localparam ADDR_WIDTH = $clog2(DEPTH);</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reg [ADDR_WIDTH:0] count;   // occupancy</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assign full  = (count == DEPTH);</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assign empty = (count == 0);</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a:t>
            </a:r>
            <a:endParaRPr lang="en-US" sz="1100" dirty="0"/>
          </a:p>
          <a:p>
            <a:pPr algn="l" indent="0" marL="0">
              <a:lnSpc>
                <a:spcPct val="102000"/>
              </a:lnSpc>
              <a:buNone/>
            </a:pPr>
            <a:r>
              <a:rPr lang="en-US" sz="1100" dirty="0">
                <a:solidFill>
                  <a:srgbClr val="6FA8A0"/>
                </a:solidFill>
                <a:latin typeface="Courier New" pitchFamily="34" charset="0"/>
                <a:ea typeface="Courier New" pitchFamily="34" charset="-122"/>
                <a:cs typeface="Courier New" pitchFamily="34" charset="-120"/>
              </a:rPr>
              <a:t>// modulo-DEPTH wrap (not 2^k overflow)</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if (wr_ptr == DEPTH-1) wr_ptr &lt;= 0;</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else                   wr_ptr &lt;= wr_ptr + 1;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FIFO BUILDING BLOCKS</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Revised Asynchronous FIFO</a:t>
            </a:r>
            <a:endParaRPr lang="en-US" sz="3100" dirty="0"/>
          </a:p>
        </p:txBody>
      </p:sp>
      <p:sp>
        <p:nvSpPr>
          <p:cNvPr id="5" name="Text 3"/>
          <p:cNvSpPr/>
          <p:nvPr/>
        </p:nvSpPr>
        <p:spPr>
          <a:xfrm>
            <a:off x="566928" y="1261872"/>
            <a:ext cx="10515600" cy="36576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Arbitrary-depth CDC FIFO — the hardest case: exact flags AND safe clock-domain crossing together.</a:t>
            </a:r>
            <a:endParaRPr lang="en-US" sz="1350" dirty="0"/>
          </a:p>
        </p:txBody>
      </p:sp>
      <p:sp>
        <p:nvSpPr>
          <p:cNvPr id="6" name="Shape 4"/>
          <p:cNvSpPr/>
          <p:nvPr/>
        </p:nvSpPr>
        <p:spPr>
          <a:xfrm>
            <a:off x="566928" y="1965960"/>
            <a:ext cx="3566160" cy="2788920"/>
          </a:xfrm>
          <a:prstGeom prst="roundRect">
            <a:avLst>
              <a:gd name="adj" fmla="val 3934"/>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7" name="Shape 5"/>
          <p:cNvSpPr/>
          <p:nvPr/>
        </p:nvSpPr>
        <p:spPr>
          <a:xfrm>
            <a:off x="886968" y="2286000"/>
            <a:ext cx="640080" cy="640080"/>
          </a:xfrm>
          <a:prstGeom prst="ellipse">
            <a:avLst/>
          </a:prstGeom>
          <a:solidFill>
            <a:srgbClr val="14A8A0"/>
          </a:solidFill>
          <a:ln/>
        </p:spPr>
      </p:sp>
      <p:sp>
        <p:nvSpPr>
          <p:cNvPr id="8" name="Text 6"/>
          <p:cNvSpPr/>
          <p:nvPr/>
        </p:nvSpPr>
        <p:spPr>
          <a:xfrm>
            <a:off x="886968" y="2286000"/>
            <a:ext cx="640080" cy="640080"/>
          </a:xfrm>
          <a:prstGeom prst="rect">
            <a:avLst/>
          </a:prstGeom>
          <a:noFill/>
          <a:ln/>
        </p:spPr>
        <p:txBody>
          <a:bodyPr wrap="square" lIns="0" tIns="0" rIns="0" bIns="0" rtlCol="0" anchor="ctr"/>
          <a:lstStyle/>
          <a:p>
            <a:pPr algn="ctr" indent="0" marL="0">
              <a:buNone/>
            </a:pPr>
            <a:r>
              <a:rPr lang="en-US" sz="2200" dirty="0">
                <a:solidFill>
                  <a:srgbClr val="FFFFFF"/>
                </a:solidFill>
                <a:latin typeface="Segoe UI Symbol" pitchFamily="34" charset="0"/>
                <a:ea typeface="Segoe UI Symbol" pitchFamily="34" charset="-122"/>
                <a:cs typeface="Segoe UI Symbol" pitchFamily="34" charset="-120"/>
              </a:rPr>
              <a:t>✓</a:t>
            </a:r>
            <a:endParaRPr lang="en-US" sz="2200" dirty="0"/>
          </a:p>
        </p:txBody>
      </p:sp>
      <p:sp>
        <p:nvSpPr>
          <p:cNvPr id="9" name="Text 7"/>
          <p:cNvSpPr/>
          <p:nvPr/>
        </p:nvSpPr>
        <p:spPr>
          <a:xfrm>
            <a:off x="841248" y="3063240"/>
            <a:ext cx="3017520" cy="548640"/>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Accurate full flag</a:t>
            </a:r>
            <a:endParaRPr lang="en-US" sz="1600" dirty="0"/>
          </a:p>
        </p:txBody>
      </p:sp>
      <p:sp>
        <p:nvSpPr>
          <p:cNvPr id="10" name="Text 8"/>
          <p:cNvSpPr/>
          <p:nvPr/>
        </p:nvSpPr>
        <p:spPr>
          <a:xfrm>
            <a:off x="841248" y="3657600"/>
            <a:ext cx="3017520" cy="100584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Depth-aware comparison instead of the two-MSB Gray test, so non-power-of-two depths report full correctly.</a:t>
            </a:r>
            <a:endParaRPr lang="en-US" sz="1250" dirty="0"/>
          </a:p>
        </p:txBody>
      </p:sp>
      <p:sp>
        <p:nvSpPr>
          <p:cNvPr id="11" name="Shape 9"/>
          <p:cNvSpPr/>
          <p:nvPr/>
        </p:nvSpPr>
        <p:spPr>
          <a:xfrm>
            <a:off x="4389120" y="1965960"/>
            <a:ext cx="3566160" cy="2788920"/>
          </a:xfrm>
          <a:prstGeom prst="roundRect">
            <a:avLst>
              <a:gd name="adj" fmla="val 3934"/>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12" name="Shape 10"/>
          <p:cNvSpPr/>
          <p:nvPr/>
        </p:nvSpPr>
        <p:spPr>
          <a:xfrm>
            <a:off x="4709160" y="2286000"/>
            <a:ext cx="640080" cy="640080"/>
          </a:xfrm>
          <a:prstGeom prst="ellipse">
            <a:avLst/>
          </a:prstGeom>
          <a:solidFill>
            <a:srgbClr val="F4A825"/>
          </a:solidFill>
          <a:ln/>
        </p:spPr>
      </p:sp>
      <p:sp>
        <p:nvSpPr>
          <p:cNvPr id="13" name="Text 11"/>
          <p:cNvSpPr/>
          <p:nvPr/>
        </p:nvSpPr>
        <p:spPr>
          <a:xfrm>
            <a:off x="4709160" y="2286000"/>
            <a:ext cx="640080" cy="640080"/>
          </a:xfrm>
          <a:prstGeom prst="rect">
            <a:avLst/>
          </a:prstGeom>
          <a:noFill/>
          <a:ln/>
        </p:spPr>
        <p:txBody>
          <a:bodyPr wrap="square" lIns="0" tIns="0" rIns="0" bIns="0" rtlCol="0" anchor="ctr"/>
          <a:lstStyle/>
          <a:p>
            <a:pPr algn="ctr" indent="0" marL="0">
              <a:buNone/>
            </a:pPr>
            <a:r>
              <a:rPr lang="en-US" sz="2200" dirty="0">
                <a:solidFill>
                  <a:srgbClr val="FFFFFF"/>
                </a:solidFill>
                <a:latin typeface="Segoe UI Symbol" pitchFamily="34" charset="0"/>
                <a:ea typeface="Segoe UI Symbol" pitchFamily="34" charset="-122"/>
                <a:cs typeface="Segoe UI Symbol" pitchFamily="34" charset="-120"/>
              </a:rPr>
              <a:t>⚙</a:t>
            </a:r>
            <a:endParaRPr lang="en-US" sz="2200" dirty="0"/>
          </a:p>
        </p:txBody>
      </p:sp>
      <p:sp>
        <p:nvSpPr>
          <p:cNvPr id="14" name="Text 12"/>
          <p:cNvSpPr/>
          <p:nvPr/>
        </p:nvSpPr>
        <p:spPr>
          <a:xfrm>
            <a:off x="4663440" y="3063240"/>
            <a:ext cx="3017520" cy="548640"/>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Cleaner pointer logic</a:t>
            </a:r>
            <a:endParaRPr lang="en-US" sz="1600" dirty="0"/>
          </a:p>
        </p:txBody>
      </p:sp>
      <p:sp>
        <p:nvSpPr>
          <p:cNvPr id="15" name="Text 13"/>
          <p:cNvSpPr/>
          <p:nvPr/>
        </p:nvSpPr>
        <p:spPr>
          <a:xfrm>
            <a:off x="4663440" y="3657600"/>
            <a:ext cx="3017520" cy="100584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Binary counters bounded by DEPTH, converted to Gray only for crossing — arithmetic stays simple.</a:t>
            </a:r>
            <a:endParaRPr lang="en-US" sz="1250" dirty="0"/>
          </a:p>
        </p:txBody>
      </p:sp>
      <p:sp>
        <p:nvSpPr>
          <p:cNvPr id="16" name="Shape 14"/>
          <p:cNvSpPr/>
          <p:nvPr/>
        </p:nvSpPr>
        <p:spPr>
          <a:xfrm>
            <a:off x="8211312" y="1965960"/>
            <a:ext cx="3566160" cy="2788920"/>
          </a:xfrm>
          <a:prstGeom prst="roundRect">
            <a:avLst>
              <a:gd name="adj" fmla="val 3934"/>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17" name="Shape 15"/>
          <p:cNvSpPr/>
          <p:nvPr/>
        </p:nvSpPr>
        <p:spPr>
          <a:xfrm>
            <a:off x="8531352" y="2286000"/>
            <a:ext cx="640080" cy="640080"/>
          </a:xfrm>
          <a:prstGeom prst="ellipse">
            <a:avLst/>
          </a:prstGeom>
          <a:solidFill>
            <a:srgbClr val="1B3A5B"/>
          </a:solidFill>
          <a:ln/>
        </p:spPr>
      </p:sp>
      <p:sp>
        <p:nvSpPr>
          <p:cNvPr id="18" name="Text 16"/>
          <p:cNvSpPr/>
          <p:nvPr/>
        </p:nvSpPr>
        <p:spPr>
          <a:xfrm>
            <a:off x="8531352" y="2286000"/>
            <a:ext cx="640080" cy="640080"/>
          </a:xfrm>
          <a:prstGeom prst="rect">
            <a:avLst/>
          </a:prstGeom>
          <a:noFill/>
          <a:ln/>
        </p:spPr>
        <p:txBody>
          <a:bodyPr wrap="square" lIns="0" tIns="0" rIns="0" bIns="0" rtlCol="0" anchor="ctr"/>
          <a:lstStyle/>
          <a:p>
            <a:pPr algn="ctr" indent="0" marL="0">
              <a:buNone/>
            </a:pPr>
            <a:r>
              <a:rPr lang="en-US" sz="2200" dirty="0">
                <a:solidFill>
                  <a:srgbClr val="FFFFFF"/>
                </a:solidFill>
                <a:latin typeface="Segoe UI Symbol" pitchFamily="34" charset="0"/>
                <a:ea typeface="Segoe UI Symbol" pitchFamily="34" charset="-122"/>
                <a:cs typeface="Segoe UI Symbol" pitchFamily="34" charset="-120"/>
              </a:rPr>
              <a:t>↻</a:t>
            </a:r>
            <a:endParaRPr lang="en-US" sz="2200" dirty="0"/>
          </a:p>
        </p:txBody>
      </p:sp>
      <p:sp>
        <p:nvSpPr>
          <p:cNvPr id="19" name="Text 17"/>
          <p:cNvSpPr/>
          <p:nvPr/>
        </p:nvSpPr>
        <p:spPr>
          <a:xfrm>
            <a:off x="8485632" y="3063240"/>
            <a:ext cx="3017520" cy="548640"/>
          </a:xfrm>
          <a:prstGeom prst="rect">
            <a:avLst/>
          </a:prstGeom>
          <a:noFill/>
          <a:ln/>
        </p:spPr>
        <p:txBody>
          <a:bodyPr wrap="square" lIns="0" tIns="0" rIns="0" bIns="0" rtlCol="0" anchor="ctr"/>
          <a:lstStyle/>
          <a:p>
            <a:pPr indent="0" marL="0">
              <a:buNone/>
            </a:pPr>
            <a:r>
              <a:rPr lang="en-US" sz="1600" b="1" dirty="0">
                <a:solidFill>
                  <a:srgbClr val="16324F"/>
                </a:solidFill>
                <a:latin typeface="Cambria" pitchFamily="34" charset="0"/>
                <a:ea typeface="Cambria" pitchFamily="34" charset="-122"/>
                <a:cs typeface="Cambria" pitchFamily="34" charset="-120"/>
              </a:rPr>
              <a:t>Robust synchronization</a:t>
            </a:r>
            <a:endParaRPr lang="en-US" sz="1600" dirty="0"/>
          </a:p>
        </p:txBody>
      </p:sp>
      <p:sp>
        <p:nvSpPr>
          <p:cNvPr id="20" name="Text 18"/>
          <p:cNvSpPr/>
          <p:nvPr/>
        </p:nvSpPr>
        <p:spPr>
          <a:xfrm>
            <a:off x="8485632" y="3657600"/>
            <a:ext cx="3017520" cy="100584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Two-flop Gray synchronizers retained on both sides; metastability protection is never sacrificed for flexibility.</a:t>
            </a:r>
            <a:endParaRPr lang="en-US" sz="1250" dirty="0"/>
          </a:p>
        </p:txBody>
      </p:sp>
      <p:sp>
        <p:nvSpPr>
          <p:cNvPr id="21" name="Shape 19"/>
          <p:cNvSpPr/>
          <p:nvPr/>
        </p:nvSpPr>
        <p:spPr>
          <a:xfrm>
            <a:off x="566928" y="5029200"/>
            <a:ext cx="11064240" cy="1051560"/>
          </a:xfrm>
          <a:prstGeom prst="roundRect">
            <a:avLst>
              <a:gd name="adj" fmla="val 8696"/>
            </a:avLst>
          </a:prstGeom>
          <a:solidFill>
            <a:srgbClr val="0D1B2A"/>
          </a:solidFill>
          <a:ln/>
          <a:effectLst>
            <a:outerShdw sx="100000" sy="100000" kx="0" ky="0" algn="bl" rotWithShape="0" blurRad="114300" dist="38100" dir="5400000">
              <a:srgbClr val="1B3A5B">
                <a:alpha val="20000"/>
              </a:srgbClr>
            </a:outerShdw>
          </a:effectLst>
        </p:spPr>
      </p:sp>
      <p:sp>
        <p:nvSpPr>
          <p:cNvPr id="22" name="Text 20"/>
          <p:cNvSpPr/>
          <p:nvPr/>
        </p:nvSpPr>
        <p:spPr>
          <a:xfrm>
            <a:off x="868680" y="5193792"/>
            <a:ext cx="2926080" cy="365760"/>
          </a:xfrm>
          <a:prstGeom prst="rect">
            <a:avLst/>
          </a:prstGeom>
          <a:noFill/>
          <a:ln/>
        </p:spPr>
        <p:txBody>
          <a:bodyPr wrap="square" lIns="0" tIns="0" rIns="0" bIns="0" rtlCol="0" anchor="ctr"/>
          <a:lstStyle/>
          <a:p>
            <a:pPr indent="0" marL="0">
              <a:buNone/>
            </a:pPr>
            <a:r>
              <a:rPr lang="en-US" sz="1400" b="1" dirty="0">
                <a:solidFill>
                  <a:srgbClr val="F4A825"/>
                </a:solidFill>
                <a:latin typeface="Cambria" pitchFamily="34" charset="0"/>
                <a:ea typeface="Cambria" pitchFamily="34" charset="-122"/>
                <a:cs typeface="Cambria" pitchFamily="34" charset="-120"/>
              </a:rPr>
              <a:t>⚠  Same module names</a:t>
            </a:r>
            <a:endParaRPr lang="en-US" sz="1400" dirty="0"/>
          </a:p>
        </p:txBody>
      </p:sp>
      <p:sp>
        <p:nvSpPr>
          <p:cNvPr id="23" name="Text 21"/>
          <p:cNvSpPr/>
          <p:nvPr/>
        </p:nvSpPr>
        <p:spPr>
          <a:xfrm>
            <a:off x="3749040" y="5138928"/>
            <a:ext cx="7680960" cy="868680"/>
          </a:xfrm>
          <a:prstGeom prst="rect">
            <a:avLst/>
          </a:prstGeom>
          <a:noFill/>
          <a:ln/>
        </p:spPr>
        <p:txBody>
          <a:bodyPr wrap="square" lIns="0" tIns="0" rIns="0" bIns="0" rtlCol="0" anchor="ctr"/>
          <a:lstStyle/>
          <a:p>
            <a:pPr indent="0" marL="0">
              <a:buNone/>
            </a:pPr>
            <a:r>
              <a:rPr lang="en-US" sz="1250" dirty="0">
                <a:solidFill>
                  <a:srgbClr val="C7D6E4"/>
                </a:solidFill>
                <a:latin typeface="Calibri" pitchFamily="34" charset="0"/>
                <a:ea typeface="Calibri" pitchFamily="34" charset="-122"/>
                <a:cs typeface="Calibri" pitchFamily="34" charset="-120"/>
              </a:rPr>
              <a:t>The revised modules reuse the names sync_fifo / async_fifo / fifomem, so never compile an original and its revised twin into one simulation. The Makefile builds each testbench against exactly the files it needs.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FIFO BUILDING BLOCKS</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FIFO Comparison</a:t>
            </a:r>
            <a:endParaRPr lang="en-US" sz="3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64240" cy="914400"/>
        </p:xfrm>
        <a:graphic>
          <a:graphicData uri="http://schemas.openxmlformats.org/drawingml/2006/table">
            <a:tbl>
              <a:tblPr/>
              <a:tblGrid>
                <a:gridCol w="2377440"/>
                <a:gridCol w="2171700"/>
                <a:gridCol w="2171700"/>
                <a:gridCol w="2171700"/>
                <a:gridCol w="2171700"/>
              </a:tblGrid>
              <a:tr h="502920">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Feature</a:t>
                      </a:r>
                      <a:endParaRPr lang="en-US" sz="1300" dirty="0">
                        <a:latin typeface="Cambria" charset="0"/>
                        <a:ea typeface="Cambria" charset="0"/>
                        <a:cs typeface="Cambria"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18C2B8"/>
                          </a:solidFill>
                          <a:latin typeface="Cambria" pitchFamily="34" charset="0"/>
                          <a:ea typeface="Cambria" pitchFamily="34" charset="-122"/>
                          <a:cs typeface="Cambria" pitchFamily="34" charset="-120"/>
                        </a:rPr>
                        <a:t>Sync FIFO</a:t>
                      </a:r>
                      <a:endParaRPr lang="en-US" sz="1300" dirty="0">
                        <a:latin typeface="Cambria" charset="0"/>
                        <a:ea typeface="Cambria" charset="0"/>
                        <a:cs typeface="Cambria"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18C2B8"/>
                          </a:solidFill>
                          <a:latin typeface="Cambria" pitchFamily="34" charset="0"/>
                          <a:ea typeface="Cambria" pitchFamily="34" charset="-122"/>
                          <a:cs typeface="Cambria" pitchFamily="34" charset="-120"/>
                        </a:rPr>
                        <a:t>Async FIFO</a:t>
                      </a:r>
                      <a:endParaRPr lang="en-US" sz="1300" dirty="0">
                        <a:latin typeface="Cambria" charset="0"/>
                        <a:ea typeface="Cambria" charset="0"/>
                        <a:cs typeface="Cambria"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18C2B8"/>
                          </a:solidFill>
                          <a:latin typeface="Cambria" pitchFamily="34" charset="0"/>
                          <a:ea typeface="Cambria" pitchFamily="34" charset="-122"/>
                          <a:cs typeface="Cambria" pitchFamily="34" charset="-120"/>
                        </a:rPr>
                        <a:t>Revised Sync</a:t>
                      </a:r>
                      <a:endParaRPr lang="en-US" sz="1300" dirty="0">
                        <a:latin typeface="Cambria" charset="0"/>
                        <a:ea typeface="Cambria" charset="0"/>
                        <a:cs typeface="Cambria"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0D1B2A"/>
                    </a:solidFill>
                  </a:tcPr>
                </a:tc>
                <a:tc>
                  <a:txBody>
                    <a:bodyPr/>
                    <a:lstStyle/>
                    <a:p>
                      <a:pPr algn="ctr" indent="0" marL="0">
                        <a:buNone/>
                      </a:pPr>
                      <a:r>
                        <a:rPr lang="en-US" sz="1300" b="1" dirty="0">
                          <a:solidFill>
                            <a:srgbClr val="18C2B8"/>
                          </a:solidFill>
                          <a:latin typeface="Cambria" pitchFamily="34" charset="0"/>
                          <a:ea typeface="Cambria" pitchFamily="34" charset="-122"/>
                          <a:cs typeface="Cambria" pitchFamily="34" charset="-120"/>
                        </a:rPr>
                        <a:t>Revised Async</a:t>
                      </a:r>
                      <a:endParaRPr lang="en-US" sz="1300" dirty="0">
                        <a:latin typeface="Cambria" charset="0"/>
                        <a:ea typeface="Cambria" charset="0"/>
                        <a:cs typeface="Cambria"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0D1B2A"/>
                    </a:solidFill>
                  </a:tcPr>
                </a:tc>
              </a:tr>
              <a:tr h="502920">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Clock domains</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Single</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Dual</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Single</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Dual</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Complexity</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0C7A76"/>
                          </a:solidFill>
                          <a:latin typeface="Calibri" pitchFamily="34" charset="0"/>
                          <a:ea typeface="Calibri" pitchFamily="34" charset="-122"/>
                          <a:cs typeface="Calibri" pitchFamily="34" charset="-120"/>
                        </a:rPr>
                        <a:t>Low</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E5635E"/>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E5635E"/>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r>
              <a:tr h="502920">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Synchronizer</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C7A76"/>
                          </a:solidFill>
                          <a:latin typeface="Calibri" pitchFamily="34" charset="0"/>
                          <a:ea typeface="Calibri" pitchFamily="34" charset="-122"/>
                          <a:cs typeface="Calibri" pitchFamily="34" charset="-120"/>
                        </a:rPr>
                        <a:t>Yes (2-FF)</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C7A76"/>
                          </a:solidFill>
                          <a:latin typeface="Calibri" pitchFamily="34" charset="0"/>
                          <a:ea typeface="Calibri" pitchFamily="34" charset="-122"/>
                          <a:cs typeface="Calibri" pitchFamily="34" charset="-120"/>
                        </a:rPr>
                        <a:t>Yes (2-FF)</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Depth support</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Power of 2</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Power of 2</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0C7A76"/>
                          </a:solidFill>
                          <a:latin typeface="Calibri" pitchFamily="34" charset="0"/>
                          <a:ea typeface="Calibri" pitchFamily="34" charset="-122"/>
                          <a:cs typeface="Calibri" pitchFamily="34" charset="-120"/>
                        </a:rPr>
                        <a:t>Arbitrary</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b="1" dirty="0">
                          <a:solidFill>
                            <a:srgbClr val="0C7A76"/>
                          </a:solidFill>
                          <a:latin typeface="Calibri" pitchFamily="34" charset="0"/>
                          <a:ea typeface="Calibri" pitchFamily="34" charset="-122"/>
                          <a:cs typeface="Calibri" pitchFamily="34" charset="-120"/>
                        </a:rPr>
                        <a:t>Arbitrary</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r>
              <a:tr h="502920">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Full detection</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Wrap bit</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Gray + MSBs</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Count reg</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Depth-aware</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Pointer coding</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Binary</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Gray</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Binary</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Gray</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EEF3F7"/>
                    </a:solidFill>
                  </a:tcPr>
                </a:tc>
              </a:tr>
              <a:tr h="502920">
                <a:tc>
                  <a:txBody>
                    <a:bodyPr/>
                    <a:lstStyle/>
                    <a:p>
                      <a:pPr algn="l" indent="0" marL="0">
                        <a:buNone/>
                      </a:pPr>
                      <a:r>
                        <a:rPr lang="en-US" sz="1250" b="1" dirty="0">
                          <a:solidFill>
                            <a:srgbClr val="16324F"/>
                          </a:solidFill>
                          <a:latin typeface="Calibri" pitchFamily="34" charset="0"/>
                          <a:ea typeface="Calibri" pitchFamily="34" charset="-122"/>
                          <a:cs typeface="Calibri" pitchFamily="34" charset="-120"/>
                        </a:rPr>
                        <a:t>Best used for</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Same-clock buffer</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CDC bridge</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Odd-size buffer</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A6B7B"/>
                          </a:solidFill>
                          <a:latin typeface="Calibri" pitchFamily="34" charset="0"/>
                          <a:ea typeface="Calibri" pitchFamily="34" charset="-122"/>
                          <a:cs typeface="Calibri" pitchFamily="34" charset="-120"/>
                        </a:rPr>
                        <a:t>Odd-size CDC</a:t>
                      </a:r>
                      <a:endParaRPr lang="en-US" sz="1250" dirty="0">
                        <a:latin typeface="Calibri" charset="0"/>
                        <a:ea typeface="Calibri" charset="0"/>
                        <a:cs typeface="Calibri" charset="0"/>
                      </a:endParaRPr>
                    </a:p>
                  </a:txBody>
                  <a:tcPr marL="76200" marR="76200" marT="38100" marB="38100" anchor="ctr">
                    <a:lnL w="12700" cap="flat" cmpd="sng" algn="ctr">
                      <a:solidFill>
                        <a:srgbClr val="DCE5EC"/>
                      </a:solidFill>
                      <a:prstDash val="solid"/>
                      <a:round/>
                      <a:headEnd type="none" w="med" len="med"/>
                      <a:tailEnd type="none" w="med" len="med"/>
                    </a:lnL>
                    <a:lnR w="12700" cap="flat" cmpd="sng" algn="ctr">
                      <a:solidFill>
                        <a:srgbClr val="DCE5EC"/>
                      </a:solidFill>
                      <a:prstDash val="solid"/>
                      <a:round/>
                      <a:headEnd type="none" w="med" len="med"/>
                      <a:tailEnd type="none" w="med" len="med"/>
                    </a:lnR>
                    <a:lnT w="12700" cap="flat" cmpd="sng" algn="ctr">
                      <a:solidFill>
                        <a:srgbClr val="DCE5EC"/>
                      </a:solidFill>
                      <a:prstDash val="solid"/>
                      <a:round/>
                      <a:headEnd type="none" w="med" len="med"/>
                      <a:tailEnd type="none" w="med" len="med"/>
                    </a:lnT>
                    <a:lnB w="12700" cap="flat" cmpd="sng" algn="ctr">
                      <a:solidFill>
                        <a:srgbClr val="DCE5EC"/>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5623560"/>
            <a:ext cx="11064240" cy="658368"/>
          </a:xfrm>
          <a:prstGeom prst="roundRect">
            <a:avLst>
              <a:gd name="adj" fmla="val 12500"/>
            </a:avLst>
          </a:prstGeom>
          <a:solidFill>
            <a:srgbClr val="14A8A0">
              <a:alpha val="12000"/>
            </a:srgbClr>
          </a:solidFill>
          <a:ln w="12700">
            <a:solidFill>
              <a:srgbClr val="B7E1DC"/>
            </a:solidFill>
            <a:prstDash val="solid"/>
          </a:ln>
        </p:spPr>
      </p:sp>
      <p:sp>
        <p:nvSpPr>
          <p:cNvPr id="7" name="Text 4"/>
          <p:cNvSpPr/>
          <p:nvPr/>
        </p:nvSpPr>
        <p:spPr>
          <a:xfrm>
            <a:off x="868680" y="5623560"/>
            <a:ext cx="10515600" cy="658368"/>
          </a:xfrm>
          <a:prstGeom prst="rect">
            <a:avLst/>
          </a:prstGeom>
          <a:noFill/>
          <a:ln/>
        </p:spPr>
        <p:txBody>
          <a:bodyPr wrap="square" lIns="0" tIns="0" rIns="0" bIns="0" rtlCol="0" anchor="ctr"/>
          <a:lstStyle/>
          <a:p>
            <a:pPr indent="0" marL="0">
              <a:buNone/>
            </a:pPr>
            <a:r>
              <a:rPr lang="en-US" sz="1250" b="1" dirty="0">
                <a:solidFill>
                  <a:srgbClr val="0C7A76"/>
                </a:solidFill>
                <a:latin typeface="Cambria" pitchFamily="34" charset="0"/>
                <a:ea typeface="Cambria" pitchFamily="34" charset="-122"/>
                <a:cs typeface="Cambria" pitchFamily="34" charset="-120"/>
              </a:rPr>
              <a:t>Design rule:  </a:t>
            </a:r>
            <a:pPr indent="0" marL="0">
              <a:buNone/>
            </a:pPr>
            <a:r>
              <a:rPr lang="en-US" sz="1250" dirty="0">
                <a:solidFill>
                  <a:srgbClr val="16324F"/>
                </a:solidFill>
                <a:latin typeface="Calibri" pitchFamily="34" charset="0"/>
                <a:ea typeface="Calibri" pitchFamily="34" charset="-122"/>
                <a:cs typeface="Calibri" pitchFamily="34" charset="-120"/>
              </a:rPr>
              <a:t>single clock → sync;  crossing clocks → async (Gray + 2-FF);  odd depth → the revised variants.  The streaming FIFO (next) adds a valid/ready interface on top.</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FIFO BUILDING BLOCKS</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Stream FIFO  (valid / ready)</a:t>
            </a:r>
            <a:endParaRPr lang="en-US" sz="3100" dirty="0"/>
          </a:p>
        </p:txBody>
      </p:sp>
      <p:sp>
        <p:nvSpPr>
          <p:cNvPr id="5" name="Text 3"/>
          <p:cNvSpPr/>
          <p:nvPr/>
        </p:nvSpPr>
        <p:spPr>
          <a:xfrm>
            <a:off x="566928" y="1261872"/>
            <a:ext cx="10881360" cy="384048"/>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LZ77 receives a continuous byte stream, so the buffer needs flow control. This FWFT FIFO speaks an AXI-Stream-like handshake and carries an end-of-stream last bit.</a:t>
            </a:r>
            <a:endParaRPr lang="en-US" sz="1350" dirty="0"/>
          </a:p>
        </p:txBody>
      </p:sp>
      <p:sp>
        <p:nvSpPr>
          <p:cNvPr id="6" name="Shape 4"/>
          <p:cNvSpPr/>
          <p:nvPr/>
        </p:nvSpPr>
        <p:spPr>
          <a:xfrm>
            <a:off x="566928" y="1874520"/>
            <a:ext cx="5120640" cy="2148840"/>
          </a:xfrm>
          <a:prstGeom prst="roundRect">
            <a:avLst>
              <a:gd name="adj" fmla="val 5106"/>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7" name="Shape 5"/>
          <p:cNvSpPr/>
          <p:nvPr/>
        </p:nvSpPr>
        <p:spPr>
          <a:xfrm>
            <a:off x="886968" y="2697480"/>
            <a:ext cx="1371600" cy="777240"/>
          </a:xfrm>
          <a:prstGeom prst="roundRect">
            <a:avLst>
              <a:gd name="adj" fmla="val 11765"/>
            </a:avLst>
          </a:prstGeom>
          <a:solidFill>
            <a:srgbClr val="1B3A5B"/>
          </a:solidFill>
          <a:ln/>
          <a:effectLst>
            <a:outerShdw sx="100000" sy="100000" kx="0" ky="0" algn="bl" rotWithShape="0" blurRad="114300" dist="38100" dir="5400000">
              <a:srgbClr val="1B3A5B">
                <a:alpha val="20000"/>
              </a:srgbClr>
            </a:outerShdw>
          </a:effectLst>
        </p:spPr>
      </p:sp>
      <p:sp>
        <p:nvSpPr>
          <p:cNvPr id="8" name="Text 6"/>
          <p:cNvSpPr/>
          <p:nvPr/>
        </p:nvSpPr>
        <p:spPr>
          <a:xfrm>
            <a:off x="886968" y="2697480"/>
            <a:ext cx="137160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Producer</a:t>
            </a:r>
            <a:endParaRPr lang="en-US" sz="1300" dirty="0"/>
          </a:p>
        </p:txBody>
      </p:sp>
      <p:sp>
        <p:nvSpPr>
          <p:cNvPr id="9" name="Shape 7"/>
          <p:cNvSpPr/>
          <p:nvPr/>
        </p:nvSpPr>
        <p:spPr>
          <a:xfrm>
            <a:off x="2441448" y="2697480"/>
            <a:ext cx="1371600" cy="777240"/>
          </a:xfrm>
          <a:prstGeom prst="roundRect">
            <a:avLst>
              <a:gd name="adj" fmla="val 11765"/>
            </a:avLst>
          </a:prstGeom>
          <a:solidFill>
            <a:srgbClr val="14A8A0"/>
          </a:solidFill>
          <a:ln/>
          <a:effectLst>
            <a:outerShdw sx="100000" sy="100000" kx="0" ky="0" algn="bl" rotWithShape="0" blurRad="114300" dist="38100" dir="5400000">
              <a:srgbClr val="1B3A5B">
                <a:alpha val="20000"/>
              </a:srgbClr>
            </a:outerShdw>
          </a:effectLst>
        </p:spPr>
      </p:sp>
      <p:sp>
        <p:nvSpPr>
          <p:cNvPr id="10" name="Text 8"/>
          <p:cNvSpPr/>
          <p:nvPr/>
        </p:nvSpPr>
        <p:spPr>
          <a:xfrm>
            <a:off x="2441448" y="2697480"/>
            <a:ext cx="137160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Stream</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FIFO</a:t>
            </a:r>
            <a:endParaRPr lang="en-US" sz="1300" dirty="0"/>
          </a:p>
        </p:txBody>
      </p:sp>
      <p:sp>
        <p:nvSpPr>
          <p:cNvPr id="11" name="Shape 9"/>
          <p:cNvSpPr/>
          <p:nvPr/>
        </p:nvSpPr>
        <p:spPr>
          <a:xfrm>
            <a:off x="3995928" y="2697480"/>
            <a:ext cx="1371600" cy="777240"/>
          </a:xfrm>
          <a:prstGeom prst="roundRect">
            <a:avLst>
              <a:gd name="adj" fmla="val 11765"/>
            </a:avLst>
          </a:prstGeom>
          <a:solidFill>
            <a:srgbClr val="1B3A5B"/>
          </a:solidFill>
          <a:ln/>
          <a:effectLst>
            <a:outerShdw sx="100000" sy="100000" kx="0" ky="0" algn="bl" rotWithShape="0" blurRad="114300" dist="38100" dir="5400000">
              <a:srgbClr val="1B3A5B">
                <a:alpha val="20000"/>
              </a:srgbClr>
            </a:outerShdw>
          </a:effectLst>
        </p:spPr>
      </p:sp>
      <p:sp>
        <p:nvSpPr>
          <p:cNvPr id="12" name="Text 10"/>
          <p:cNvSpPr/>
          <p:nvPr/>
        </p:nvSpPr>
        <p:spPr>
          <a:xfrm>
            <a:off x="3995928" y="2697480"/>
            <a:ext cx="137160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Consumer</a:t>
            </a:r>
            <a:endParaRPr lang="en-US" sz="1300" dirty="0"/>
          </a:p>
        </p:txBody>
      </p:sp>
      <p:sp>
        <p:nvSpPr>
          <p:cNvPr id="13" name="Text 11"/>
          <p:cNvSpPr/>
          <p:nvPr/>
        </p:nvSpPr>
        <p:spPr>
          <a:xfrm>
            <a:off x="2194560" y="2194560"/>
            <a:ext cx="1463040" cy="457200"/>
          </a:xfrm>
          <a:prstGeom prst="rect">
            <a:avLst/>
          </a:prstGeom>
          <a:noFill/>
          <a:ln/>
        </p:spPr>
        <p:txBody>
          <a:bodyPr wrap="square" lIns="0" tIns="0" rIns="0" bIns="0" rtlCol="0" anchor="ctr"/>
          <a:lstStyle/>
          <a:p>
            <a:pPr algn="ctr" indent="0" marL="0">
              <a:buNone/>
            </a:pPr>
            <a:r>
              <a:rPr lang="en-US" sz="950" b="1" dirty="0">
                <a:solidFill>
                  <a:srgbClr val="0C7A76"/>
                </a:solidFill>
                <a:latin typeface="Courier New" pitchFamily="34" charset="0"/>
                <a:ea typeface="Courier New" pitchFamily="34" charset="-122"/>
                <a:cs typeface="Courier New" pitchFamily="34" charset="-120"/>
              </a:rPr>
              <a:t>s_valid →</a:t>
            </a:r>
            <a:endParaRPr lang="en-US" sz="950" dirty="0"/>
          </a:p>
          <a:p>
            <a:pPr algn="ctr" indent="0" marL="0">
              <a:buNone/>
            </a:pPr>
            <a:r>
              <a:rPr lang="en-US" sz="950" b="1" dirty="0">
                <a:solidFill>
                  <a:srgbClr val="0C7A76"/>
                </a:solidFill>
                <a:latin typeface="Courier New" pitchFamily="34" charset="0"/>
                <a:ea typeface="Courier New" pitchFamily="34" charset="-122"/>
                <a:cs typeface="Courier New" pitchFamily="34" charset="-120"/>
              </a:rPr>
              <a:t>← s_ready</a:t>
            </a:r>
            <a:endParaRPr lang="en-US" sz="950" dirty="0"/>
          </a:p>
        </p:txBody>
      </p:sp>
      <p:sp>
        <p:nvSpPr>
          <p:cNvPr id="14" name="Text 12"/>
          <p:cNvSpPr/>
          <p:nvPr/>
        </p:nvSpPr>
        <p:spPr>
          <a:xfrm>
            <a:off x="3749040" y="2194560"/>
            <a:ext cx="1463040" cy="457200"/>
          </a:xfrm>
          <a:prstGeom prst="rect">
            <a:avLst/>
          </a:prstGeom>
          <a:noFill/>
          <a:ln/>
        </p:spPr>
        <p:txBody>
          <a:bodyPr wrap="square" lIns="0" tIns="0" rIns="0" bIns="0" rtlCol="0" anchor="ctr"/>
          <a:lstStyle/>
          <a:p>
            <a:pPr algn="ctr" indent="0" marL="0">
              <a:buNone/>
            </a:pPr>
            <a:r>
              <a:rPr lang="en-US" sz="950" b="1" dirty="0">
                <a:solidFill>
                  <a:srgbClr val="0C7A76"/>
                </a:solidFill>
                <a:latin typeface="Courier New" pitchFamily="34" charset="0"/>
                <a:ea typeface="Courier New" pitchFamily="34" charset="-122"/>
                <a:cs typeface="Courier New" pitchFamily="34" charset="-120"/>
              </a:rPr>
              <a:t>m_valid →</a:t>
            </a:r>
            <a:endParaRPr lang="en-US" sz="950" dirty="0"/>
          </a:p>
          <a:p>
            <a:pPr algn="ctr" indent="0" marL="0">
              <a:buNone/>
            </a:pPr>
            <a:r>
              <a:rPr lang="en-US" sz="950" b="1" dirty="0">
                <a:solidFill>
                  <a:srgbClr val="0C7A76"/>
                </a:solidFill>
                <a:latin typeface="Courier New" pitchFamily="34" charset="0"/>
                <a:ea typeface="Courier New" pitchFamily="34" charset="-122"/>
                <a:cs typeface="Courier New" pitchFamily="34" charset="-120"/>
              </a:rPr>
              <a:t>← m_ready</a:t>
            </a:r>
            <a:endParaRPr lang="en-US" sz="950" dirty="0"/>
          </a:p>
        </p:txBody>
      </p:sp>
      <p:sp>
        <p:nvSpPr>
          <p:cNvPr id="15" name="Shape 13"/>
          <p:cNvSpPr/>
          <p:nvPr/>
        </p:nvSpPr>
        <p:spPr>
          <a:xfrm>
            <a:off x="2258568" y="3063240"/>
            <a:ext cx="182880" cy="0"/>
          </a:xfrm>
          <a:prstGeom prst="line">
            <a:avLst/>
          </a:prstGeom>
          <a:noFill/>
          <a:ln w="19050">
            <a:solidFill>
              <a:srgbClr val="14A8A0"/>
            </a:solidFill>
            <a:prstDash val="solid"/>
            <a:tailEnd type="triangle"/>
          </a:ln>
        </p:spPr>
      </p:sp>
      <p:sp>
        <p:nvSpPr>
          <p:cNvPr id="16" name="Shape 14"/>
          <p:cNvSpPr/>
          <p:nvPr/>
        </p:nvSpPr>
        <p:spPr>
          <a:xfrm>
            <a:off x="3813048" y="3063240"/>
            <a:ext cx="182880" cy="0"/>
          </a:xfrm>
          <a:prstGeom prst="line">
            <a:avLst/>
          </a:prstGeom>
          <a:noFill/>
          <a:ln w="19050">
            <a:solidFill>
              <a:srgbClr val="14A8A0"/>
            </a:solidFill>
            <a:prstDash val="solid"/>
            <a:tailEnd type="triangle"/>
          </a:ln>
        </p:spPr>
      </p:sp>
      <p:sp>
        <p:nvSpPr>
          <p:cNvPr id="17" name="Text 15"/>
          <p:cNvSpPr/>
          <p:nvPr/>
        </p:nvSpPr>
        <p:spPr>
          <a:xfrm>
            <a:off x="841248" y="3639312"/>
            <a:ext cx="4572000" cy="292608"/>
          </a:xfrm>
          <a:prstGeom prst="rect">
            <a:avLst/>
          </a:prstGeom>
          <a:noFill/>
          <a:ln/>
        </p:spPr>
        <p:txBody>
          <a:bodyPr wrap="square" lIns="0" tIns="0" rIns="0" bIns="0" rtlCol="0" anchor="ctr"/>
          <a:lstStyle/>
          <a:p>
            <a:pPr algn="ctr" indent="0" marL="0">
              <a:buNone/>
            </a:pPr>
            <a:r>
              <a:rPr lang="en-US" sz="1100" i="1" dirty="0">
                <a:solidFill>
                  <a:srgbClr val="5A6B7B"/>
                </a:solidFill>
                <a:latin typeface="Calibri" pitchFamily="34" charset="0"/>
                <a:ea typeface="Calibri" pitchFamily="34" charset="-122"/>
                <a:cs typeface="Calibri" pitchFamily="34" charset="-120"/>
              </a:rPr>
              <a:t>a beat moves only when valid &amp;&amp; ready</a:t>
            </a:r>
            <a:endParaRPr lang="en-US" sz="1100" dirty="0"/>
          </a:p>
        </p:txBody>
      </p:sp>
      <p:sp>
        <p:nvSpPr>
          <p:cNvPr id="18" name="Shape 16"/>
          <p:cNvSpPr/>
          <p:nvPr/>
        </p:nvSpPr>
        <p:spPr>
          <a:xfrm>
            <a:off x="566928" y="4206240"/>
            <a:ext cx="2560320" cy="749808"/>
          </a:xfrm>
          <a:prstGeom prst="roundRect">
            <a:avLst>
              <a:gd name="adj" fmla="val 9756"/>
            </a:avLst>
          </a:prstGeom>
          <a:solidFill>
            <a:srgbClr val="F1F5F9"/>
          </a:solidFill>
          <a:ln w="12700">
            <a:solidFill>
              <a:srgbClr val="D3DEE8"/>
            </a:solidFill>
            <a:prstDash val="solid"/>
          </a:ln>
        </p:spPr>
      </p:sp>
      <p:sp>
        <p:nvSpPr>
          <p:cNvPr id="19" name="Text 17"/>
          <p:cNvSpPr/>
          <p:nvPr/>
        </p:nvSpPr>
        <p:spPr>
          <a:xfrm>
            <a:off x="731520" y="4279392"/>
            <a:ext cx="2331720" cy="256032"/>
          </a:xfrm>
          <a:prstGeom prst="rect">
            <a:avLst/>
          </a:prstGeom>
          <a:noFill/>
          <a:ln/>
        </p:spPr>
        <p:txBody>
          <a:bodyPr wrap="square" lIns="0" tIns="0" rIns="0" bIns="0" rtlCol="0" anchor="ctr"/>
          <a:lstStyle/>
          <a:p>
            <a:pPr indent="0" marL="0">
              <a:buNone/>
            </a:pPr>
            <a:r>
              <a:rPr lang="en-US" sz="1150" b="1" dirty="0">
                <a:solidFill>
                  <a:srgbClr val="0C7A76"/>
                </a:solidFill>
                <a:latin typeface="Courier New" pitchFamily="34" charset="0"/>
                <a:ea typeface="Courier New" pitchFamily="34" charset="-122"/>
                <a:cs typeface="Courier New" pitchFamily="34" charset="-120"/>
              </a:rPr>
              <a:t>s_ready = ~full</a:t>
            </a:r>
            <a:endParaRPr lang="en-US" sz="1150" dirty="0"/>
          </a:p>
        </p:txBody>
      </p:sp>
      <p:sp>
        <p:nvSpPr>
          <p:cNvPr id="20" name="Text 18"/>
          <p:cNvSpPr/>
          <p:nvPr/>
        </p:nvSpPr>
        <p:spPr>
          <a:xfrm>
            <a:off x="731520" y="4535424"/>
            <a:ext cx="2331720" cy="36576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accept a byte whenever there is room</a:t>
            </a:r>
            <a:endParaRPr lang="en-US" sz="1050" dirty="0"/>
          </a:p>
        </p:txBody>
      </p:sp>
      <p:sp>
        <p:nvSpPr>
          <p:cNvPr id="21" name="Shape 19"/>
          <p:cNvSpPr/>
          <p:nvPr/>
        </p:nvSpPr>
        <p:spPr>
          <a:xfrm>
            <a:off x="3264408" y="4206240"/>
            <a:ext cx="2560320" cy="749808"/>
          </a:xfrm>
          <a:prstGeom prst="roundRect">
            <a:avLst>
              <a:gd name="adj" fmla="val 9756"/>
            </a:avLst>
          </a:prstGeom>
          <a:solidFill>
            <a:srgbClr val="F1F5F9"/>
          </a:solidFill>
          <a:ln w="12700">
            <a:solidFill>
              <a:srgbClr val="D3DEE8"/>
            </a:solidFill>
            <a:prstDash val="solid"/>
          </a:ln>
        </p:spPr>
      </p:sp>
      <p:sp>
        <p:nvSpPr>
          <p:cNvPr id="22" name="Text 20"/>
          <p:cNvSpPr/>
          <p:nvPr/>
        </p:nvSpPr>
        <p:spPr>
          <a:xfrm>
            <a:off x="3429000" y="4279392"/>
            <a:ext cx="2331720" cy="256032"/>
          </a:xfrm>
          <a:prstGeom prst="rect">
            <a:avLst/>
          </a:prstGeom>
          <a:noFill/>
          <a:ln/>
        </p:spPr>
        <p:txBody>
          <a:bodyPr wrap="square" lIns="0" tIns="0" rIns="0" bIns="0" rtlCol="0" anchor="ctr"/>
          <a:lstStyle/>
          <a:p>
            <a:pPr indent="0" marL="0">
              <a:buNone/>
            </a:pPr>
            <a:r>
              <a:rPr lang="en-US" sz="1150" b="1" dirty="0">
                <a:solidFill>
                  <a:srgbClr val="0C7A76"/>
                </a:solidFill>
                <a:latin typeface="Courier New" pitchFamily="34" charset="0"/>
                <a:ea typeface="Courier New" pitchFamily="34" charset="-122"/>
                <a:cs typeface="Courier New" pitchFamily="34" charset="-120"/>
              </a:rPr>
              <a:t>m_valid = ~empty</a:t>
            </a:r>
            <a:endParaRPr lang="en-US" sz="1150" dirty="0"/>
          </a:p>
        </p:txBody>
      </p:sp>
      <p:sp>
        <p:nvSpPr>
          <p:cNvPr id="23" name="Text 21"/>
          <p:cNvSpPr/>
          <p:nvPr/>
        </p:nvSpPr>
        <p:spPr>
          <a:xfrm>
            <a:off x="3429000" y="4535424"/>
            <a:ext cx="2331720" cy="36576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present a byte whenever one is buffered</a:t>
            </a:r>
            <a:endParaRPr lang="en-US" sz="1050" dirty="0"/>
          </a:p>
        </p:txBody>
      </p:sp>
      <p:sp>
        <p:nvSpPr>
          <p:cNvPr id="24" name="Shape 22"/>
          <p:cNvSpPr/>
          <p:nvPr/>
        </p:nvSpPr>
        <p:spPr>
          <a:xfrm>
            <a:off x="566928" y="5074920"/>
            <a:ext cx="2560320" cy="749808"/>
          </a:xfrm>
          <a:prstGeom prst="roundRect">
            <a:avLst>
              <a:gd name="adj" fmla="val 9756"/>
            </a:avLst>
          </a:prstGeom>
          <a:solidFill>
            <a:srgbClr val="F1F5F9"/>
          </a:solidFill>
          <a:ln w="12700">
            <a:solidFill>
              <a:srgbClr val="D3DEE8"/>
            </a:solidFill>
            <a:prstDash val="solid"/>
          </a:ln>
        </p:spPr>
      </p:sp>
      <p:sp>
        <p:nvSpPr>
          <p:cNvPr id="25" name="Text 23"/>
          <p:cNvSpPr/>
          <p:nvPr/>
        </p:nvSpPr>
        <p:spPr>
          <a:xfrm>
            <a:off x="731520" y="5148072"/>
            <a:ext cx="2331720" cy="256032"/>
          </a:xfrm>
          <a:prstGeom prst="rect">
            <a:avLst/>
          </a:prstGeom>
          <a:noFill/>
          <a:ln/>
        </p:spPr>
        <p:txBody>
          <a:bodyPr wrap="square" lIns="0" tIns="0" rIns="0" bIns="0" rtlCol="0" anchor="ctr"/>
          <a:lstStyle/>
          <a:p>
            <a:pPr indent="0" marL="0">
              <a:buNone/>
            </a:pPr>
            <a:r>
              <a:rPr lang="en-US" sz="1150" b="1" dirty="0">
                <a:solidFill>
                  <a:srgbClr val="0C7A76"/>
                </a:solidFill>
                <a:latin typeface="Courier New" pitchFamily="34" charset="0"/>
                <a:ea typeface="Courier New" pitchFamily="34" charset="-122"/>
                <a:cs typeface="Courier New" pitchFamily="34" charset="-120"/>
              </a:rPr>
              <a:t>FWFT</a:t>
            </a:r>
            <a:endParaRPr lang="en-US" sz="1150" dirty="0"/>
          </a:p>
        </p:txBody>
      </p:sp>
      <p:sp>
        <p:nvSpPr>
          <p:cNvPr id="26" name="Text 24"/>
          <p:cNvSpPr/>
          <p:nvPr/>
        </p:nvSpPr>
        <p:spPr>
          <a:xfrm>
            <a:off x="731520" y="5404104"/>
            <a:ext cx="2331720" cy="36576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first word falls through — zero read latency</a:t>
            </a:r>
            <a:endParaRPr lang="en-US" sz="1050" dirty="0"/>
          </a:p>
        </p:txBody>
      </p:sp>
      <p:sp>
        <p:nvSpPr>
          <p:cNvPr id="27" name="Shape 25"/>
          <p:cNvSpPr/>
          <p:nvPr/>
        </p:nvSpPr>
        <p:spPr>
          <a:xfrm>
            <a:off x="3264408" y="5074920"/>
            <a:ext cx="2560320" cy="749808"/>
          </a:xfrm>
          <a:prstGeom prst="roundRect">
            <a:avLst>
              <a:gd name="adj" fmla="val 9756"/>
            </a:avLst>
          </a:prstGeom>
          <a:solidFill>
            <a:srgbClr val="F1F5F9"/>
          </a:solidFill>
          <a:ln w="12700">
            <a:solidFill>
              <a:srgbClr val="D3DEE8"/>
            </a:solidFill>
            <a:prstDash val="solid"/>
          </a:ln>
        </p:spPr>
      </p:sp>
      <p:sp>
        <p:nvSpPr>
          <p:cNvPr id="28" name="Text 26"/>
          <p:cNvSpPr/>
          <p:nvPr/>
        </p:nvSpPr>
        <p:spPr>
          <a:xfrm>
            <a:off x="3429000" y="5148072"/>
            <a:ext cx="2331720" cy="256032"/>
          </a:xfrm>
          <a:prstGeom prst="rect">
            <a:avLst/>
          </a:prstGeom>
          <a:noFill/>
          <a:ln/>
        </p:spPr>
        <p:txBody>
          <a:bodyPr wrap="square" lIns="0" tIns="0" rIns="0" bIns="0" rtlCol="0" anchor="ctr"/>
          <a:lstStyle/>
          <a:p>
            <a:pPr indent="0" marL="0">
              <a:buNone/>
            </a:pPr>
            <a:r>
              <a:rPr lang="en-US" sz="1150" b="1" dirty="0">
                <a:solidFill>
                  <a:srgbClr val="0C7A76"/>
                </a:solidFill>
                <a:latin typeface="Courier New" pitchFamily="34" charset="0"/>
                <a:ea typeface="Courier New" pitchFamily="34" charset="-122"/>
                <a:cs typeface="Courier New" pitchFamily="34" charset="-120"/>
              </a:rPr>
              <a:t>last bit</a:t>
            </a:r>
            <a:endParaRPr lang="en-US" sz="1150" dirty="0"/>
          </a:p>
        </p:txBody>
      </p:sp>
      <p:sp>
        <p:nvSpPr>
          <p:cNvPr id="29" name="Text 27"/>
          <p:cNvSpPr/>
          <p:nvPr/>
        </p:nvSpPr>
        <p:spPr>
          <a:xfrm>
            <a:off x="3429000" y="5404104"/>
            <a:ext cx="2331720" cy="36576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end-of-stream travels with the data</a:t>
            </a:r>
            <a:endParaRPr lang="en-US" sz="1050" dirty="0"/>
          </a:p>
        </p:txBody>
      </p:sp>
      <p:sp>
        <p:nvSpPr>
          <p:cNvPr id="30" name="Shape 28"/>
          <p:cNvSpPr/>
          <p:nvPr/>
        </p:nvSpPr>
        <p:spPr>
          <a:xfrm>
            <a:off x="5897880" y="1874520"/>
            <a:ext cx="5733288" cy="2331720"/>
          </a:xfrm>
          <a:prstGeom prst="roundRect">
            <a:avLst>
              <a:gd name="adj" fmla="val 2745"/>
            </a:avLst>
          </a:prstGeom>
          <a:solidFill>
            <a:srgbClr val="0E2233"/>
          </a:solidFill>
          <a:ln w="12700">
            <a:solidFill>
              <a:srgbClr val="25415A"/>
            </a:solidFill>
            <a:prstDash val="solid"/>
          </a:ln>
          <a:effectLst>
            <a:outerShdw sx="100000" sy="100000" kx="0" ky="0" algn="bl" rotWithShape="0" blurRad="114300" dist="38100" dir="5400000">
              <a:srgbClr val="1B3A5B">
                <a:alpha val="20000"/>
              </a:srgbClr>
            </a:outerShdw>
          </a:effectLst>
        </p:spPr>
      </p:sp>
      <p:sp>
        <p:nvSpPr>
          <p:cNvPr id="31" name="Text 29"/>
          <p:cNvSpPr/>
          <p:nvPr/>
        </p:nvSpPr>
        <p:spPr>
          <a:xfrm>
            <a:off x="6099048" y="1965960"/>
            <a:ext cx="5367528" cy="256032"/>
          </a:xfrm>
          <a:prstGeom prst="rect">
            <a:avLst/>
          </a:prstGeom>
          <a:noFill/>
          <a:ln/>
        </p:spPr>
        <p:txBody>
          <a:bodyPr wrap="square" lIns="0" tIns="0" rIns="0" bIns="0" rtlCol="0" anchor="ctr"/>
          <a:lstStyle/>
          <a:p>
            <a:pPr algn="l" indent="0" marL="0">
              <a:buNone/>
            </a:pPr>
            <a:r>
              <a:rPr lang="en-US" sz="1050" i="1" dirty="0">
                <a:solidFill>
                  <a:srgbClr val="18C2B8"/>
                </a:solidFill>
                <a:latin typeface="Courier New" pitchFamily="34" charset="0"/>
                <a:ea typeface="Courier New" pitchFamily="34" charset="-122"/>
                <a:cs typeface="Courier New" pitchFamily="34" charset="-120"/>
              </a:rPr>
              <a:t>stream_fifo.v</a:t>
            </a:r>
            <a:endParaRPr lang="en-US" sz="1050" dirty="0"/>
          </a:p>
        </p:txBody>
      </p:sp>
      <p:sp>
        <p:nvSpPr>
          <p:cNvPr id="32" name="Text 30"/>
          <p:cNvSpPr/>
          <p:nvPr/>
        </p:nvSpPr>
        <p:spPr>
          <a:xfrm>
            <a:off x="6099048" y="2276856"/>
            <a:ext cx="5367528" cy="1819656"/>
          </a:xfrm>
          <a:prstGeom prst="rect">
            <a:avLst/>
          </a:prstGeom>
          <a:noFill/>
          <a:ln/>
        </p:spPr>
        <p:txBody>
          <a:bodyPr wrap="square" lIns="0" tIns="0" rIns="0" bIns="0" rtlCol="0" anchor="t"/>
          <a:lstStyle/>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reg [DW:0] mem [0:DEPTH-1];   // {last, data}</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assign s_ready = ~full;</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assign m_valid = ~empty;</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assign {m_last, m_data} = mem[rptr[AW-1:0]]; // FWFT</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wire do_wr = s_valid &amp; s_ready;</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wire do_rd = m_valid &amp; m_ready;</a:t>
            </a:r>
            <a:endParaRPr lang="en-US" sz="1100" dirty="0"/>
          </a:p>
          <a:p>
            <a:pPr algn="l" indent="0" marL="0">
              <a:lnSpc>
                <a:spcPct val="102000"/>
              </a:lnSpc>
              <a:buNone/>
            </a:pPr>
            <a:r>
              <a:rPr lang="en-US" sz="1100" dirty="0">
                <a:solidFill>
                  <a:srgbClr val="6FA8A0"/>
                </a:solidFill>
                <a:latin typeface="Courier New" pitchFamily="34" charset="0"/>
                <a:ea typeface="Courier New" pitchFamily="34" charset="-122"/>
                <a:cs typeface="Courier New" pitchFamily="34" charset="-120"/>
              </a:rPr>
              <a:t>// a beat = valid &amp;&amp; ready on either side</a:t>
            </a:r>
            <a:endParaRPr lang="en-US" sz="1100" dirty="0"/>
          </a:p>
        </p:txBody>
      </p:sp>
      <p:sp>
        <p:nvSpPr>
          <p:cNvPr id="33" name="Shape 31"/>
          <p:cNvSpPr/>
          <p:nvPr/>
        </p:nvSpPr>
        <p:spPr>
          <a:xfrm>
            <a:off x="5897880" y="4389120"/>
            <a:ext cx="5733288" cy="1737360"/>
          </a:xfrm>
          <a:prstGeom prst="roundRect">
            <a:avLst>
              <a:gd name="adj" fmla="val 5263"/>
            </a:avLst>
          </a:prstGeom>
          <a:solidFill>
            <a:srgbClr val="0D1B2A"/>
          </a:solidFill>
          <a:ln/>
          <a:effectLst>
            <a:outerShdw sx="100000" sy="100000" kx="0" ky="0" algn="bl" rotWithShape="0" blurRad="114300" dist="38100" dir="5400000">
              <a:srgbClr val="1B3A5B">
                <a:alpha val="20000"/>
              </a:srgbClr>
            </a:outerShdw>
          </a:effectLst>
        </p:spPr>
      </p:sp>
      <p:sp>
        <p:nvSpPr>
          <p:cNvPr id="34" name="Text 32"/>
          <p:cNvSpPr/>
          <p:nvPr/>
        </p:nvSpPr>
        <p:spPr>
          <a:xfrm>
            <a:off x="6126480" y="4526280"/>
            <a:ext cx="530352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Why it matters for LZ77</a:t>
            </a:r>
            <a:endParaRPr lang="en-US" sz="1400" dirty="0"/>
          </a:p>
        </p:txBody>
      </p:sp>
      <p:sp>
        <p:nvSpPr>
          <p:cNvPr id="35" name="Text 33"/>
          <p:cNvSpPr/>
          <p:nvPr/>
        </p:nvSpPr>
        <p:spPr>
          <a:xfrm>
            <a:off x="6126480" y="4892040"/>
            <a:ext cx="5349240" cy="365760"/>
          </a:xfrm>
          <a:prstGeom prst="rect">
            <a:avLst/>
          </a:prstGeom>
          <a:noFill/>
          <a:ln/>
        </p:spPr>
        <p:txBody>
          <a:bodyPr wrap="square" lIns="0" tIns="0" rIns="0" bIns="0" rtlCol="0" anchor="ctr"/>
          <a:lstStyle/>
          <a:p>
            <a:pPr indent="0" marL="0">
              <a:buNone/>
            </a:pPr>
            <a:r>
              <a:rPr lang="en-US" sz="1200" b="1" dirty="0">
                <a:solidFill>
                  <a:srgbClr val="18C2B8"/>
                </a:solidFill>
                <a:latin typeface="Courier New" pitchFamily="34" charset="0"/>
                <a:ea typeface="Courier New" pitchFamily="34" charset="-122"/>
                <a:cs typeface="Courier New" pitchFamily="34" charset="-120"/>
              </a:rPr>
              <a:t>lz77_stream_compress</a:t>
            </a:r>
            <a:pPr indent="0" marL="0">
              <a:buNone/>
            </a:pPr>
            <a:r>
              <a:rPr lang="en-US" sz="1200" dirty="0">
                <a:solidFill>
                  <a:srgbClr val="9DB4C7"/>
                </a:solidFill>
                <a:latin typeface="Calibri" pitchFamily="34" charset="0"/>
                <a:ea typeface="Calibri" pitchFamily="34" charset="-122"/>
                <a:cs typeface="Calibri" pitchFamily="34" charset="-120"/>
              </a:rPr>
              <a:t>  →  </a:t>
            </a:r>
            <a:pPr indent="0" marL="0">
              <a:buNone/>
            </a:pPr>
            <a:r>
              <a:rPr lang="en-US" sz="1200" b="1" dirty="0">
                <a:solidFill>
                  <a:srgbClr val="F4A825"/>
                </a:solidFill>
                <a:latin typeface="Courier New" pitchFamily="34" charset="0"/>
                <a:ea typeface="Courier New" pitchFamily="34" charset="-122"/>
                <a:cs typeface="Courier New" pitchFamily="34" charset="-120"/>
              </a:rPr>
              <a:t>stream_fifo</a:t>
            </a:r>
            <a:pPr indent="0" marL="0">
              <a:buNone/>
            </a:pPr>
            <a:r>
              <a:rPr lang="en-US" sz="1200" dirty="0">
                <a:solidFill>
                  <a:srgbClr val="9DB4C7"/>
                </a:solidFill>
                <a:latin typeface="Calibri" pitchFamily="34" charset="0"/>
                <a:ea typeface="Calibri" pitchFamily="34" charset="-122"/>
                <a:cs typeface="Calibri" pitchFamily="34" charset="-120"/>
              </a:rPr>
              <a:t>  →  </a:t>
            </a:r>
            <a:pPr indent="0" marL="0">
              <a:buNone/>
            </a:pPr>
            <a:r>
              <a:rPr lang="en-US" sz="1200" b="1" dirty="0">
                <a:solidFill>
                  <a:srgbClr val="18C2B8"/>
                </a:solidFill>
                <a:latin typeface="Courier New" pitchFamily="34" charset="0"/>
                <a:ea typeface="Courier New" pitchFamily="34" charset="-122"/>
                <a:cs typeface="Courier New" pitchFamily="34" charset="-120"/>
              </a:rPr>
              <a:t>lz77_stream_decompress</a:t>
            </a:r>
            <a:endParaRPr lang="en-US" sz="1200" dirty="0"/>
          </a:p>
        </p:txBody>
      </p:sp>
      <p:sp>
        <p:nvSpPr>
          <p:cNvPr id="36" name="Text 34"/>
          <p:cNvSpPr/>
          <p:nvPr/>
        </p:nvSpPr>
        <p:spPr>
          <a:xfrm>
            <a:off x="6126480" y="5349240"/>
            <a:ext cx="5349240" cy="685800"/>
          </a:xfrm>
          <a:prstGeom prst="rect">
            <a:avLst/>
          </a:prstGeom>
          <a:noFill/>
          <a:ln/>
        </p:spPr>
        <p:txBody>
          <a:bodyPr wrap="square" lIns="0" tIns="0" rIns="0" bIns="0" rtlCol="0" anchor="ctr"/>
          <a:lstStyle/>
          <a:p>
            <a:pPr indent="0" marL="0">
              <a:buNone/>
            </a:pPr>
            <a:r>
              <a:rPr lang="en-US" sz="1200" dirty="0">
                <a:solidFill>
                  <a:srgbClr val="C7D6E4"/>
                </a:solidFill>
                <a:latin typeface="Calibri" pitchFamily="34" charset="0"/>
                <a:ea typeface="Calibri" pitchFamily="34" charset="-122"/>
                <a:cs typeface="Calibri" pitchFamily="34" charset="-120"/>
              </a:rPr>
              <a:t>Chaining stages with proper backpressure — no stage overruns the next. This is exactly how tb_lz77_stream.v wires the streaming path together.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VERIFICATION</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Stream FIFO — Handshake Timing</a:t>
            </a:r>
            <a:endParaRPr lang="en-US" sz="3100" dirty="0"/>
          </a:p>
        </p:txBody>
      </p:sp>
      <p:sp>
        <p:nvSpPr>
          <p:cNvPr id="5" name="Shape 3"/>
          <p:cNvSpPr/>
          <p:nvPr/>
        </p:nvSpPr>
        <p:spPr>
          <a:xfrm>
            <a:off x="566928" y="1691640"/>
            <a:ext cx="3108960" cy="4389120"/>
          </a:xfrm>
          <a:prstGeom prst="roundRect">
            <a:avLst>
              <a:gd name="adj" fmla="val 3529"/>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6" name="Text 4"/>
          <p:cNvSpPr/>
          <p:nvPr/>
        </p:nvSpPr>
        <p:spPr>
          <a:xfrm>
            <a:off x="822960" y="1828800"/>
            <a:ext cx="2651760" cy="292608"/>
          </a:xfrm>
          <a:prstGeom prst="rect">
            <a:avLst/>
          </a:prstGeom>
          <a:noFill/>
          <a:ln/>
        </p:spPr>
        <p:txBody>
          <a:bodyPr wrap="square" lIns="0" tIns="0" rIns="0" bIns="0" rtlCol="0" anchor="ctr"/>
          <a:lstStyle/>
          <a:p>
            <a:pPr indent="0" marL="0">
              <a:buNone/>
            </a:pPr>
            <a:r>
              <a:rPr lang="en-US" sz="1500" b="1" dirty="0">
                <a:solidFill>
                  <a:srgbClr val="16324F"/>
                </a:solidFill>
                <a:latin typeface="Cambria" pitchFamily="34" charset="0"/>
                <a:ea typeface="Cambria" pitchFamily="34" charset="-122"/>
                <a:cs typeface="Cambria" pitchFamily="34" charset="-120"/>
              </a:rPr>
              <a:t>The handshake rule</a:t>
            </a:r>
            <a:endParaRPr lang="en-US" sz="1500" dirty="0"/>
          </a:p>
        </p:txBody>
      </p:sp>
      <p:sp>
        <p:nvSpPr>
          <p:cNvPr id="7" name="Shape 5"/>
          <p:cNvSpPr/>
          <p:nvPr/>
        </p:nvSpPr>
        <p:spPr>
          <a:xfrm>
            <a:off x="822960" y="2286000"/>
            <a:ext cx="329184" cy="329184"/>
          </a:xfrm>
          <a:prstGeom prst="ellipse">
            <a:avLst/>
          </a:prstGeom>
          <a:solidFill>
            <a:srgbClr val="14A8A0"/>
          </a:solidFill>
          <a:ln/>
        </p:spPr>
      </p:sp>
      <p:sp>
        <p:nvSpPr>
          <p:cNvPr id="8" name="Text 6"/>
          <p:cNvSpPr/>
          <p:nvPr/>
        </p:nvSpPr>
        <p:spPr>
          <a:xfrm>
            <a:off x="822960" y="22768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7"/>
          <p:cNvSpPr/>
          <p:nvPr/>
        </p:nvSpPr>
        <p:spPr>
          <a:xfrm>
            <a:off x="1252728" y="2258568"/>
            <a:ext cx="2286000" cy="256032"/>
          </a:xfrm>
          <a:prstGeom prst="rect">
            <a:avLst/>
          </a:prstGeom>
          <a:noFill/>
          <a:ln/>
        </p:spPr>
        <p:txBody>
          <a:bodyPr wrap="square" lIns="0" tIns="0" rIns="0" bIns="0" rtlCol="0" anchor="ctr"/>
          <a:lstStyle/>
          <a:p>
            <a:pPr indent="0" marL="0">
              <a:buNone/>
            </a:pPr>
            <a:r>
              <a:rPr lang="en-US" sz="1250" b="1" dirty="0">
                <a:solidFill>
                  <a:srgbClr val="0C7A76"/>
                </a:solidFill>
                <a:latin typeface="Cambria" pitchFamily="34" charset="0"/>
                <a:ea typeface="Cambria" pitchFamily="34" charset="-122"/>
                <a:cs typeface="Cambria" pitchFamily="34" charset="-120"/>
              </a:rPr>
              <a:t>Transfer</a:t>
            </a:r>
            <a:endParaRPr lang="en-US" sz="1250" dirty="0"/>
          </a:p>
        </p:txBody>
      </p:sp>
      <p:sp>
        <p:nvSpPr>
          <p:cNvPr id="10" name="Text 8"/>
          <p:cNvSpPr/>
          <p:nvPr/>
        </p:nvSpPr>
        <p:spPr>
          <a:xfrm>
            <a:off x="1252728" y="2505456"/>
            <a:ext cx="2240280" cy="54864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one byte moves on every clock where valid AND ready are both high</a:t>
            </a:r>
            <a:endParaRPr lang="en-US" sz="1100" dirty="0"/>
          </a:p>
        </p:txBody>
      </p:sp>
      <p:sp>
        <p:nvSpPr>
          <p:cNvPr id="11" name="Shape 9"/>
          <p:cNvSpPr/>
          <p:nvPr/>
        </p:nvSpPr>
        <p:spPr>
          <a:xfrm>
            <a:off x="822960" y="3200400"/>
            <a:ext cx="329184" cy="329184"/>
          </a:xfrm>
          <a:prstGeom prst="ellipse">
            <a:avLst/>
          </a:prstGeom>
          <a:solidFill>
            <a:srgbClr val="14A8A0"/>
          </a:solidFill>
          <a:ln/>
        </p:spPr>
      </p:sp>
      <p:sp>
        <p:nvSpPr>
          <p:cNvPr id="12" name="Text 10"/>
          <p:cNvSpPr/>
          <p:nvPr/>
        </p:nvSpPr>
        <p:spPr>
          <a:xfrm>
            <a:off x="822960" y="31912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252728" y="3172968"/>
            <a:ext cx="2286000" cy="256032"/>
          </a:xfrm>
          <a:prstGeom prst="rect">
            <a:avLst/>
          </a:prstGeom>
          <a:noFill/>
          <a:ln/>
        </p:spPr>
        <p:txBody>
          <a:bodyPr wrap="square" lIns="0" tIns="0" rIns="0" bIns="0" rtlCol="0" anchor="ctr"/>
          <a:lstStyle/>
          <a:p>
            <a:pPr indent="0" marL="0">
              <a:buNone/>
            </a:pPr>
            <a:r>
              <a:rPr lang="en-US" sz="1250" b="1" dirty="0">
                <a:solidFill>
                  <a:srgbClr val="0C7A76"/>
                </a:solidFill>
                <a:latin typeface="Cambria" pitchFamily="34" charset="0"/>
                <a:ea typeface="Cambria" pitchFamily="34" charset="-122"/>
                <a:cs typeface="Cambria" pitchFamily="34" charset="-120"/>
              </a:rPr>
              <a:t>Backpressure</a:t>
            </a:r>
            <a:endParaRPr lang="en-US" sz="1250" dirty="0"/>
          </a:p>
        </p:txBody>
      </p:sp>
      <p:sp>
        <p:nvSpPr>
          <p:cNvPr id="14" name="Text 12"/>
          <p:cNvSpPr/>
          <p:nvPr/>
        </p:nvSpPr>
        <p:spPr>
          <a:xfrm>
            <a:off x="1252728" y="3419856"/>
            <a:ext cx="2240280" cy="54864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if the consumer drops m_ready, data waits — nothing is lost</a:t>
            </a:r>
            <a:endParaRPr lang="en-US" sz="1100" dirty="0"/>
          </a:p>
        </p:txBody>
      </p:sp>
      <p:sp>
        <p:nvSpPr>
          <p:cNvPr id="15" name="Shape 13"/>
          <p:cNvSpPr/>
          <p:nvPr/>
        </p:nvSpPr>
        <p:spPr>
          <a:xfrm>
            <a:off x="822960" y="4114800"/>
            <a:ext cx="329184" cy="329184"/>
          </a:xfrm>
          <a:prstGeom prst="ellipse">
            <a:avLst/>
          </a:prstGeom>
          <a:solidFill>
            <a:srgbClr val="14A8A0"/>
          </a:solidFill>
          <a:ln/>
        </p:spPr>
      </p:sp>
      <p:sp>
        <p:nvSpPr>
          <p:cNvPr id="16" name="Text 14"/>
          <p:cNvSpPr/>
          <p:nvPr/>
        </p:nvSpPr>
        <p:spPr>
          <a:xfrm>
            <a:off x="822960" y="41056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252728" y="4087368"/>
            <a:ext cx="2286000" cy="256032"/>
          </a:xfrm>
          <a:prstGeom prst="rect">
            <a:avLst/>
          </a:prstGeom>
          <a:noFill/>
          <a:ln/>
        </p:spPr>
        <p:txBody>
          <a:bodyPr wrap="square" lIns="0" tIns="0" rIns="0" bIns="0" rtlCol="0" anchor="ctr"/>
          <a:lstStyle/>
          <a:p>
            <a:pPr indent="0" marL="0">
              <a:buNone/>
            </a:pPr>
            <a:r>
              <a:rPr lang="en-US" sz="1250" b="1" dirty="0">
                <a:solidFill>
                  <a:srgbClr val="0C7A76"/>
                </a:solidFill>
                <a:latin typeface="Cambria" pitchFamily="34" charset="0"/>
                <a:ea typeface="Cambria" pitchFamily="34" charset="-122"/>
                <a:cs typeface="Cambria" pitchFamily="34" charset="-120"/>
              </a:rPr>
              <a:t>Stall</a:t>
            </a:r>
            <a:endParaRPr lang="en-US" sz="1250" dirty="0"/>
          </a:p>
        </p:txBody>
      </p:sp>
      <p:sp>
        <p:nvSpPr>
          <p:cNvPr id="18" name="Text 16"/>
          <p:cNvSpPr/>
          <p:nvPr/>
        </p:nvSpPr>
        <p:spPr>
          <a:xfrm>
            <a:off x="1252728" y="4334256"/>
            <a:ext cx="2240280" cy="54864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if the producer drops s_valid, the FIFO simply pauses</a:t>
            </a:r>
            <a:endParaRPr lang="en-US" sz="1100" dirty="0"/>
          </a:p>
        </p:txBody>
      </p:sp>
      <p:sp>
        <p:nvSpPr>
          <p:cNvPr id="19" name="Shape 17"/>
          <p:cNvSpPr/>
          <p:nvPr/>
        </p:nvSpPr>
        <p:spPr>
          <a:xfrm>
            <a:off x="822960" y="5029200"/>
            <a:ext cx="329184" cy="329184"/>
          </a:xfrm>
          <a:prstGeom prst="ellipse">
            <a:avLst/>
          </a:prstGeom>
          <a:solidFill>
            <a:srgbClr val="14A8A0"/>
          </a:solidFill>
          <a:ln/>
        </p:spPr>
      </p:sp>
      <p:sp>
        <p:nvSpPr>
          <p:cNvPr id="20" name="Text 18"/>
          <p:cNvSpPr/>
          <p:nvPr/>
        </p:nvSpPr>
        <p:spPr>
          <a:xfrm>
            <a:off x="822960" y="50200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p:nvPr/>
        </p:nvSpPr>
        <p:spPr>
          <a:xfrm>
            <a:off x="1252728" y="5001768"/>
            <a:ext cx="2286000" cy="256032"/>
          </a:xfrm>
          <a:prstGeom prst="rect">
            <a:avLst/>
          </a:prstGeom>
          <a:noFill/>
          <a:ln/>
        </p:spPr>
        <p:txBody>
          <a:bodyPr wrap="square" lIns="0" tIns="0" rIns="0" bIns="0" rtlCol="0" anchor="ctr"/>
          <a:lstStyle/>
          <a:p>
            <a:pPr indent="0" marL="0">
              <a:buNone/>
            </a:pPr>
            <a:r>
              <a:rPr lang="en-US" sz="1250" b="1" dirty="0">
                <a:solidFill>
                  <a:srgbClr val="0C7A76"/>
                </a:solidFill>
                <a:latin typeface="Cambria" pitchFamily="34" charset="0"/>
                <a:ea typeface="Cambria" pitchFamily="34" charset="-122"/>
                <a:cs typeface="Cambria" pitchFamily="34" charset="-120"/>
              </a:rPr>
              <a:t>last</a:t>
            </a:r>
            <a:endParaRPr lang="en-US" sz="1250" dirty="0"/>
          </a:p>
        </p:txBody>
      </p:sp>
      <p:sp>
        <p:nvSpPr>
          <p:cNvPr id="22" name="Text 20"/>
          <p:cNvSpPr/>
          <p:nvPr/>
        </p:nvSpPr>
        <p:spPr>
          <a:xfrm>
            <a:off x="1252728" y="5248656"/>
            <a:ext cx="2240280" cy="54864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asserted with the final byte to mark end-of-stream</a:t>
            </a:r>
            <a:endParaRPr lang="en-US" sz="1100" dirty="0"/>
          </a:p>
        </p:txBody>
      </p:sp>
      <p:sp>
        <p:nvSpPr>
          <p:cNvPr id="23" name="Shape 21"/>
          <p:cNvSpPr/>
          <p:nvPr/>
        </p:nvSpPr>
        <p:spPr>
          <a:xfrm>
            <a:off x="3931920" y="1691640"/>
            <a:ext cx="7680960" cy="4389120"/>
          </a:xfrm>
          <a:prstGeom prst="roundRect">
            <a:avLst>
              <a:gd name="adj" fmla="val 2500"/>
            </a:avLst>
          </a:prstGeom>
          <a:solidFill>
            <a:srgbClr val="0D1B2A"/>
          </a:solidFill>
          <a:ln/>
          <a:effectLst>
            <a:outerShdw sx="100000" sy="100000" kx="0" ky="0" algn="bl" rotWithShape="0" blurRad="114300" dist="38100" dir="5400000">
              <a:srgbClr val="1B3A5B">
                <a:alpha val="20000"/>
              </a:srgbClr>
            </a:outerShdw>
          </a:effectLst>
        </p:spPr>
      </p:sp>
      <p:sp>
        <p:nvSpPr>
          <p:cNvPr id="24" name="Text 22"/>
          <p:cNvSpPr/>
          <p:nvPr/>
        </p:nvSpPr>
        <p:spPr>
          <a:xfrm>
            <a:off x="4251960" y="1828800"/>
            <a:ext cx="704088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valid / ready handshake  (illustrative timing)</a:t>
            </a:r>
            <a:endParaRPr lang="en-US" sz="1400" dirty="0"/>
          </a:p>
        </p:txBody>
      </p:sp>
      <p:sp>
        <p:nvSpPr>
          <p:cNvPr id="25" name="Text 23"/>
          <p:cNvSpPr/>
          <p:nvPr/>
        </p:nvSpPr>
        <p:spPr>
          <a:xfrm>
            <a:off x="4114800" y="254203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clk</a:t>
            </a:r>
            <a:endParaRPr lang="en-US" sz="1000" dirty="0"/>
          </a:p>
        </p:txBody>
      </p:sp>
      <p:sp>
        <p:nvSpPr>
          <p:cNvPr id="26" name="Shape 24"/>
          <p:cNvSpPr/>
          <p:nvPr/>
        </p:nvSpPr>
        <p:spPr>
          <a:xfrm>
            <a:off x="5715000" y="2926080"/>
            <a:ext cx="502920" cy="0"/>
          </a:xfrm>
          <a:prstGeom prst="line">
            <a:avLst/>
          </a:prstGeom>
          <a:noFill/>
          <a:ln w="25400">
            <a:solidFill>
              <a:srgbClr val="7FA8C9"/>
            </a:solidFill>
            <a:prstDash val="solid"/>
          </a:ln>
        </p:spPr>
      </p:sp>
      <p:sp>
        <p:nvSpPr>
          <p:cNvPr id="27" name="Shape 25"/>
          <p:cNvSpPr/>
          <p:nvPr/>
        </p:nvSpPr>
        <p:spPr>
          <a:xfrm>
            <a:off x="6217920" y="2560320"/>
            <a:ext cx="502920" cy="0"/>
          </a:xfrm>
          <a:prstGeom prst="line">
            <a:avLst/>
          </a:prstGeom>
          <a:noFill/>
          <a:ln w="25400">
            <a:solidFill>
              <a:srgbClr val="7FA8C9"/>
            </a:solidFill>
            <a:prstDash val="solid"/>
          </a:ln>
        </p:spPr>
      </p:sp>
      <p:sp>
        <p:nvSpPr>
          <p:cNvPr id="28" name="Shape 26"/>
          <p:cNvSpPr/>
          <p:nvPr/>
        </p:nvSpPr>
        <p:spPr>
          <a:xfrm>
            <a:off x="6217920" y="2560320"/>
            <a:ext cx="0" cy="365760"/>
          </a:xfrm>
          <a:prstGeom prst="line">
            <a:avLst/>
          </a:prstGeom>
          <a:noFill/>
          <a:ln w="25400">
            <a:solidFill>
              <a:srgbClr val="7FA8C9"/>
            </a:solidFill>
            <a:prstDash val="solid"/>
          </a:ln>
        </p:spPr>
      </p:sp>
      <p:sp>
        <p:nvSpPr>
          <p:cNvPr id="29" name="Shape 27"/>
          <p:cNvSpPr/>
          <p:nvPr/>
        </p:nvSpPr>
        <p:spPr>
          <a:xfrm>
            <a:off x="6720840" y="2926080"/>
            <a:ext cx="502920" cy="0"/>
          </a:xfrm>
          <a:prstGeom prst="line">
            <a:avLst/>
          </a:prstGeom>
          <a:noFill/>
          <a:ln w="25400">
            <a:solidFill>
              <a:srgbClr val="7FA8C9"/>
            </a:solidFill>
            <a:prstDash val="solid"/>
          </a:ln>
        </p:spPr>
      </p:sp>
      <p:sp>
        <p:nvSpPr>
          <p:cNvPr id="30" name="Shape 28"/>
          <p:cNvSpPr/>
          <p:nvPr/>
        </p:nvSpPr>
        <p:spPr>
          <a:xfrm>
            <a:off x="6720840" y="2560320"/>
            <a:ext cx="0" cy="365760"/>
          </a:xfrm>
          <a:prstGeom prst="line">
            <a:avLst/>
          </a:prstGeom>
          <a:noFill/>
          <a:ln w="25400">
            <a:solidFill>
              <a:srgbClr val="7FA8C9"/>
            </a:solidFill>
            <a:prstDash val="solid"/>
          </a:ln>
        </p:spPr>
      </p:sp>
      <p:sp>
        <p:nvSpPr>
          <p:cNvPr id="31" name="Shape 29"/>
          <p:cNvSpPr/>
          <p:nvPr/>
        </p:nvSpPr>
        <p:spPr>
          <a:xfrm>
            <a:off x="7223760" y="2560320"/>
            <a:ext cx="502920" cy="0"/>
          </a:xfrm>
          <a:prstGeom prst="line">
            <a:avLst/>
          </a:prstGeom>
          <a:noFill/>
          <a:ln w="25400">
            <a:solidFill>
              <a:srgbClr val="7FA8C9"/>
            </a:solidFill>
            <a:prstDash val="solid"/>
          </a:ln>
        </p:spPr>
      </p:sp>
      <p:sp>
        <p:nvSpPr>
          <p:cNvPr id="32" name="Shape 30"/>
          <p:cNvSpPr/>
          <p:nvPr/>
        </p:nvSpPr>
        <p:spPr>
          <a:xfrm>
            <a:off x="7223760" y="2560320"/>
            <a:ext cx="0" cy="365760"/>
          </a:xfrm>
          <a:prstGeom prst="line">
            <a:avLst/>
          </a:prstGeom>
          <a:noFill/>
          <a:ln w="25400">
            <a:solidFill>
              <a:srgbClr val="7FA8C9"/>
            </a:solidFill>
            <a:prstDash val="solid"/>
          </a:ln>
        </p:spPr>
      </p:sp>
      <p:sp>
        <p:nvSpPr>
          <p:cNvPr id="33" name="Shape 31"/>
          <p:cNvSpPr/>
          <p:nvPr/>
        </p:nvSpPr>
        <p:spPr>
          <a:xfrm>
            <a:off x="7726680" y="2926080"/>
            <a:ext cx="502920" cy="0"/>
          </a:xfrm>
          <a:prstGeom prst="line">
            <a:avLst/>
          </a:prstGeom>
          <a:noFill/>
          <a:ln w="25400">
            <a:solidFill>
              <a:srgbClr val="7FA8C9"/>
            </a:solidFill>
            <a:prstDash val="solid"/>
          </a:ln>
        </p:spPr>
      </p:sp>
      <p:sp>
        <p:nvSpPr>
          <p:cNvPr id="34" name="Shape 32"/>
          <p:cNvSpPr/>
          <p:nvPr/>
        </p:nvSpPr>
        <p:spPr>
          <a:xfrm>
            <a:off x="7726680" y="2560320"/>
            <a:ext cx="0" cy="365760"/>
          </a:xfrm>
          <a:prstGeom prst="line">
            <a:avLst/>
          </a:prstGeom>
          <a:noFill/>
          <a:ln w="25400">
            <a:solidFill>
              <a:srgbClr val="7FA8C9"/>
            </a:solidFill>
            <a:prstDash val="solid"/>
          </a:ln>
        </p:spPr>
      </p:sp>
      <p:sp>
        <p:nvSpPr>
          <p:cNvPr id="35" name="Shape 33"/>
          <p:cNvSpPr/>
          <p:nvPr/>
        </p:nvSpPr>
        <p:spPr>
          <a:xfrm>
            <a:off x="8229600" y="2560320"/>
            <a:ext cx="502920" cy="0"/>
          </a:xfrm>
          <a:prstGeom prst="line">
            <a:avLst/>
          </a:prstGeom>
          <a:noFill/>
          <a:ln w="25400">
            <a:solidFill>
              <a:srgbClr val="7FA8C9"/>
            </a:solidFill>
            <a:prstDash val="solid"/>
          </a:ln>
        </p:spPr>
      </p:sp>
      <p:sp>
        <p:nvSpPr>
          <p:cNvPr id="36" name="Shape 34"/>
          <p:cNvSpPr/>
          <p:nvPr/>
        </p:nvSpPr>
        <p:spPr>
          <a:xfrm>
            <a:off x="8229600" y="2560320"/>
            <a:ext cx="0" cy="365760"/>
          </a:xfrm>
          <a:prstGeom prst="line">
            <a:avLst/>
          </a:prstGeom>
          <a:noFill/>
          <a:ln w="25400">
            <a:solidFill>
              <a:srgbClr val="7FA8C9"/>
            </a:solidFill>
            <a:prstDash val="solid"/>
          </a:ln>
        </p:spPr>
      </p:sp>
      <p:sp>
        <p:nvSpPr>
          <p:cNvPr id="37" name="Shape 35"/>
          <p:cNvSpPr/>
          <p:nvPr/>
        </p:nvSpPr>
        <p:spPr>
          <a:xfrm>
            <a:off x="8732520" y="2926080"/>
            <a:ext cx="502920" cy="0"/>
          </a:xfrm>
          <a:prstGeom prst="line">
            <a:avLst/>
          </a:prstGeom>
          <a:noFill/>
          <a:ln w="25400">
            <a:solidFill>
              <a:srgbClr val="7FA8C9"/>
            </a:solidFill>
            <a:prstDash val="solid"/>
          </a:ln>
        </p:spPr>
      </p:sp>
      <p:sp>
        <p:nvSpPr>
          <p:cNvPr id="38" name="Shape 36"/>
          <p:cNvSpPr/>
          <p:nvPr/>
        </p:nvSpPr>
        <p:spPr>
          <a:xfrm>
            <a:off x="8732520" y="2560320"/>
            <a:ext cx="0" cy="365760"/>
          </a:xfrm>
          <a:prstGeom prst="line">
            <a:avLst/>
          </a:prstGeom>
          <a:noFill/>
          <a:ln w="25400">
            <a:solidFill>
              <a:srgbClr val="7FA8C9"/>
            </a:solidFill>
            <a:prstDash val="solid"/>
          </a:ln>
        </p:spPr>
      </p:sp>
      <p:sp>
        <p:nvSpPr>
          <p:cNvPr id="39" name="Shape 37"/>
          <p:cNvSpPr/>
          <p:nvPr/>
        </p:nvSpPr>
        <p:spPr>
          <a:xfrm>
            <a:off x="9235440" y="2560320"/>
            <a:ext cx="502920" cy="0"/>
          </a:xfrm>
          <a:prstGeom prst="line">
            <a:avLst/>
          </a:prstGeom>
          <a:noFill/>
          <a:ln w="25400">
            <a:solidFill>
              <a:srgbClr val="7FA8C9"/>
            </a:solidFill>
            <a:prstDash val="solid"/>
          </a:ln>
        </p:spPr>
      </p:sp>
      <p:sp>
        <p:nvSpPr>
          <p:cNvPr id="40" name="Shape 38"/>
          <p:cNvSpPr/>
          <p:nvPr/>
        </p:nvSpPr>
        <p:spPr>
          <a:xfrm>
            <a:off x="9235440" y="2560320"/>
            <a:ext cx="0" cy="365760"/>
          </a:xfrm>
          <a:prstGeom prst="line">
            <a:avLst/>
          </a:prstGeom>
          <a:noFill/>
          <a:ln w="25400">
            <a:solidFill>
              <a:srgbClr val="7FA8C9"/>
            </a:solidFill>
            <a:prstDash val="solid"/>
          </a:ln>
        </p:spPr>
      </p:sp>
      <p:sp>
        <p:nvSpPr>
          <p:cNvPr id="41" name="Shape 39"/>
          <p:cNvSpPr/>
          <p:nvPr/>
        </p:nvSpPr>
        <p:spPr>
          <a:xfrm>
            <a:off x="9738360" y="2926080"/>
            <a:ext cx="502920" cy="0"/>
          </a:xfrm>
          <a:prstGeom prst="line">
            <a:avLst/>
          </a:prstGeom>
          <a:noFill/>
          <a:ln w="25400">
            <a:solidFill>
              <a:srgbClr val="7FA8C9"/>
            </a:solidFill>
            <a:prstDash val="solid"/>
          </a:ln>
        </p:spPr>
      </p:sp>
      <p:sp>
        <p:nvSpPr>
          <p:cNvPr id="42" name="Shape 40"/>
          <p:cNvSpPr/>
          <p:nvPr/>
        </p:nvSpPr>
        <p:spPr>
          <a:xfrm>
            <a:off x="9738360" y="2560320"/>
            <a:ext cx="0" cy="365760"/>
          </a:xfrm>
          <a:prstGeom prst="line">
            <a:avLst/>
          </a:prstGeom>
          <a:noFill/>
          <a:ln w="25400">
            <a:solidFill>
              <a:srgbClr val="7FA8C9"/>
            </a:solidFill>
            <a:prstDash val="solid"/>
          </a:ln>
        </p:spPr>
      </p:sp>
      <p:sp>
        <p:nvSpPr>
          <p:cNvPr id="43" name="Shape 41"/>
          <p:cNvSpPr/>
          <p:nvPr/>
        </p:nvSpPr>
        <p:spPr>
          <a:xfrm>
            <a:off x="10241280" y="2560320"/>
            <a:ext cx="502920" cy="0"/>
          </a:xfrm>
          <a:prstGeom prst="line">
            <a:avLst/>
          </a:prstGeom>
          <a:noFill/>
          <a:ln w="25400">
            <a:solidFill>
              <a:srgbClr val="7FA8C9"/>
            </a:solidFill>
            <a:prstDash val="solid"/>
          </a:ln>
        </p:spPr>
      </p:sp>
      <p:sp>
        <p:nvSpPr>
          <p:cNvPr id="44" name="Shape 42"/>
          <p:cNvSpPr/>
          <p:nvPr/>
        </p:nvSpPr>
        <p:spPr>
          <a:xfrm>
            <a:off x="10241280" y="2560320"/>
            <a:ext cx="0" cy="365760"/>
          </a:xfrm>
          <a:prstGeom prst="line">
            <a:avLst/>
          </a:prstGeom>
          <a:noFill/>
          <a:ln w="25400">
            <a:solidFill>
              <a:srgbClr val="7FA8C9"/>
            </a:solidFill>
            <a:prstDash val="solid"/>
          </a:ln>
        </p:spPr>
      </p:sp>
      <p:sp>
        <p:nvSpPr>
          <p:cNvPr id="45" name="Shape 43"/>
          <p:cNvSpPr/>
          <p:nvPr/>
        </p:nvSpPr>
        <p:spPr>
          <a:xfrm>
            <a:off x="10744200" y="2926080"/>
            <a:ext cx="502920" cy="0"/>
          </a:xfrm>
          <a:prstGeom prst="line">
            <a:avLst/>
          </a:prstGeom>
          <a:noFill/>
          <a:ln w="25400">
            <a:solidFill>
              <a:srgbClr val="7FA8C9"/>
            </a:solidFill>
            <a:prstDash val="solid"/>
          </a:ln>
        </p:spPr>
      </p:sp>
      <p:sp>
        <p:nvSpPr>
          <p:cNvPr id="46" name="Shape 44"/>
          <p:cNvSpPr/>
          <p:nvPr/>
        </p:nvSpPr>
        <p:spPr>
          <a:xfrm>
            <a:off x="10744200" y="2560320"/>
            <a:ext cx="0" cy="365760"/>
          </a:xfrm>
          <a:prstGeom prst="line">
            <a:avLst/>
          </a:prstGeom>
          <a:noFill/>
          <a:ln w="25400">
            <a:solidFill>
              <a:srgbClr val="7FA8C9"/>
            </a:solidFill>
            <a:prstDash val="solid"/>
          </a:ln>
        </p:spPr>
      </p:sp>
      <p:sp>
        <p:nvSpPr>
          <p:cNvPr id="47" name="Text 45"/>
          <p:cNvSpPr/>
          <p:nvPr/>
        </p:nvSpPr>
        <p:spPr>
          <a:xfrm>
            <a:off x="4114800" y="304495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s_valid</a:t>
            </a:r>
            <a:endParaRPr lang="en-US" sz="1000" dirty="0"/>
          </a:p>
        </p:txBody>
      </p:sp>
      <p:sp>
        <p:nvSpPr>
          <p:cNvPr id="48" name="Shape 46"/>
          <p:cNvSpPr/>
          <p:nvPr/>
        </p:nvSpPr>
        <p:spPr>
          <a:xfrm>
            <a:off x="5715000" y="3429000"/>
            <a:ext cx="502920" cy="0"/>
          </a:xfrm>
          <a:prstGeom prst="line">
            <a:avLst/>
          </a:prstGeom>
          <a:noFill/>
          <a:ln w="25400">
            <a:solidFill>
              <a:srgbClr val="18C2B8"/>
            </a:solidFill>
            <a:prstDash val="solid"/>
          </a:ln>
        </p:spPr>
      </p:sp>
      <p:sp>
        <p:nvSpPr>
          <p:cNvPr id="49" name="Shape 47"/>
          <p:cNvSpPr/>
          <p:nvPr/>
        </p:nvSpPr>
        <p:spPr>
          <a:xfrm>
            <a:off x="6217920" y="3063240"/>
            <a:ext cx="502920" cy="0"/>
          </a:xfrm>
          <a:prstGeom prst="line">
            <a:avLst/>
          </a:prstGeom>
          <a:noFill/>
          <a:ln w="25400">
            <a:solidFill>
              <a:srgbClr val="18C2B8"/>
            </a:solidFill>
            <a:prstDash val="solid"/>
          </a:ln>
        </p:spPr>
      </p:sp>
      <p:sp>
        <p:nvSpPr>
          <p:cNvPr id="50" name="Shape 48"/>
          <p:cNvSpPr/>
          <p:nvPr/>
        </p:nvSpPr>
        <p:spPr>
          <a:xfrm>
            <a:off x="6217920" y="3063240"/>
            <a:ext cx="0" cy="365760"/>
          </a:xfrm>
          <a:prstGeom prst="line">
            <a:avLst/>
          </a:prstGeom>
          <a:noFill/>
          <a:ln w="25400">
            <a:solidFill>
              <a:srgbClr val="18C2B8"/>
            </a:solidFill>
            <a:prstDash val="solid"/>
          </a:ln>
        </p:spPr>
      </p:sp>
      <p:sp>
        <p:nvSpPr>
          <p:cNvPr id="51" name="Shape 49"/>
          <p:cNvSpPr/>
          <p:nvPr/>
        </p:nvSpPr>
        <p:spPr>
          <a:xfrm>
            <a:off x="6720840" y="3063240"/>
            <a:ext cx="502920" cy="0"/>
          </a:xfrm>
          <a:prstGeom prst="line">
            <a:avLst/>
          </a:prstGeom>
          <a:noFill/>
          <a:ln w="25400">
            <a:solidFill>
              <a:srgbClr val="18C2B8"/>
            </a:solidFill>
            <a:prstDash val="solid"/>
          </a:ln>
        </p:spPr>
      </p:sp>
      <p:sp>
        <p:nvSpPr>
          <p:cNvPr id="52" name="Shape 50"/>
          <p:cNvSpPr/>
          <p:nvPr/>
        </p:nvSpPr>
        <p:spPr>
          <a:xfrm>
            <a:off x="7223760" y="3063240"/>
            <a:ext cx="502920" cy="0"/>
          </a:xfrm>
          <a:prstGeom prst="line">
            <a:avLst/>
          </a:prstGeom>
          <a:noFill/>
          <a:ln w="25400">
            <a:solidFill>
              <a:srgbClr val="18C2B8"/>
            </a:solidFill>
            <a:prstDash val="solid"/>
          </a:ln>
        </p:spPr>
      </p:sp>
      <p:sp>
        <p:nvSpPr>
          <p:cNvPr id="53" name="Shape 51"/>
          <p:cNvSpPr/>
          <p:nvPr/>
        </p:nvSpPr>
        <p:spPr>
          <a:xfrm>
            <a:off x="7726680" y="3063240"/>
            <a:ext cx="502920" cy="0"/>
          </a:xfrm>
          <a:prstGeom prst="line">
            <a:avLst/>
          </a:prstGeom>
          <a:noFill/>
          <a:ln w="25400">
            <a:solidFill>
              <a:srgbClr val="18C2B8"/>
            </a:solidFill>
            <a:prstDash val="solid"/>
          </a:ln>
        </p:spPr>
      </p:sp>
      <p:sp>
        <p:nvSpPr>
          <p:cNvPr id="54" name="Shape 52"/>
          <p:cNvSpPr/>
          <p:nvPr/>
        </p:nvSpPr>
        <p:spPr>
          <a:xfrm>
            <a:off x="8229600" y="3063240"/>
            <a:ext cx="502920" cy="0"/>
          </a:xfrm>
          <a:prstGeom prst="line">
            <a:avLst/>
          </a:prstGeom>
          <a:noFill/>
          <a:ln w="25400">
            <a:solidFill>
              <a:srgbClr val="18C2B8"/>
            </a:solidFill>
            <a:prstDash val="solid"/>
          </a:ln>
        </p:spPr>
      </p:sp>
      <p:sp>
        <p:nvSpPr>
          <p:cNvPr id="55" name="Shape 53"/>
          <p:cNvSpPr/>
          <p:nvPr/>
        </p:nvSpPr>
        <p:spPr>
          <a:xfrm>
            <a:off x="8732520" y="3063240"/>
            <a:ext cx="502920" cy="0"/>
          </a:xfrm>
          <a:prstGeom prst="line">
            <a:avLst/>
          </a:prstGeom>
          <a:noFill/>
          <a:ln w="25400">
            <a:solidFill>
              <a:srgbClr val="18C2B8"/>
            </a:solidFill>
            <a:prstDash val="solid"/>
          </a:ln>
        </p:spPr>
      </p:sp>
      <p:sp>
        <p:nvSpPr>
          <p:cNvPr id="56" name="Shape 54"/>
          <p:cNvSpPr/>
          <p:nvPr/>
        </p:nvSpPr>
        <p:spPr>
          <a:xfrm>
            <a:off x="9235440" y="3429000"/>
            <a:ext cx="502920" cy="0"/>
          </a:xfrm>
          <a:prstGeom prst="line">
            <a:avLst/>
          </a:prstGeom>
          <a:noFill/>
          <a:ln w="25400">
            <a:solidFill>
              <a:srgbClr val="18C2B8"/>
            </a:solidFill>
            <a:prstDash val="solid"/>
          </a:ln>
        </p:spPr>
      </p:sp>
      <p:sp>
        <p:nvSpPr>
          <p:cNvPr id="57" name="Shape 55"/>
          <p:cNvSpPr/>
          <p:nvPr/>
        </p:nvSpPr>
        <p:spPr>
          <a:xfrm>
            <a:off x="9235440" y="3063240"/>
            <a:ext cx="0" cy="365760"/>
          </a:xfrm>
          <a:prstGeom prst="line">
            <a:avLst/>
          </a:prstGeom>
          <a:noFill/>
          <a:ln w="25400">
            <a:solidFill>
              <a:srgbClr val="18C2B8"/>
            </a:solidFill>
            <a:prstDash val="solid"/>
          </a:ln>
        </p:spPr>
      </p:sp>
      <p:sp>
        <p:nvSpPr>
          <p:cNvPr id="58" name="Shape 56"/>
          <p:cNvSpPr/>
          <p:nvPr/>
        </p:nvSpPr>
        <p:spPr>
          <a:xfrm>
            <a:off x="9738360" y="3429000"/>
            <a:ext cx="502920" cy="0"/>
          </a:xfrm>
          <a:prstGeom prst="line">
            <a:avLst/>
          </a:prstGeom>
          <a:noFill/>
          <a:ln w="25400">
            <a:solidFill>
              <a:srgbClr val="18C2B8"/>
            </a:solidFill>
            <a:prstDash val="solid"/>
          </a:ln>
        </p:spPr>
      </p:sp>
      <p:sp>
        <p:nvSpPr>
          <p:cNvPr id="59" name="Shape 57"/>
          <p:cNvSpPr/>
          <p:nvPr/>
        </p:nvSpPr>
        <p:spPr>
          <a:xfrm>
            <a:off x="10241280" y="3429000"/>
            <a:ext cx="502920" cy="0"/>
          </a:xfrm>
          <a:prstGeom prst="line">
            <a:avLst/>
          </a:prstGeom>
          <a:noFill/>
          <a:ln w="25400">
            <a:solidFill>
              <a:srgbClr val="18C2B8"/>
            </a:solidFill>
            <a:prstDash val="solid"/>
          </a:ln>
        </p:spPr>
      </p:sp>
      <p:sp>
        <p:nvSpPr>
          <p:cNvPr id="60" name="Shape 58"/>
          <p:cNvSpPr/>
          <p:nvPr/>
        </p:nvSpPr>
        <p:spPr>
          <a:xfrm>
            <a:off x="10744200" y="3429000"/>
            <a:ext cx="502920" cy="0"/>
          </a:xfrm>
          <a:prstGeom prst="line">
            <a:avLst/>
          </a:prstGeom>
          <a:noFill/>
          <a:ln w="25400">
            <a:solidFill>
              <a:srgbClr val="18C2B8"/>
            </a:solidFill>
            <a:prstDash val="solid"/>
          </a:ln>
        </p:spPr>
      </p:sp>
      <p:sp>
        <p:nvSpPr>
          <p:cNvPr id="61" name="Text 59"/>
          <p:cNvSpPr/>
          <p:nvPr/>
        </p:nvSpPr>
        <p:spPr>
          <a:xfrm>
            <a:off x="4114800" y="354787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s_ready</a:t>
            </a:r>
            <a:endParaRPr lang="en-US" sz="1000" dirty="0"/>
          </a:p>
        </p:txBody>
      </p:sp>
      <p:sp>
        <p:nvSpPr>
          <p:cNvPr id="62" name="Shape 60"/>
          <p:cNvSpPr/>
          <p:nvPr/>
        </p:nvSpPr>
        <p:spPr>
          <a:xfrm>
            <a:off x="5715000" y="3566160"/>
            <a:ext cx="502920" cy="0"/>
          </a:xfrm>
          <a:prstGeom prst="line">
            <a:avLst/>
          </a:prstGeom>
          <a:noFill/>
          <a:ln w="25400">
            <a:solidFill>
              <a:srgbClr val="18C2B8"/>
            </a:solidFill>
            <a:prstDash val="solid"/>
          </a:ln>
        </p:spPr>
      </p:sp>
      <p:sp>
        <p:nvSpPr>
          <p:cNvPr id="63" name="Shape 61"/>
          <p:cNvSpPr/>
          <p:nvPr/>
        </p:nvSpPr>
        <p:spPr>
          <a:xfrm>
            <a:off x="6217920" y="3566160"/>
            <a:ext cx="502920" cy="0"/>
          </a:xfrm>
          <a:prstGeom prst="line">
            <a:avLst/>
          </a:prstGeom>
          <a:noFill/>
          <a:ln w="25400">
            <a:solidFill>
              <a:srgbClr val="18C2B8"/>
            </a:solidFill>
            <a:prstDash val="solid"/>
          </a:ln>
        </p:spPr>
      </p:sp>
      <p:sp>
        <p:nvSpPr>
          <p:cNvPr id="64" name="Shape 62"/>
          <p:cNvSpPr/>
          <p:nvPr/>
        </p:nvSpPr>
        <p:spPr>
          <a:xfrm>
            <a:off x="6720840" y="3566160"/>
            <a:ext cx="502920" cy="0"/>
          </a:xfrm>
          <a:prstGeom prst="line">
            <a:avLst/>
          </a:prstGeom>
          <a:noFill/>
          <a:ln w="25400">
            <a:solidFill>
              <a:srgbClr val="18C2B8"/>
            </a:solidFill>
            <a:prstDash val="solid"/>
          </a:ln>
        </p:spPr>
      </p:sp>
      <p:sp>
        <p:nvSpPr>
          <p:cNvPr id="65" name="Shape 63"/>
          <p:cNvSpPr/>
          <p:nvPr/>
        </p:nvSpPr>
        <p:spPr>
          <a:xfrm>
            <a:off x="7223760" y="3931920"/>
            <a:ext cx="502920" cy="0"/>
          </a:xfrm>
          <a:prstGeom prst="line">
            <a:avLst/>
          </a:prstGeom>
          <a:noFill/>
          <a:ln w="25400">
            <a:solidFill>
              <a:srgbClr val="18C2B8"/>
            </a:solidFill>
            <a:prstDash val="solid"/>
          </a:ln>
        </p:spPr>
      </p:sp>
      <p:sp>
        <p:nvSpPr>
          <p:cNvPr id="66" name="Shape 64"/>
          <p:cNvSpPr/>
          <p:nvPr/>
        </p:nvSpPr>
        <p:spPr>
          <a:xfrm>
            <a:off x="7223760" y="3566160"/>
            <a:ext cx="0" cy="365760"/>
          </a:xfrm>
          <a:prstGeom prst="line">
            <a:avLst/>
          </a:prstGeom>
          <a:noFill/>
          <a:ln w="25400">
            <a:solidFill>
              <a:srgbClr val="18C2B8"/>
            </a:solidFill>
            <a:prstDash val="solid"/>
          </a:ln>
        </p:spPr>
      </p:sp>
      <p:sp>
        <p:nvSpPr>
          <p:cNvPr id="67" name="Shape 65"/>
          <p:cNvSpPr/>
          <p:nvPr/>
        </p:nvSpPr>
        <p:spPr>
          <a:xfrm>
            <a:off x="7726680" y="3931920"/>
            <a:ext cx="502920" cy="0"/>
          </a:xfrm>
          <a:prstGeom prst="line">
            <a:avLst/>
          </a:prstGeom>
          <a:noFill/>
          <a:ln w="25400">
            <a:solidFill>
              <a:srgbClr val="18C2B8"/>
            </a:solidFill>
            <a:prstDash val="solid"/>
          </a:ln>
        </p:spPr>
      </p:sp>
      <p:sp>
        <p:nvSpPr>
          <p:cNvPr id="68" name="Shape 66"/>
          <p:cNvSpPr/>
          <p:nvPr/>
        </p:nvSpPr>
        <p:spPr>
          <a:xfrm>
            <a:off x="8229600" y="3566160"/>
            <a:ext cx="502920" cy="0"/>
          </a:xfrm>
          <a:prstGeom prst="line">
            <a:avLst/>
          </a:prstGeom>
          <a:noFill/>
          <a:ln w="25400">
            <a:solidFill>
              <a:srgbClr val="18C2B8"/>
            </a:solidFill>
            <a:prstDash val="solid"/>
          </a:ln>
        </p:spPr>
      </p:sp>
      <p:sp>
        <p:nvSpPr>
          <p:cNvPr id="69" name="Shape 67"/>
          <p:cNvSpPr/>
          <p:nvPr/>
        </p:nvSpPr>
        <p:spPr>
          <a:xfrm>
            <a:off x="8229600" y="3566160"/>
            <a:ext cx="0" cy="365760"/>
          </a:xfrm>
          <a:prstGeom prst="line">
            <a:avLst/>
          </a:prstGeom>
          <a:noFill/>
          <a:ln w="25400">
            <a:solidFill>
              <a:srgbClr val="18C2B8"/>
            </a:solidFill>
            <a:prstDash val="solid"/>
          </a:ln>
        </p:spPr>
      </p:sp>
      <p:sp>
        <p:nvSpPr>
          <p:cNvPr id="70" name="Shape 68"/>
          <p:cNvSpPr/>
          <p:nvPr/>
        </p:nvSpPr>
        <p:spPr>
          <a:xfrm>
            <a:off x="8732520" y="3566160"/>
            <a:ext cx="502920" cy="0"/>
          </a:xfrm>
          <a:prstGeom prst="line">
            <a:avLst/>
          </a:prstGeom>
          <a:noFill/>
          <a:ln w="25400">
            <a:solidFill>
              <a:srgbClr val="18C2B8"/>
            </a:solidFill>
            <a:prstDash val="solid"/>
          </a:ln>
        </p:spPr>
      </p:sp>
      <p:sp>
        <p:nvSpPr>
          <p:cNvPr id="71" name="Shape 69"/>
          <p:cNvSpPr/>
          <p:nvPr/>
        </p:nvSpPr>
        <p:spPr>
          <a:xfrm>
            <a:off x="9235440" y="3566160"/>
            <a:ext cx="502920" cy="0"/>
          </a:xfrm>
          <a:prstGeom prst="line">
            <a:avLst/>
          </a:prstGeom>
          <a:noFill/>
          <a:ln w="25400">
            <a:solidFill>
              <a:srgbClr val="18C2B8"/>
            </a:solidFill>
            <a:prstDash val="solid"/>
          </a:ln>
        </p:spPr>
      </p:sp>
      <p:sp>
        <p:nvSpPr>
          <p:cNvPr id="72" name="Shape 70"/>
          <p:cNvSpPr/>
          <p:nvPr/>
        </p:nvSpPr>
        <p:spPr>
          <a:xfrm>
            <a:off x="9738360" y="3566160"/>
            <a:ext cx="502920" cy="0"/>
          </a:xfrm>
          <a:prstGeom prst="line">
            <a:avLst/>
          </a:prstGeom>
          <a:noFill/>
          <a:ln w="25400">
            <a:solidFill>
              <a:srgbClr val="18C2B8"/>
            </a:solidFill>
            <a:prstDash val="solid"/>
          </a:ln>
        </p:spPr>
      </p:sp>
      <p:sp>
        <p:nvSpPr>
          <p:cNvPr id="73" name="Shape 71"/>
          <p:cNvSpPr/>
          <p:nvPr/>
        </p:nvSpPr>
        <p:spPr>
          <a:xfrm>
            <a:off x="10241280" y="3566160"/>
            <a:ext cx="502920" cy="0"/>
          </a:xfrm>
          <a:prstGeom prst="line">
            <a:avLst/>
          </a:prstGeom>
          <a:noFill/>
          <a:ln w="25400">
            <a:solidFill>
              <a:srgbClr val="18C2B8"/>
            </a:solidFill>
            <a:prstDash val="solid"/>
          </a:ln>
        </p:spPr>
      </p:sp>
      <p:sp>
        <p:nvSpPr>
          <p:cNvPr id="74" name="Shape 72"/>
          <p:cNvSpPr/>
          <p:nvPr/>
        </p:nvSpPr>
        <p:spPr>
          <a:xfrm>
            <a:off x="10744200" y="3566160"/>
            <a:ext cx="502920" cy="0"/>
          </a:xfrm>
          <a:prstGeom prst="line">
            <a:avLst/>
          </a:prstGeom>
          <a:noFill/>
          <a:ln w="25400">
            <a:solidFill>
              <a:srgbClr val="18C2B8"/>
            </a:solidFill>
            <a:prstDash val="solid"/>
          </a:ln>
        </p:spPr>
      </p:sp>
      <p:sp>
        <p:nvSpPr>
          <p:cNvPr id="75" name="Text 73"/>
          <p:cNvSpPr/>
          <p:nvPr/>
        </p:nvSpPr>
        <p:spPr>
          <a:xfrm>
            <a:off x="4114800" y="405079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s_data</a:t>
            </a:r>
            <a:endParaRPr lang="en-US" sz="1000" dirty="0"/>
          </a:p>
        </p:txBody>
      </p:sp>
      <p:sp>
        <p:nvSpPr>
          <p:cNvPr id="76" name="Shape 74"/>
          <p:cNvSpPr/>
          <p:nvPr/>
        </p:nvSpPr>
        <p:spPr>
          <a:xfrm>
            <a:off x="5715000" y="4251960"/>
            <a:ext cx="502920" cy="0"/>
          </a:xfrm>
          <a:prstGeom prst="line">
            <a:avLst/>
          </a:prstGeom>
          <a:noFill/>
          <a:ln w="19050">
            <a:solidFill>
              <a:srgbClr val="3A536B"/>
            </a:solidFill>
            <a:prstDash val="dash"/>
          </a:ln>
        </p:spPr>
      </p:sp>
      <p:sp>
        <p:nvSpPr>
          <p:cNvPr id="77" name="Shape 75"/>
          <p:cNvSpPr/>
          <p:nvPr/>
        </p:nvSpPr>
        <p:spPr>
          <a:xfrm>
            <a:off x="6245352" y="4087368"/>
            <a:ext cx="448056" cy="329184"/>
          </a:xfrm>
          <a:prstGeom prst="roundRect">
            <a:avLst>
              <a:gd name="adj" fmla="val 11111"/>
            </a:avLst>
          </a:prstGeom>
          <a:solidFill>
            <a:srgbClr val="1B3A5B"/>
          </a:solidFill>
          <a:ln w="17780">
            <a:solidFill>
              <a:srgbClr val="18C2B8"/>
            </a:solidFill>
            <a:prstDash val="solid"/>
          </a:ln>
        </p:spPr>
      </p:sp>
      <p:sp>
        <p:nvSpPr>
          <p:cNvPr id="78" name="Text 76"/>
          <p:cNvSpPr/>
          <p:nvPr/>
        </p:nvSpPr>
        <p:spPr>
          <a:xfrm>
            <a:off x="6217920" y="4069080"/>
            <a:ext cx="50292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D0</a:t>
            </a:r>
            <a:endParaRPr lang="en-US" sz="950" dirty="0"/>
          </a:p>
        </p:txBody>
      </p:sp>
      <p:sp>
        <p:nvSpPr>
          <p:cNvPr id="79" name="Shape 77"/>
          <p:cNvSpPr/>
          <p:nvPr/>
        </p:nvSpPr>
        <p:spPr>
          <a:xfrm>
            <a:off x="6748272" y="4087368"/>
            <a:ext cx="448056" cy="329184"/>
          </a:xfrm>
          <a:prstGeom prst="roundRect">
            <a:avLst>
              <a:gd name="adj" fmla="val 11111"/>
            </a:avLst>
          </a:prstGeom>
          <a:solidFill>
            <a:srgbClr val="1B3A5B"/>
          </a:solidFill>
          <a:ln w="17780">
            <a:solidFill>
              <a:srgbClr val="18C2B8"/>
            </a:solidFill>
            <a:prstDash val="solid"/>
          </a:ln>
        </p:spPr>
      </p:sp>
      <p:sp>
        <p:nvSpPr>
          <p:cNvPr id="80" name="Text 78"/>
          <p:cNvSpPr/>
          <p:nvPr/>
        </p:nvSpPr>
        <p:spPr>
          <a:xfrm>
            <a:off x="6720840" y="4069080"/>
            <a:ext cx="50292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D1</a:t>
            </a:r>
            <a:endParaRPr lang="en-US" sz="950" dirty="0"/>
          </a:p>
        </p:txBody>
      </p:sp>
      <p:sp>
        <p:nvSpPr>
          <p:cNvPr id="81" name="Shape 79"/>
          <p:cNvSpPr/>
          <p:nvPr/>
        </p:nvSpPr>
        <p:spPr>
          <a:xfrm>
            <a:off x="7251192" y="4087368"/>
            <a:ext cx="1453896" cy="329184"/>
          </a:xfrm>
          <a:prstGeom prst="roundRect">
            <a:avLst>
              <a:gd name="adj" fmla="val 11111"/>
            </a:avLst>
          </a:prstGeom>
          <a:solidFill>
            <a:srgbClr val="3A2E08"/>
          </a:solidFill>
          <a:ln w="17780">
            <a:solidFill>
              <a:srgbClr val="18C2B8"/>
            </a:solidFill>
            <a:prstDash val="solid"/>
          </a:ln>
        </p:spPr>
      </p:sp>
      <p:sp>
        <p:nvSpPr>
          <p:cNvPr id="82" name="Text 80"/>
          <p:cNvSpPr/>
          <p:nvPr/>
        </p:nvSpPr>
        <p:spPr>
          <a:xfrm>
            <a:off x="7223760" y="4069080"/>
            <a:ext cx="150876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D2</a:t>
            </a:r>
            <a:endParaRPr lang="en-US" sz="950" dirty="0"/>
          </a:p>
        </p:txBody>
      </p:sp>
      <p:sp>
        <p:nvSpPr>
          <p:cNvPr id="83" name="Shape 81"/>
          <p:cNvSpPr/>
          <p:nvPr/>
        </p:nvSpPr>
        <p:spPr>
          <a:xfrm>
            <a:off x="8759952" y="4087368"/>
            <a:ext cx="448056" cy="329184"/>
          </a:xfrm>
          <a:prstGeom prst="roundRect">
            <a:avLst>
              <a:gd name="adj" fmla="val 11111"/>
            </a:avLst>
          </a:prstGeom>
          <a:solidFill>
            <a:srgbClr val="1B3A5B"/>
          </a:solidFill>
          <a:ln w="17780">
            <a:solidFill>
              <a:srgbClr val="18C2B8"/>
            </a:solidFill>
            <a:prstDash val="solid"/>
          </a:ln>
        </p:spPr>
      </p:sp>
      <p:sp>
        <p:nvSpPr>
          <p:cNvPr id="84" name="Text 82"/>
          <p:cNvSpPr/>
          <p:nvPr/>
        </p:nvSpPr>
        <p:spPr>
          <a:xfrm>
            <a:off x="8732520" y="4069080"/>
            <a:ext cx="502920" cy="365760"/>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D3</a:t>
            </a:r>
            <a:endParaRPr lang="en-US" sz="950" dirty="0"/>
          </a:p>
        </p:txBody>
      </p:sp>
      <p:sp>
        <p:nvSpPr>
          <p:cNvPr id="85" name="Shape 83"/>
          <p:cNvSpPr/>
          <p:nvPr/>
        </p:nvSpPr>
        <p:spPr>
          <a:xfrm>
            <a:off x="9235440" y="4251960"/>
            <a:ext cx="2011680" cy="0"/>
          </a:xfrm>
          <a:prstGeom prst="line">
            <a:avLst/>
          </a:prstGeom>
          <a:noFill/>
          <a:ln w="19050">
            <a:solidFill>
              <a:srgbClr val="3A536B"/>
            </a:solidFill>
            <a:prstDash val="dash"/>
          </a:ln>
        </p:spPr>
      </p:sp>
      <p:sp>
        <p:nvSpPr>
          <p:cNvPr id="86" name="Text 84"/>
          <p:cNvSpPr/>
          <p:nvPr/>
        </p:nvSpPr>
        <p:spPr>
          <a:xfrm>
            <a:off x="4114800" y="455371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m_valid</a:t>
            </a:r>
            <a:endParaRPr lang="en-US" sz="1000" dirty="0"/>
          </a:p>
        </p:txBody>
      </p:sp>
      <p:sp>
        <p:nvSpPr>
          <p:cNvPr id="87" name="Shape 85"/>
          <p:cNvSpPr/>
          <p:nvPr/>
        </p:nvSpPr>
        <p:spPr>
          <a:xfrm>
            <a:off x="5715000" y="4937760"/>
            <a:ext cx="502920" cy="0"/>
          </a:xfrm>
          <a:prstGeom prst="line">
            <a:avLst/>
          </a:prstGeom>
          <a:noFill/>
          <a:ln w="25400">
            <a:solidFill>
              <a:srgbClr val="F4A825"/>
            </a:solidFill>
            <a:prstDash val="solid"/>
          </a:ln>
        </p:spPr>
      </p:sp>
      <p:sp>
        <p:nvSpPr>
          <p:cNvPr id="88" name="Shape 86"/>
          <p:cNvSpPr/>
          <p:nvPr/>
        </p:nvSpPr>
        <p:spPr>
          <a:xfrm>
            <a:off x="6217920" y="4937760"/>
            <a:ext cx="502920" cy="0"/>
          </a:xfrm>
          <a:prstGeom prst="line">
            <a:avLst/>
          </a:prstGeom>
          <a:noFill/>
          <a:ln w="25400">
            <a:solidFill>
              <a:srgbClr val="F4A825"/>
            </a:solidFill>
            <a:prstDash val="solid"/>
          </a:ln>
        </p:spPr>
      </p:sp>
      <p:sp>
        <p:nvSpPr>
          <p:cNvPr id="89" name="Shape 87"/>
          <p:cNvSpPr/>
          <p:nvPr/>
        </p:nvSpPr>
        <p:spPr>
          <a:xfrm>
            <a:off x="6720840" y="4572000"/>
            <a:ext cx="502920" cy="0"/>
          </a:xfrm>
          <a:prstGeom prst="line">
            <a:avLst/>
          </a:prstGeom>
          <a:noFill/>
          <a:ln w="25400">
            <a:solidFill>
              <a:srgbClr val="F4A825"/>
            </a:solidFill>
            <a:prstDash val="solid"/>
          </a:ln>
        </p:spPr>
      </p:sp>
      <p:sp>
        <p:nvSpPr>
          <p:cNvPr id="90" name="Shape 88"/>
          <p:cNvSpPr/>
          <p:nvPr/>
        </p:nvSpPr>
        <p:spPr>
          <a:xfrm>
            <a:off x="6720840" y="4572000"/>
            <a:ext cx="0" cy="365760"/>
          </a:xfrm>
          <a:prstGeom prst="line">
            <a:avLst/>
          </a:prstGeom>
          <a:noFill/>
          <a:ln w="25400">
            <a:solidFill>
              <a:srgbClr val="F4A825"/>
            </a:solidFill>
            <a:prstDash val="solid"/>
          </a:ln>
        </p:spPr>
      </p:sp>
      <p:sp>
        <p:nvSpPr>
          <p:cNvPr id="91" name="Shape 89"/>
          <p:cNvSpPr/>
          <p:nvPr/>
        </p:nvSpPr>
        <p:spPr>
          <a:xfrm>
            <a:off x="7223760" y="4572000"/>
            <a:ext cx="502920" cy="0"/>
          </a:xfrm>
          <a:prstGeom prst="line">
            <a:avLst/>
          </a:prstGeom>
          <a:noFill/>
          <a:ln w="25400">
            <a:solidFill>
              <a:srgbClr val="F4A825"/>
            </a:solidFill>
            <a:prstDash val="solid"/>
          </a:ln>
        </p:spPr>
      </p:sp>
      <p:sp>
        <p:nvSpPr>
          <p:cNvPr id="92" name="Shape 90"/>
          <p:cNvSpPr/>
          <p:nvPr/>
        </p:nvSpPr>
        <p:spPr>
          <a:xfrm>
            <a:off x="7726680" y="4572000"/>
            <a:ext cx="502920" cy="0"/>
          </a:xfrm>
          <a:prstGeom prst="line">
            <a:avLst/>
          </a:prstGeom>
          <a:noFill/>
          <a:ln w="25400">
            <a:solidFill>
              <a:srgbClr val="F4A825"/>
            </a:solidFill>
            <a:prstDash val="solid"/>
          </a:ln>
        </p:spPr>
      </p:sp>
      <p:sp>
        <p:nvSpPr>
          <p:cNvPr id="93" name="Shape 91"/>
          <p:cNvSpPr/>
          <p:nvPr/>
        </p:nvSpPr>
        <p:spPr>
          <a:xfrm>
            <a:off x="8229600" y="4572000"/>
            <a:ext cx="502920" cy="0"/>
          </a:xfrm>
          <a:prstGeom prst="line">
            <a:avLst/>
          </a:prstGeom>
          <a:noFill/>
          <a:ln w="25400">
            <a:solidFill>
              <a:srgbClr val="F4A825"/>
            </a:solidFill>
            <a:prstDash val="solid"/>
          </a:ln>
        </p:spPr>
      </p:sp>
      <p:sp>
        <p:nvSpPr>
          <p:cNvPr id="94" name="Shape 92"/>
          <p:cNvSpPr/>
          <p:nvPr/>
        </p:nvSpPr>
        <p:spPr>
          <a:xfrm>
            <a:off x="8732520" y="4572000"/>
            <a:ext cx="502920" cy="0"/>
          </a:xfrm>
          <a:prstGeom prst="line">
            <a:avLst/>
          </a:prstGeom>
          <a:noFill/>
          <a:ln w="25400">
            <a:solidFill>
              <a:srgbClr val="F4A825"/>
            </a:solidFill>
            <a:prstDash val="solid"/>
          </a:ln>
        </p:spPr>
      </p:sp>
      <p:sp>
        <p:nvSpPr>
          <p:cNvPr id="95" name="Shape 93"/>
          <p:cNvSpPr/>
          <p:nvPr/>
        </p:nvSpPr>
        <p:spPr>
          <a:xfrm>
            <a:off x="9235440" y="4572000"/>
            <a:ext cx="502920" cy="0"/>
          </a:xfrm>
          <a:prstGeom prst="line">
            <a:avLst/>
          </a:prstGeom>
          <a:noFill/>
          <a:ln w="25400">
            <a:solidFill>
              <a:srgbClr val="F4A825"/>
            </a:solidFill>
            <a:prstDash val="solid"/>
          </a:ln>
        </p:spPr>
      </p:sp>
      <p:sp>
        <p:nvSpPr>
          <p:cNvPr id="96" name="Shape 94"/>
          <p:cNvSpPr/>
          <p:nvPr/>
        </p:nvSpPr>
        <p:spPr>
          <a:xfrm>
            <a:off x="9738360" y="4937760"/>
            <a:ext cx="502920" cy="0"/>
          </a:xfrm>
          <a:prstGeom prst="line">
            <a:avLst/>
          </a:prstGeom>
          <a:noFill/>
          <a:ln w="25400">
            <a:solidFill>
              <a:srgbClr val="F4A825"/>
            </a:solidFill>
            <a:prstDash val="solid"/>
          </a:ln>
        </p:spPr>
      </p:sp>
      <p:sp>
        <p:nvSpPr>
          <p:cNvPr id="97" name="Shape 95"/>
          <p:cNvSpPr/>
          <p:nvPr/>
        </p:nvSpPr>
        <p:spPr>
          <a:xfrm>
            <a:off x="9738360" y="4572000"/>
            <a:ext cx="0" cy="365760"/>
          </a:xfrm>
          <a:prstGeom prst="line">
            <a:avLst/>
          </a:prstGeom>
          <a:noFill/>
          <a:ln w="25400">
            <a:solidFill>
              <a:srgbClr val="F4A825"/>
            </a:solidFill>
            <a:prstDash val="solid"/>
          </a:ln>
        </p:spPr>
      </p:sp>
      <p:sp>
        <p:nvSpPr>
          <p:cNvPr id="98" name="Shape 96"/>
          <p:cNvSpPr/>
          <p:nvPr/>
        </p:nvSpPr>
        <p:spPr>
          <a:xfrm>
            <a:off x="10241280" y="4937760"/>
            <a:ext cx="502920" cy="0"/>
          </a:xfrm>
          <a:prstGeom prst="line">
            <a:avLst/>
          </a:prstGeom>
          <a:noFill/>
          <a:ln w="25400">
            <a:solidFill>
              <a:srgbClr val="F4A825"/>
            </a:solidFill>
            <a:prstDash val="solid"/>
          </a:ln>
        </p:spPr>
      </p:sp>
      <p:sp>
        <p:nvSpPr>
          <p:cNvPr id="99" name="Shape 97"/>
          <p:cNvSpPr/>
          <p:nvPr/>
        </p:nvSpPr>
        <p:spPr>
          <a:xfrm>
            <a:off x="10744200" y="4937760"/>
            <a:ext cx="502920" cy="0"/>
          </a:xfrm>
          <a:prstGeom prst="line">
            <a:avLst/>
          </a:prstGeom>
          <a:noFill/>
          <a:ln w="25400">
            <a:solidFill>
              <a:srgbClr val="F4A825"/>
            </a:solidFill>
            <a:prstDash val="solid"/>
          </a:ln>
        </p:spPr>
      </p:sp>
      <p:sp>
        <p:nvSpPr>
          <p:cNvPr id="100" name="Text 98"/>
          <p:cNvSpPr/>
          <p:nvPr/>
        </p:nvSpPr>
        <p:spPr>
          <a:xfrm>
            <a:off x="4114800" y="505663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m_ready</a:t>
            </a:r>
            <a:endParaRPr lang="en-US" sz="1000" dirty="0"/>
          </a:p>
        </p:txBody>
      </p:sp>
      <p:sp>
        <p:nvSpPr>
          <p:cNvPr id="101" name="Shape 99"/>
          <p:cNvSpPr/>
          <p:nvPr/>
        </p:nvSpPr>
        <p:spPr>
          <a:xfrm>
            <a:off x="5715000" y="5074920"/>
            <a:ext cx="502920" cy="0"/>
          </a:xfrm>
          <a:prstGeom prst="line">
            <a:avLst/>
          </a:prstGeom>
          <a:noFill/>
          <a:ln w="25400">
            <a:solidFill>
              <a:srgbClr val="F4A825"/>
            </a:solidFill>
            <a:prstDash val="solid"/>
          </a:ln>
        </p:spPr>
      </p:sp>
      <p:sp>
        <p:nvSpPr>
          <p:cNvPr id="102" name="Shape 100"/>
          <p:cNvSpPr/>
          <p:nvPr/>
        </p:nvSpPr>
        <p:spPr>
          <a:xfrm>
            <a:off x="6217920" y="5074920"/>
            <a:ext cx="502920" cy="0"/>
          </a:xfrm>
          <a:prstGeom prst="line">
            <a:avLst/>
          </a:prstGeom>
          <a:noFill/>
          <a:ln w="25400">
            <a:solidFill>
              <a:srgbClr val="F4A825"/>
            </a:solidFill>
            <a:prstDash val="solid"/>
          </a:ln>
        </p:spPr>
      </p:sp>
      <p:sp>
        <p:nvSpPr>
          <p:cNvPr id="103" name="Shape 101"/>
          <p:cNvSpPr/>
          <p:nvPr/>
        </p:nvSpPr>
        <p:spPr>
          <a:xfrm>
            <a:off x="6720840" y="5074920"/>
            <a:ext cx="502920" cy="0"/>
          </a:xfrm>
          <a:prstGeom prst="line">
            <a:avLst/>
          </a:prstGeom>
          <a:noFill/>
          <a:ln w="25400">
            <a:solidFill>
              <a:srgbClr val="F4A825"/>
            </a:solidFill>
            <a:prstDash val="solid"/>
          </a:ln>
        </p:spPr>
      </p:sp>
      <p:sp>
        <p:nvSpPr>
          <p:cNvPr id="104" name="Shape 102"/>
          <p:cNvSpPr/>
          <p:nvPr/>
        </p:nvSpPr>
        <p:spPr>
          <a:xfrm>
            <a:off x="7223760" y="5074920"/>
            <a:ext cx="502920" cy="0"/>
          </a:xfrm>
          <a:prstGeom prst="line">
            <a:avLst/>
          </a:prstGeom>
          <a:noFill/>
          <a:ln w="25400">
            <a:solidFill>
              <a:srgbClr val="F4A825"/>
            </a:solidFill>
            <a:prstDash val="solid"/>
          </a:ln>
        </p:spPr>
      </p:sp>
      <p:sp>
        <p:nvSpPr>
          <p:cNvPr id="105" name="Shape 103"/>
          <p:cNvSpPr/>
          <p:nvPr/>
        </p:nvSpPr>
        <p:spPr>
          <a:xfrm>
            <a:off x="7726680" y="5074920"/>
            <a:ext cx="502920" cy="0"/>
          </a:xfrm>
          <a:prstGeom prst="line">
            <a:avLst/>
          </a:prstGeom>
          <a:noFill/>
          <a:ln w="25400">
            <a:solidFill>
              <a:srgbClr val="F4A825"/>
            </a:solidFill>
            <a:prstDash val="solid"/>
          </a:ln>
        </p:spPr>
      </p:sp>
      <p:sp>
        <p:nvSpPr>
          <p:cNvPr id="106" name="Shape 104"/>
          <p:cNvSpPr/>
          <p:nvPr/>
        </p:nvSpPr>
        <p:spPr>
          <a:xfrm>
            <a:off x="8229600" y="5074920"/>
            <a:ext cx="502920" cy="0"/>
          </a:xfrm>
          <a:prstGeom prst="line">
            <a:avLst/>
          </a:prstGeom>
          <a:noFill/>
          <a:ln w="25400">
            <a:solidFill>
              <a:srgbClr val="F4A825"/>
            </a:solidFill>
            <a:prstDash val="solid"/>
          </a:ln>
        </p:spPr>
      </p:sp>
      <p:sp>
        <p:nvSpPr>
          <p:cNvPr id="107" name="Shape 105"/>
          <p:cNvSpPr/>
          <p:nvPr/>
        </p:nvSpPr>
        <p:spPr>
          <a:xfrm>
            <a:off x="8732520" y="5074920"/>
            <a:ext cx="502920" cy="0"/>
          </a:xfrm>
          <a:prstGeom prst="line">
            <a:avLst/>
          </a:prstGeom>
          <a:noFill/>
          <a:ln w="25400">
            <a:solidFill>
              <a:srgbClr val="F4A825"/>
            </a:solidFill>
            <a:prstDash val="solid"/>
          </a:ln>
        </p:spPr>
      </p:sp>
      <p:sp>
        <p:nvSpPr>
          <p:cNvPr id="108" name="Shape 106"/>
          <p:cNvSpPr/>
          <p:nvPr/>
        </p:nvSpPr>
        <p:spPr>
          <a:xfrm>
            <a:off x="9235440" y="5074920"/>
            <a:ext cx="502920" cy="0"/>
          </a:xfrm>
          <a:prstGeom prst="line">
            <a:avLst/>
          </a:prstGeom>
          <a:noFill/>
          <a:ln w="25400">
            <a:solidFill>
              <a:srgbClr val="F4A825"/>
            </a:solidFill>
            <a:prstDash val="solid"/>
          </a:ln>
        </p:spPr>
      </p:sp>
      <p:sp>
        <p:nvSpPr>
          <p:cNvPr id="109" name="Shape 107"/>
          <p:cNvSpPr/>
          <p:nvPr/>
        </p:nvSpPr>
        <p:spPr>
          <a:xfrm>
            <a:off x="9738360" y="5074920"/>
            <a:ext cx="502920" cy="0"/>
          </a:xfrm>
          <a:prstGeom prst="line">
            <a:avLst/>
          </a:prstGeom>
          <a:noFill/>
          <a:ln w="25400">
            <a:solidFill>
              <a:srgbClr val="F4A825"/>
            </a:solidFill>
            <a:prstDash val="solid"/>
          </a:ln>
        </p:spPr>
      </p:sp>
      <p:sp>
        <p:nvSpPr>
          <p:cNvPr id="110" name="Shape 108"/>
          <p:cNvSpPr/>
          <p:nvPr/>
        </p:nvSpPr>
        <p:spPr>
          <a:xfrm>
            <a:off x="10241280" y="5074920"/>
            <a:ext cx="502920" cy="0"/>
          </a:xfrm>
          <a:prstGeom prst="line">
            <a:avLst/>
          </a:prstGeom>
          <a:noFill/>
          <a:ln w="25400">
            <a:solidFill>
              <a:srgbClr val="F4A825"/>
            </a:solidFill>
            <a:prstDash val="solid"/>
          </a:ln>
        </p:spPr>
      </p:sp>
      <p:sp>
        <p:nvSpPr>
          <p:cNvPr id="111" name="Shape 109"/>
          <p:cNvSpPr/>
          <p:nvPr/>
        </p:nvSpPr>
        <p:spPr>
          <a:xfrm>
            <a:off x="10744200" y="5074920"/>
            <a:ext cx="502920" cy="0"/>
          </a:xfrm>
          <a:prstGeom prst="line">
            <a:avLst/>
          </a:prstGeom>
          <a:noFill/>
          <a:ln w="25400">
            <a:solidFill>
              <a:srgbClr val="F4A825"/>
            </a:solidFill>
            <a:prstDash val="solid"/>
          </a:ln>
        </p:spPr>
      </p:sp>
      <p:sp>
        <p:nvSpPr>
          <p:cNvPr id="112" name="Text 110"/>
          <p:cNvSpPr/>
          <p:nvPr/>
        </p:nvSpPr>
        <p:spPr>
          <a:xfrm>
            <a:off x="4114800" y="5559552"/>
            <a:ext cx="1481328" cy="402336"/>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m_last</a:t>
            </a:r>
            <a:endParaRPr lang="en-US" sz="1000" dirty="0"/>
          </a:p>
        </p:txBody>
      </p:sp>
      <p:sp>
        <p:nvSpPr>
          <p:cNvPr id="113" name="Shape 111"/>
          <p:cNvSpPr/>
          <p:nvPr/>
        </p:nvSpPr>
        <p:spPr>
          <a:xfrm>
            <a:off x="5715000" y="5943600"/>
            <a:ext cx="502920" cy="0"/>
          </a:xfrm>
          <a:prstGeom prst="line">
            <a:avLst/>
          </a:prstGeom>
          <a:noFill/>
          <a:ln w="25400">
            <a:solidFill>
              <a:srgbClr val="F6C86A"/>
            </a:solidFill>
            <a:prstDash val="solid"/>
          </a:ln>
        </p:spPr>
      </p:sp>
      <p:sp>
        <p:nvSpPr>
          <p:cNvPr id="114" name="Shape 112"/>
          <p:cNvSpPr/>
          <p:nvPr/>
        </p:nvSpPr>
        <p:spPr>
          <a:xfrm>
            <a:off x="6217920" y="5943600"/>
            <a:ext cx="502920" cy="0"/>
          </a:xfrm>
          <a:prstGeom prst="line">
            <a:avLst/>
          </a:prstGeom>
          <a:noFill/>
          <a:ln w="25400">
            <a:solidFill>
              <a:srgbClr val="F6C86A"/>
            </a:solidFill>
            <a:prstDash val="solid"/>
          </a:ln>
        </p:spPr>
      </p:sp>
      <p:sp>
        <p:nvSpPr>
          <p:cNvPr id="115" name="Shape 113"/>
          <p:cNvSpPr/>
          <p:nvPr/>
        </p:nvSpPr>
        <p:spPr>
          <a:xfrm>
            <a:off x="6720840" y="5943600"/>
            <a:ext cx="502920" cy="0"/>
          </a:xfrm>
          <a:prstGeom prst="line">
            <a:avLst/>
          </a:prstGeom>
          <a:noFill/>
          <a:ln w="25400">
            <a:solidFill>
              <a:srgbClr val="F6C86A"/>
            </a:solidFill>
            <a:prstDash val="solid"/>
          </a:ln>
        </p:spPr>
      </p:sp>
      <p:sp>
        <p:nvSpPr>
          <p:cNvPr id="116" name="Shape 114"/>
          <p:cNvSpPr/>
          <p:nvPr/>
        </p:nvSpPr>
        <p:spPr>
          <a:xfrm>
            <a:off x="7223760" y="5943600"/>
            <a:ext cx="502920" cy="0"/>
          </a:xfrm>
          <a:prstGeom prst="line">
            <a:avLst/>
          </a:prstGeom>
          <a:noFill/>
          <a:ln w="25400">
            <a:solidFill>
              <a:srgbClr val="F6C86A"/>
            </a:solidFill>
            <a:prstDash val="solid"/>
          </a:ln>
        </p:spPr>
      </p:sp>
      <p:sp>
        <p:nvSpPr>
          <p:cNvPr id="117" name="Shape 115"/>
          <p:cNvSpPr/>
          <p:nvPr/>
        </p:nvSpPr>
        <p:spPr>
          <a:xfrm>
            <a:off x="7726680" y="5943600"/>
            <a:ext cx="502920" cy="0"/>
          </a:xfrm>
          <a:prstGeom prst="line">
            <a:avLst/>
          </a:prstGeom>
          <a:noFill/>
          <a:ln w="25400">
            <a:solidFill>
              <a:srgbClr val="F6C86A"/>
            </a:solidFill>
            <a:prstDash val="solid"/>
          </a:ln>
        </p:spPr>
      </p:sp>
      <p:sp>
        <p:nvSpPr>
          <p:cNvPr id="118" name="Shape 116"/>
          <p:cNvSpPr/>
          <p:nvPr/>
        </p:nvSpPr>
        <p:spPr>
          <a:xfrm>
            <a:off x="8229600" y="5943600"/>
            <a:ext cx="502920" cy="0"/>
          </a:xfrm>
          <a:prstGeom prst="line">
            <a:avLst/>
          </a:prstGeom>
          <a:noFill/>
          <a:ln w="25400">
            <a:solidFill>
              <a:srgbClr val="F6C86A"/>
            </a:solidFill>
            <a:prstDash val="solid"/>
          </a:ln>
        </p:spPr>
      </p:sp>
      <p:sp>
        <p:nvSpPr>
          <p:cNvPr id="119" name="Shape 117"/>
          <p:cNvSpPr/>
          <p:nvPr/>
        </p:nvSpPr>
        <p:spPr>
          <a:xfrm>
            <a:off x="8732520" y="5943600"/>
            <a:ext cx="502920" cy="0"/>
          </a:xfrm>
          <a:prstGeom prst="line">
            <a:avLst/>
          </a:prstGeom>
          <a:noFill/>
          <a:ln w="25400">
            <a:solidFill>
              <a:srgbClr val="F6C86A"/>
            </a:solidFill>
            <a:prstDash val="solid"/>
          </a:ln>
        </p:spPr>
      </p:sp>
      <p:sp>
        <p:nvSpPr>
          <p:cNvPr id="120" name="Shape 118"/>
          <p:cNvSpPr/>
          <p:nvPr/>
        </p:nvSpPr>
        <p:spPr>
          <a:xfrm>
            <a:off x="9235440" y="5577840"/>
            <a:ext cx="502920" cy="0"/>
          </a:xfrm>
          <a:prstGeom prst="line">
            <a:avLst/>
          </a:prstGeom>
          <a:noFill/>
          <a:ln w="25400">
            <a:solidFill>
              <a:srgbClr val="F6C86A"/>
            </a:solidFill>
            <a:prstDash val="solid"/>
          </a:ln>
        </p:spPr>
      </p:sp>
      <p:sp>
        <p:nvSpPr>
          <p:cNvPr id="121" name="Shape 119"/>
          <p:cNvSpPr/>
          <p:nvPr/>
        </p:nvSpPr>
        <p:spPr>
          <a:xfrm>
            <a:off x="9235440" y="5577840"/>
            <a:ext cx="0" cy="365760"/>
          </a:xfrm>
          <a:prstGeom prst="line">
            <a:avLst/>
          </a:prstGeom>
          <a:noFill/>
          <a:ln w="25400">
            <a:solidFill>
              <a:srgbClr val="F6C86A"/>
            </a:solidFill>
            <a:prstDash val="solid"/>
          </a:ln>
        </p:spPr>
      </p:sp>
      <p:sp>
        <p:nvSpPr>
          <p:cNvPr id="122" name="Shape 120"/>
          <p:cNvSpPr/>
          <p:nvPr/>
        </p:nvSpPr>
        <p:spPr>
          <a:xfrm>
            <a:off x="9738360" y="5943600"/>
            <a:ext cx="502920" cy="0"/>
          </a:xfrm>
          <a:prstGeom prst="line">
            <a:avLst/>
          </a:prstGeom>
          <a:noFill/>
          <a:ln w="25400">
            <a:solidFill>
              <a:srgbClr val="F6C86A"/>
            </a:solidFill>
            <a:prstDash val="solid"/>
          </a:ln>
        </p:spPr>
      </p:sp>
      <p:sp>
        <p:nvSpPr>
          <p:cNvPr id="123" name="Shape 121"/>
          <p:cNvSpPr/>
          <p:nvPr/>
        </p:nvSpPr>
        <p:spPr>
          <a:xfrm>
            <a:off x="9738360" y="5577840"/>
            <a:ext cx="0" cy="365760"/>
          </a:xfrm>
          <a:prstGeom prst="line">
            <a:avLst/>
          </a:prstGeom>
          <a:noFill/>
          <a:ln w="25400">
            <a:solidFill>
              <a:srgbClr val="F6C86A"/>
            </a:solidFill>
            <a:prstDash val="solid"/>
          </a:ln>
        </p:spPr>
      </p:sp>
      <p:sp>
        <p:nvSpPr>
          <p:cNvPr id="124" name="Shape 122"/>
          <p:cNvSpPr/>
          <p:nvPr/>
        </p:nvSpPr>
        <p:spPr>
          <a:xfrm>
            <a:off x="10241280" y="5943600"/>
            <a:ext cx="502920" cy="0"/>
          </a:xfrm>
          <a:prstGeom prst="line">
            <a:avLst/>
          </a:prstGeom>
          <a:noFill/>
          <a:ln w="25400">
            <a:solidFill>
              <a:srgbClr val="F6C86A"/>
            </a:solidFill>
            <a:prstDash val="solid"/>
          </a:ln>
        </p:spPr>
      </p:sp>
      <p:sp>
        <p:nvSpPr>
          <p:cNvPr id="125" name="Shape 123"/>
          <p:cNvSpPr/>
          <p:nvPr/>
        </p:nvSpPr>
        <p:spPr>
          <a:xfrm>
            <a:off x="10744200" y="5943600"/>
            <a:ext cx="502920" cy="0"/>
          </a:xfrm>
          <a:prstGeom prst="line">
            <a:avLst/>
          </a:prstGeom>
          <a:noFill/>
          <a:ln w="25400">
            <a:solidFill>
              <a:srgbClr val="F6C86A"/>
            </a:solidFill>
            <a:prstDash val="solid"/>
          </a:ln>
        </p:spPr>
      </p:sp>
      <p:sp>
        <p:nvSpPr>
          <p:cNvPr id="126" name="Shape 124"/>
          <p:cNvSpPr/>
          <p:nvPr/>
        </p:nvSpPr>
        <p:spPr>
          <a:xfrm>
            <a:off x="7223760" y="2240280"/>
            <a:ext cx="0" cy="3703320"/>
          </a:xfrm>
          <a:prstGeom prst="line">
            <a:avLst/>
          </a:prstGeom>
          <a:noFill/>
          <a:ln w="12700">
            <a:solidFill>
              <a:srgbClr val="E5635E"/>
            </a:solidFill>
            <a:prstDash val="dash"/>
          </a:ln>
        </p:spPr>
      </p:sp>
      <p:sp>
        <p:nvSpPr>
          <p:cNvPr id="127" name="Text 125"/>
          <p:cNvSpPr/>
          <p:nvPr/>
        </p:nvSpPr>
        <p:spPr>
          <a:xfrm>
            <a:off x="6583680" y="2002536"/>
            <a:ext cx="1280160" cy="219456"/>
          </a:xfrm>
          <a:prstGeom prst="rect">
            <a:avLst/>
          </a:prstGeom>
          <a:noFill/>
          <a:ln/>
        </p:spPr>
        <p:txBody>
          <a:bodyPr wrap="square" lIns="0" tIns="0" rIns="0" bIns="0" rtlCol="0" anchor="ctr"/>
          <a:lstStyle/>
          <a:p>
            <a:pPr algn="ctr" indent="0" marL="0">
              <a:buNone/>
            </a:pPr>
            <a:r>
              <a:rPr lang="en-US" sz="850" i="1" dirty="0">
                <a:solidFill>
                  <a:srgbClr val="E5635E"/>
                </a:solidFill>
                <a:latin typeface="Calibri" pitchFamily="34" charset="0"/>
                <a:ea typeface="Calibri" pitchFamily="34" charset="-122"/>
                <a:cs typeface="Calibri" pitchFamily="34" charset="-120"/>
              </a:rPr>
              <a:t>stall</a:t>
            </a:r>
            <a:endParaRPr lang="en-US" sz="850" dirty="0"/>
          </a:p>
        </p:txBody>
      </p:sp>
      <p:sp>
        <p:nvSpPr>
          <p:cNvPr id="128" name="Shape 126"/>
          <p:cNvSpPr/>
          <p:nvPr/>
        </p:nvSpPr>
        <p:spPr>
          <a:xfrm>
            <a:off x="8229600" y="2240280"/>
            <a:ext cx="0" cy="3703320"/>
          </a:xfrm>
          <a:prstGeom prst="line">
            <a:avLst/>
          </a:prstGeom>
          <a:noFill/>
          <a:ln w="12700">
            <a:solidFill>
              <a:srgbClr val="E5635E"/>
            </a:solidFill>
            <a:prstDash val="dash"/>
          </a:ln>
        </p:spPr>
      </p:sp>
      <p:sp>
        <p:nvSpPr>
          <p:cNvPr id="129" name="Text 127"/>
          <p:cNvSpPr/>
          <p:nvPr/>
        </p:nvSpPr>
        <p:spPr>
          <a:xfrm>
            <a:off x="8138160" y="1819656"/>
            <a:ext cx="3291840" cy="365760"/>
          </a:xfrm>
          <a:prstGeom prst="rect">
            <a:avLst/>
          </a:prstGeom>
          <a:noFill/>
          <a:ln/>
        </p:spPr>
        <p:txBody>
          <a:bodyPr wrap="square" lIns="0" tIns="0" rIns="0" bIns="0" rtlCol="0" anchor="t"/>
          <a:lstStyle/>
          <a:p>
            <a:pPr algn="r" indent="0" marL="0">
              <a:buNone/>
            </a:pPr>
            <a:r>
              <a:rPr lang="en-US" sz="950" i="1" dirty="0">
                <a:solidFill>
                  <a:srgbClr val="E5635E"/>
                </a:solidFill>
                <a:latin typeface="Calibri" pitchFamily="34" charset="0"/>
                <a:ea typeface="Calibri" pitchFamily="34" charset="-122"/>
                <a:cs typeface="Calibri" pitchFamily="34" charset="-120"/>
              </a:rPr>
              <a:t>s_ready low → producer stalls, no data lost</a:t>
            </a:r>
            <a:endParaRPr lang="en-US" sz="950" dirty="0"/>
          </a:p>
        </p:txBody>
      </p:sp>
      <p:sp>
        <p:nvSpPr>
          <p:cNvPr id="130" name="Text 128"/>
          <p:cNvSpPr/>
          <p:nvPr/>
        </p:nvSpPr>
        <p:spPr>
          <a:xfrm>
            <a:off x="8807958" y="5559552"/>
            <a:ext cx="1920240" cy="457200"/>
          </a:xfrm>
          <a:prstGeom prst="rect">
            <a:avLst/>
          </a:prstGeom>
          <a:noFill/>
          <a:ln/>
        </p:spPr>
        <p:txBody>
          <a:bodyPr wrap="square" lIns="0" tIns="0" rIns="0" bIns="0" rtlCol="0" anchor="ctr"/>
          <a:lstStyle/>
          <a:p>
            <a:pPr indent="0" marL="0">
              <a:buNone/>
            </a:pPr>
            <a:r>
              <a:rPr lang="en-US" sz="900" i="1" dirty="0">
                <a:solidFill>
                  <a:srgbClr val="F6C86A"/>
                </a:solidFill>
                <a:latin typeface="Calibri" pitchFamily="34" charset="0"/>
                <a:ea typeface="Calibri" pitchFamily="34" charset="-122"/>
                <a:cs typeface="Calibri" pitchFamily="34" charset="-120"/>
              </a:rPr>
              <a:t>last marks the</a:t>
            </a:r>
            <a:endParaRPr lang="en-US" sz="900" dirty="0"/>
          </a:p>
          <a:p>
            <a:pPr indent="0" marL="0">
              <a:buNone/>
            </a:pPr>
            <a:r>
              <a:rPr lang="en-US" sz="900" i="1" dirty="0">
                <a:solidFill>
                  <a:srgbClr val="F6C86A"/>
                </a:solidFill>
                <a:latin typeface="Calibri" pitchFamily="34" charset="0"/>
                <a:ea typeface="Calibri" pitchFamily="34" charset="-122"/>
                <a:cs typeface="Calibri" pitchFamily="34" charset="-120"/>
              </a:rPr>
              <a:t>final byte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SOFTWARE REFERENCE</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LZ77 in C  —  the golden model</a:t>
            </a:r>
            <a:endParaRPr lang="en-US" sz="3100" dirty="0"/>
          </a:p>
        </p:txBody>
      </p:sp>
      <p:sp>
        <p:nvSpPr>
          <p:cNvPr id="5" name="Text 3"/>
          <p:cNvSpPr/>
          <p:nvPr/>
        </p:nvSpPr>
        <p:spPr>
          <a:xfrm>
            <a:off x="566928" y="1261872"/>
            <a:ext cx="10515600" cy="36576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Three C programs pin down exact behaviour before any hardware is written — the RTL is verified against these.</a:t>
            </a:r>
            <a:endParaRPr lang="en-US" sz="1350" dirty="0"/>
          </a:p>
        </p:txBody>
      </p:sp>
      <p:sp>
        <p:nvSpPr>
          <p:cNvPr id="6" name="Shape 4"/>
          <p:cNvSpPr/>
          <p:nvPr/>
        </p:nvSpPr>
        <p:spPr>
          <a:xfrm>
            <a:off x="566928" y="1828800"/>
            <a:ext cx="2926080" cy="4251960"/>
          </a:xfrm>
          <a:prstGeom prst="roundRect">
            <a:avLst>
              <a:gd name="adj" fmla="val 3750"/>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7" name="Text 5"/>
          <p:cNvSpPr/>
          <p:nvPr/>
        </p:nvSpPr>
        <p:spPr>
          <a:xfrm>
            <a:off x="822960" y="1938528"/>
            <a:ext cx="2468880" cy="274320"/>
          </a:xfrm>
          <a:prstGeom prst="rect">
            <a:avLst/>
          </a:prstGeom>
          <a:noFill/>
          <a:ln/>
        </p:spPr>
        <p:txBody>
          <a:bodyPr wrap="square" lIns="0" tIns="0" rIns="0" bIns="0" rtlCol="0" anchor="ctr"/>
          <a:lstStyle/>
          <a:p>
            <a:pPr indent="0" marL="0">
              <a:buNone/>
            </a:pPr>
            <a:r>
              <a:rPr lang="en-US" sz="1400" b="1" dirty="0">
                <a:solidFill>
                  <a:srgbClr val="16324F"/>
                </a:solidFill>
                <a:latin typeface="Cambria" pitchFamily="34" charset="0"/>
                <a:ea typeface="Cambria" pitchFamily="34" charset="-122"/>
                <a:cs typeface="Cambria" pitchFamily="34" charset="-120"/>
              </a:rPr>
              <a:t>Encoder loop</a:t>
            </a:r>
            <a:endParaRPr lang="en-US" sz="1400" dirty="0"/>
          </a:p>
        </p:txBody>
      </p:sp>
      <p:sp>
        <p:nvSpPr>
          <p:cNvPr id="8" name="Shape 6"/>
          <p:cNvSpPr/>
          <p:nvPr/>
        </p:nvSpPr>
        <p:spPr>
          <a:xfrm>
            <a:off x="978408" y="2377440"/>
            <a:ext cx="2103120" cy="502920"/>
          </a:xfrm>
          <a:prstGeom prst="roundRect">
            <a:avLst>
              <a:gd name="adj" fmla="val 12727"/>
            </a:avLst>
          </a:prstGeom>
          <a:solidFill>
            <a:srgbClr val="1B3A5B"/>
          </a:solidFill>
          <a:ln/>
        </p:spPr>
      </p:sp>
      <p:sp>
        <p:nvSpPr>
          <p:cNvPr id="9" name="Text 7"/>
          <p:cNvSpPr/>
          <p:nvPr/>
        </p:nvSpPr>
        <p:spPr>
          <a:xfrm>
            <a:off x="978408" y="2377440"/>
            <a:ext cx="210312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Read input</a:t>
            </a:r>
            <a:endParaRPr lang="en-US" sz="1150" dirty="0"/>
          </a:p>
        </p:txBody>
      </p:sp>
      <p:sp>
        <p:nvSpPr>
          <p:cNvPr id="10" name="Shape 8"/>
          <p:cNvSpPr/>
          <p:nvPr/>
        </p:nvSpPr>
        <p:spPr>
          <a:xfrm rot="5400000">
            <a:off x="1929384" y="2843784"/>
            <a:ext cx="201168" cy="201168"/>
          </a:xfrm>
          <a:prstGeom prst="rightArrow">
            <a:avLst/>
          </a:prstGeom>
          <a:solidFill>
            <a:srgbClr val="5A6B7B"/>
          </a:solidFill>
          <a:ln/>
        </p:spPr>
      </p:sp>
      <p:sp>
        <p:nvSpPr>
          <p:cNvPr id="11" name="Shape 9"/>
          <p:cNvSpPr/>
          <p:nvPr/>
        </p:nvSpPr>
        <p:spPr>
          <a:xfrm>
            <a:off x="978408" y="3008376"/>
            <a:ext cx="2103120" cy="502920"/>
          </a:xfrm>
          <a:prstGeom prst="roundRect">
            <a:avLst>
              <a:gd name="adj" fmla="val 12727"/>
            </a:avLst>
          </a:prstGeom>
          <a:solidFill>
            <a:srgbClr val="1B3A5B"/>
          </a:solidFill>
          <a:ln/>
        </p:spPr>
      </p:sp>
      <p:sp>
        <p:nvSpPr>
          <p:cNvPr id="12" name="Text 10"/>
          <p:cNvSpPr/>
          <p:nvPr/>
        </p:nvSpPr>
        <p:spPr>
          <a:xfrm>
            <a:off x="978408" y="3008376"/>
            <a:ext cx="210312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Scan search window</a:t>
            </a:r>
            <a:endParaRPr lang="en-US" sz="1150" dirty="0"/>
          </a:p>
        </p:txBody>
      </p:sp>
      <p:sp>
        <p:nvSpPr>
          <p:cNvPr id="13" name="Shape 11"/>
          <p:cNvSpPr/>
          <p:nvPr/>
        </p:nvSpPr>
        <p:spPr>
          <a:xfrm rot="5400000">
            <a:off x="1929384" y="3474720"/>
            <a:ext cx="201168" cy="201168"/>
          </a:xfrm>
          <a:prstGeom prst="rightArrow">
            <a:avLst/>
          </a:prstGeom>
          <a:solidFill>
            <a:srgbClr val="5A6B7B"/>
          </a:solidFill>
          <a:ln/>
        </p:spPr>
      </p:sp>
      <p:sp>
        <p:nvSpPr>
          <p:cNvPr id="14" name="Shape 12"/>
          <p:cNvSpPr/>
          <p:nvPr/>
        </p:nvSpPr>
        <p:spPr>
          <a:xfrm>
            <a:off x="978408" y="3639312"/>
            <a:ext cx="2103120" cy="502920"/>
          </a:xfrm>
          <a:prstGeom prst="roundRect">
            <a:avLst>
              <a:gd name="adj" fmla="val 12727"/>
            </a:avLst>
          </a:prstGeom>
          <a:solidFill>
            <a:srgbClr val="14A8A0"/>
          </a:solidFill>
          <a:ln/>
        </p:spPr>
      </p:sp>
      <p:sp>
        <p:nvSpPr>
          <p:cNvPr id="15" name="Text 13"/>
          <p:cNvSpPr/>
          <p:nvPr/>
        </p:nvSpPr>
        <p:spPr>
          <a:xfrm>
            <a:off x="978408" y="3639312"/>
            <a:ext cx="210312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Find longest match</a:t>
            </a:r>
            <a:endParaRPr lang="en-US" sz="1150" dirty="0"/>
          </a:p>
        </p:txBody>
      </p:sp>
      <p:sp>
        <p:nvSpPr>
          <p:cNvPr id="16" name="Shape 14"/>
          <p:cNvSpPr/>
          <p:nvPr/>
        </p:nvSpPr>
        <p:spPr>
          <a:xfrm rot="5400000">
            <a:off x="1929384" y="4105656"/>
            <a:ext cx="201168" cy="201168"/>
          </a:xfrm>
          <a:prstGeom prst="rightArrow">
            <a:avLst/>
          </a:prstGeom>
          <a:solidFill>
            <a:srgbClr val="5A6B7B"/>
          </a:solidFill>
          <a:ln/>
        </p:spPr>
      </p:sp>
      <p:sp>
        <p:nvSpPr>
          <p:cNvPr id="17" name="Shape 15"/>
          <p:cNvSpPr/>
          <p:nvPr/>
        </p:nvSpPr>
        <p:spPr>
          <a:xfrm>
            <a:off x="978408" y="4270248"/>
            <a:ext cx="2103120" cy="502920"/>
          </a:xfrm>
          <a:prstGeom prst="roundRect">
            <a:avLst>
              <a:gd name="adj" fmla="val 12727"/>
            </a:avLst>
          </a:prstGeom>
          <a:solidFill>
            <a:srgbClr val="1B3A5B"/>
          </a:solidFill>
          <a:ln/>
        </p:spPr>
      </p:sp>
      <p:sp>
        <p:nvSpPr>
          <p:cNvPr id="18" name="Text 16"/>
          <p:cNvSpPr/>
          <p:nvPr/>
        </p:nvSpPr>
        <p:spPr>
          <a:xfrm>
            <a:off x="978408" y="4270248"/>
            <a:ext cx="210312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Emit (off, len, char)</a:t>
            </a:r>
            <a:endParaRPr lang="en-US" sz="1150" dirty="0"/>
          </a:p>
        </p:txBody>
      </p:sp>
      <p:sp>
        <p:nvSpPr>
          <p:cNvPr id="19" name="Shape 17"/>
          <p:cNvSpPr/>
          <p:nvPr/>
        </p:nvSpPr>
        <p:spPr>
          <a:xfrm rot="5400000">
            <a:off x="1929384" y="4736592"/>
            <a:ext cx="201168" cy="201168"/>
          </a:xfrm>
          <a:prstGeom prst="rightArrow">
            <a:avLst/>
          </a:prstGeom>
          <a:solidFill>
            <a:srgbClr val="5A6B7B"/>
          </a:solidFill>
          <a:ln/>
        </p:spPr>
      </p:sp>
      <p:sp>
        <p:nvSpPr>
          <p:cNvPr id="20" name="Shape 18"/>
          <p:cNvSpPr/>
          <p:nvPr/>
        </p:nvSpPr>
        <p:spPr>
          <a:xfrm>
            <a:off x="978408" y="4901184"/>
            <a:ext cx="2103120" cy="502920"/>
          </a:xfrm>
          <a:prstGeom prst="roundRect">
            <a:avLst>
              <a:gd name="adj" fmla="val 12727"/>
            </a:avLst>
          </a:prstGeom>
          <a:solidFill>
            <a:srgbClr val="1B3A5B"/>
          </a:solidFill>
          <a:ln/>
        </p:spPr>
      </p:sp>
      <p:sp>
        <p:nvSpPr>
          <p:cNvPr id="21" name="Text 19"/>
          <p:cNvSpPr/>
          <p:nvPr/>
        </p:nvSpPr>
        <p:spPr>
          <a:xfrm>
            <a:off x="978408" y="4901184"/>
            <a:ext cx="210312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Slide window</a:t>
            </a:r>
            <a:endParaRPr lang="en-US" sz="1150" dirty="0"/>
          </a:p>
        </p:txBody>
      </p:sp>
      <p:sp>
        <p:nvSpPr>
          <p:cNvPr id="22" name="Shape 20"/>
          <p:cNvSpPr/>
          <p:nvPr/>
        </p:nvSpPr>
        <p:spPr>
          <a:xfrm rot="5400000">
            <a:off x="1929384" y="5367528"/>
            <a:ext cx="201168" cy="201168"/>
          </a:xfrm>
          <a:prstGeom prst="rightArrow">
            <a:avLst/>
          </a:prstGeom>
          <a:solidFill>
            <a:srgbClr val="5A6B7B"/>
          </a:solidFill>
          <a:ln/>
        </p:spPr>
      </p:sp>
      <p:sp>
        <p:nvSpPr>
          <p:cNvPr id="23" name="Shape 21"/>
          <p:cNvSpPr/>
          <p:nvPr/>
        </p:nvSpPr>
        <p:spPr>
          <a:xfrm>
            <a:off x="978408" y="5532120"/>
            <a:ext cx="2103120" cy="502920"/>
          </a:xfrm>
          <a:prstGeom prst="roundRect">
            <a:avLst>
              <a:gd name="adj" fmla="val 12727"/>
            </a:avLst>
          </a:prstGeom>
          <a:solidFill>
            <a:srgbClr val="F4A825"/>
          </a:solidFill>
          <a:ln/>
        </p:spPr>
      </p:sp>
      <p:sp>
        <p:nvSpPr>
          <p:cNvPr id="24" name="Text 22"/>
          <p:cNvSpPr/>
          <p:nvPr/>
        </p:nvSpPr>
        <p:spPr>
          <a:xfrm>
            <a:off x="978408" y="5532120"/>
            <a:ext cx="2103120" cy="502920"/>
          </a:xfrm>
          <a:prstGeom prst="rect">
            <a:avLst/>
          </a:prstGeom>
          <a:noFill/>
          <a:ln/>
        </p:spPr>
        <p:txBody>
          <a:bodyPr wrap="square" lIns="0" tIns="0" rIns="0" bIns="0" rtlCol="0" anchor="ctr"/>
          <a:lstStyle/>
          <a:p>
            <a:pPr algn="ctr" indent="0" marL="0">
              <a:buNone/>
            </a:pPr>
            <a:r>
              <a:rPr lang="en-US" sz="1150" b="1" dirty="0">
                <a:solidFill>
                  <a:srgbClr val="16324F"/>
                </a:solidFill>
                <a:latin typeface="Calibri" pitchFamily="34" charset="0"/>
                <a:ea typeface="Calibri" pitchFamily="34" charset="-122"/>
                <a:cs typeface="Calibri" pitchFamily="34" charset="-120"/>
              </a:rPr>
              <a:t>Repeat →</a:t>
            </a:r>
            <a:endParaRPr lang="en-US" sz="1150" dirty="0"/>
          </a:p>
        </p:txBody>
      </p:sp>
      <p:sp>
        <p:nvSpPr>
          <p:cNvPr id="25" name="Shape 23"/>
          <p:cNvSpPr/>
          <p:nvPr/>
        </p:nvSpPr>
        <p:spPr>
          <a:xfrm>
            <a:off x="3749040" y="1828800"/>
            <a:ext cx="7863840" cy="2651760"/>
          </a:xfrm>
          <a:prstGeom prst="roundRect">
            <a:avLst>
              <a:gd name="adj" fmla="val 2414"/>
            </a:avLst>
          </a:prstGeom>
          <a:solidFill>
            <a:srgbClr val="0E2233"/>
          </a:solidFill>
          <a:ln w="12700">
            <a:solidFill>
              <a:srgbClr val="25415A"/>
            </a:solidFill>
            <a:prstDash val="solid"/>
          </a:ln>
          <a:effectLst>
            <a:outerShdw sx="100000" sy="100000" kx="0" ky="0" algn="bl" rotWithShape="0" blurRad="114300" dist="38100" dir="5400000">
              <a:srgbClr val="1B3A5B">
                <a:alpha val="20000"/>
              </a:srgbClr>
            </a:outerShdw>
          </a:effectLst>
        </p:spPr>
      </p:sp>
      <p:sp>
        <p:nvSpPr>
          <p:cNvPr id="26" name="Text 24"/>
          <p:cNvSpPr/>
          <p:nvPr/>
        </p:nvSpPr>
        <p:spPr>
          <a:xfrm>
            <a:off x="3950208" y="1920240"/>
            <a:ext cx="7498080" cy="256032"/>
          </a:xfrm>
          <a:prstGeom prst="rect">
            <a:avLst/>
          </a:prstGeom>
          <a:noFill/>
          <a:ln/>
        </p:spPr>
        <p:txBody>
          <a:bodyPr wrap="square" lIns="0" tIns="0" rIns="0" bIns="0" rtlCol="0" anchor="ctr"/>
          <a:lstStyle/>
          <a:p>
            <a:pPr algn="l" indent="0" marL="0">
              <a:buNone/>
            </a:pPr>
            <a:r>
              <a:rPr lang="en-US" sz="1050" i="1" dirty="0">
                <a:solidFill>
                  <a:srgbClr val="18C2B8"/>
                </a:solidFill>
                <a:latin typeface="Courier New" pitchFamily="34" charset="0"/>
                <a:ea typeface="Courier New" pitchFamily="34" charset="-122"/>
                <a:cs typeface="Courier New" pitchFamily="34" charset="-120"/>
              </a:rPr>
              <a:t>lz77_compressor.c  —  matching loop</a:t>
            </a:r>
            <a:endParaRPr lang="en-US" sz="1050" dirty="0"/>
          </a:p>
        </p:txBody>
      </p:sp>
      <p:sp>
        <p:nvSpPr>
          <p:cNvPr id="27" name="Text 25"/>
          <p:cNvSpPr/>
          <p:nvPr/>
        </p:nvSpPr>
        <p:spPr>
          <a:xfrm>
            <a:off x="3950208" y="2231136"/>
            <a:ext cx="7498080" cy="2139696"/>
          </a:xfrm>
          <a:prstGeom prst="rect">
            <a:avLst/>
          </a:prstGeom>
          <a:noFill/>
          <a:ln/>
        </p:spPr>
        <p:txBody>
          <a:bodyPr wrap="square" lIns="0" tIns="0" rIns="0" bIns="0" rtlCol="0" anchor="t"/>
          <a:lstStyle/>
          <a:p>
            <a:pPr algn="l" indent="0" marL="0">
              <a:lnSpc>
                <a:spcPct val="102000"/>
              </a:lnSpc>
              <a:buNone/>
            </a:pPr>
            <a:r>
              <a:rPr lang="en-US" sz="1100" dirty="0">
                <a:solidFill>
                  <a:srgbClr val="6FA8A0"/>
                </a:solidFill>
                <a:latin typeface="Courier New" pitchFamily="34" charset="0"/>
                <a:ea typeface="Courier New" pitchFamily="34" charset="-122"/>
                <a:cs typeface="Courier New" pitchFamily="34" charset="-120"/>
              </a:rPr>
              <a:t>// scan the search buffer for the longest</a:t>
            </a:r>
            <a:endParaRPr lang="en-US" sz="1100" dirty="0"/>
          </a:p>
          <a:p>
            <a:pPr algn="l" indent="0" marL="0">
              <a:lnSpc>
                <a:spcPct val="102000"/>
              </a:lnSpc>
              <a:buNone/>
            </a:pPr>
            <a:r>
              <a:rPr lang="en-US" sz="1100" dirty="0">
                <a:solidFill>
                  <a:srgbClr val="6FA8A0"/>
                </a:solidFill>
                <a:latin typeface="Courier New" pitchFamily="34" charset="0"/>
                <a:ea typeface="Courier New" pitchFamily="34" charset="-122"/>
                <a:cs typeface="Courier New" pitchFamily="34" charset="-120"/>
              </a:rPr>
              <a:t>// matching prefix of the look-ahead</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for (int i = search_start; i &lt; cursor; i++) {</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int len = 0;</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while (len &lt; LOOKAHEAD_SIZE &amp;&amp;</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cursor+len &lt; input_len &amp;&amp;</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input[i+len] == input[cursor+len])</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len++;</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if (len &gt; best_length) {      // strictly longer</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best_length = len;</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best_offset = cursor - i;</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  }</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a:t>
            </a:r>
            <a:endParaRPr lang="en-US" sz="1100" dirty="0"/>
          </a:p>
          <a:p>
            <a:pPr algn="l" indent="0" marL="0">
              <a:lnSpc>
                <a:spcPct val="102000"/>
              </a:lnSpc>
              <a:buNone/>
            </a:pPr>
            <a:r>
              <a:rPr lang="en-US" sz="1100" dirty="0">
                <a:solidFill>
                  <a:srgbClr val="D7E3EE"/>
                </a:solidFill>
                <a:latin typeface="Courier New" pitchFamily="34" charset="0"/>
                <a:ea typeface="Courier New" pitchFamily="34" charset="-122"/>
                <a:cs typeface="Courier New" pitchFamily="34" charset="-120"/>
              </a:rPr>
              <a:t>cursor += best_length + 1;      // slide window</a:t>
            </a:r>
            <a:endParaRPr lang="en-US" sz="1100" dirty="0"/>
          </a:p>
        </p:txBody>
      </p:sp>
      <p:sp>
        <p:nvSpPr>
          <p:cNvPr id="28" name="Shape 26"/>
          <p:cNvSpPr/>
          <p:nvPr/>
        </p:nvSpPr>
        <p:spPr>
          <a:xfrm>
            <a:off x="3749040" y="4617720"/>
            <a:ext cx="7863840" cy="457200"/>
          </a:xfrm>
          <a:prstGeom prst="roundRect">
            <a:avLst>
              <a:gd name="adj" fmla="val 14000"/>
            </a:avLst>
          </a:prstGeom>
          <a:solidFill>
            <a:srgbClr val="F1F5F9"/>
          </a:solidFill>
          <a:ln w="12700">
            <a:solidFill>
              <a:srgbClr val="D3DEE8"/>
            </a:solidFill>
            <a:prstDash val="solid"/>
          </a:ln>
        </p:spPr>
      </p:sp>
      <p:sp>
        <p:nvSpPr>
          <p:cNvPr id="29" name="Shape 27"/>
          <p:cNvSpPr/>
          <p:nvPr/>
        </p:nvSpPr>
        <p:spPr>
          <a:xfrm>
            <a:off x="3877056" y="4736592"/>
            <a:ext cx="219456" cy="219456"/>
          </a:xfrm>
          <a:prstGeom prst="ellipse">
            <a:avLst/>
          </a:prstGeom>
          <a:solidFill>
            <a:srgbClr val="14A8A0"/>
          </a:solidFill>
          <a:ln/>
        </p:spPr>
      </p:sp>
      <p:sp>
        <p:nvSpPr>
          <p:cNvPr id="30" name="Text 28"/>
          <p:cNvSpPr/>
          <p:nvPr/>
        </p:nvSpPr>
        <p:spPr>
          <a:xfrm>
            <a:off x="4206240" y="4617720"/>
            <a:ext cx="7223760" cy="457200"/>
          </a:xfrm>
          <a:prstGeom prst="rect">
            <a:avLst/>
          </a:prstGeom>
          <a:noFill/>
          <a:ln/>
        </p:spPr>
        <p:txBody>
          <a:bodyPr wrap="square" lIns="0" tIns="0" rIns="0" bIns="0" rtlCol="0" anchor="ctr"/>
          <a:lstStyle/>
          <a:p>
            <a:pPr indent="0" marL="0">
              <a:buNone/>
            </a:pPr>
            <a:r>
              <a:rPr lang="en-US" sz="1150" b="1" dirty="0">
                <a:solidFill>
                  <a:srgbClr val="0C7A76"/>
                </a:solidFill>
                <a:latin typeface="Courier New" pitchFamily="34" charset="0"/>
                <a:ea typeface="Courier New" pitchFamily="34" charset="-122"/>
                <a:cs typeface="Courier New" pitchFamily="34" charset="-120"/>
              </a:rPr>
              <a:t>lz77_compressor.c   </a:t>
            </a:r>
            <a:pPr indent="0" marL="0">
              <a:buNone/>
            </a:pPr>
            <a:r>
              <a:rPr lang="en-US" sz="1150" dirty="0">
                <a:solidFill>
                  <a:srgbClr val="5A6B7B"/>
                </a:solidFill>
                <a:latin typeface="Calibri" pitchFamily="34" charset="0"/>
                <a:ea typeface="Calibri" pitchFamily="34" charset="-122"/>
                <a:cs typeface="Calibri" pitchFamily="34" charset="-120"/>
              </a:rPr>
              <a:t>Array-based demo — dumps the token table (offset,length,char)</a:t>
            </a:r>
            <a:endParaRPr lang="en-US" sz="1150" dirty="0"/>
          </a:p>
        </p:txBody>
      </p:sp>
      <p:sp>
        <p:nvSpPr>
          <p:cNvPr id="31" name="Shape 29"/>
          <p:cNvSpPr/>
          <p:nvPr/>
        </p:nvSpPr>
        <p:spPr>
          <a:xfrm>
            <a:off x="3749040" y="5138928"/>
            <a:ext cx="7863840" cy="457200"/>
          </a:xfrm>
          <a:prstGeom prst="roundRect">
            <a:avLst>
              <a:gd name="adj" fmla="val 14000"/>
            </a:avLst>
          </a:prstGeom>
          <a:solidFill>
            <a:srgbClr val="F1F5F9"/>
          </a:solidFill>
          <a:ln w="12700">
            <a:solidFill>
              <a:srgbClr val="D3DEE8"/>
            </a:solidFill>
            <a:prstDash val="solid"/>
          </a:ln>
        </p:spPr>
      </p:sp>
      <p:sp>
        <p:nvSpPr>
          <p:cNvPr id="32" name="Shape 30"/>
          <p:cNvSpPr/>
          <p:nvPr/>
        </p:nvSpPr>
        <p:spPr>
          <a:xfrm>
            <a:off x="3877056" y="5257800"/>
            <a:ext cx="219456" cy="219456"/>
          </a:xfrm>
          <a:prstGeom prst="ellipse">
            <a:avLst/>
          </a:prstGeom>
          <a:solidFill>
            <a:srgbClr val="F4A825"/>
          </a:solidFill>
          <a:ln/>
        </p:spPr>
      </p:sp>
      <p:sp>
        <p:nvSpPr>
          <p:cNvPr id="33" name="Text 31"/>
          <p:cNvSpPr/>
          <p:nvPr/>
        </p:nvSpPr>
        <p:spPr>
          <a:xfrm>
            <a:off x="4206240" y="5138928"/>
            <a:ext cx="7223760" cy="457200"/>
          </a:xfrm>
          <a:prstGeom prst="rect">
            <a:avLst/>
          </a:prstGeom>
          <a:noFill/>
          <a:ln/>
        </p:spPr>
        <p:txBody>
          <a:bodyPr wrap="square" lIns="0" tIns="0" rIns="0" bIns="0" rtlCol="0" anchor="ctr"/>
          <a:lstStyle/>
          <a:p>
            <a:pPr indent="0" marL="0">
              <a:buNone/>
            </a:pPr>
            <a:r>
              <a:rPr lang="en-US" sz="1150" b="1" dirty="0">
                <a:solidFill>
                  <a:srgbClr val="0C7A76"/>
                </a:solidFill>
                <a:latin typeface="Courier New" pitchFamily="34" charset="0"/>
                <a:ea typeface="Courier New" pitchFamily="34" charset="-122"/>
                <a:cs typeface="Courier New" pitchFamily="34" charset="-120"/>
              </a:rPr>
              <a:t>lz77_fifo_implementation.c   </a:t>
            </a:r>
            <a:pPr indent="0" marL="0">
              <a:buNone/>
            </a:pPr>
            <a:r>
              <a:rPr lang="en-US" sz="1150" dirty="0">
                <a:solidFill>
                  <a:srgbClr val="5A6B7B"/>
                </a:solidFill>
                <a:latin typeface="Calibri" pitchFamily="34" charset="0"/>
                <a:ea typeface="Calibri" pitchFamily="34" charset="-122"/>
                <a:cs typeface="Calibri" pitchFamily="34" charset="-120"/>
              </a:rPr>
              <a:t>Sliding window IS a circular FIFO — enqueue / dequeue / peek</a:t>
            </a:r>
            <a:endParaRPr lang="en-US" sz="1150" dirty="0"/>
          </a:p>
        </p:txBody>
      </p:sp>
      <p:sp>
        <p:nvSpPr>
          <p:cNvPr id="34" name="Shape 32"/>
          <p:cNvSpPr/>
          <p:nvPr/>
        </p:nvSpPr>
        <p:spPr>
          <a:xfrm>
            <a:off x="3749040" y="5660136"/>
            <a:ext cx="7863840" cy="457200"/>
          </a:xfrm>
          <a:prstGeom prst="roundRect">
            <a:avLst>
              <a:gd name="adj" fmla="val 14000"/>
            </a:avLst>
          </a:prstGeom>
          <a:solidFill>
            <a:srgbClr val="F1F5F9"/>
          </a:solidFill>
          <a:ln w="12700">
            <a:solidFill>
              <a:srgbClr val="D3DEE8"/>
            </a:solidFill>
            <a:prstDash val="solid"/>
          </a:ln>
        </p:spPr>
      </p:sp>
      <p:sp>
        <p:nvSpPr>
          <p:cNvPr id="35" name="Shape 33"/>
          <p:cNvSpPr/>
          <p:nvPr/>
        </p:nvSpPr>
        <p:spPr>
          <a:xfrm>
            <a:off x="3877056" y="5779008"/>
            <a:ext cx="219456" cy="219456"/>
          </a:xfrm>
          <a:prstGeom prst="ellipse">
            <a:avLst/>
          </a:prstGeom>
          <a:solidFill>
            <a:srgbClr val="1B3A5B"/>
          </a:solidFill>
          <a:ln/>
        </p:spPr>
      </p:sp>
      <p:sp>
        <p:nvSpPr>
          <p:cNvPr id="36" name="Text 34"/>
          <p:cNvSpPr/>
          <p:nvPr/>
        </p:nvSpPr>
        <p:spPr>
          <a:xfrm>
            <a:off x="4206240" y="5660136"/>
            <a:ext cx="7223760" cy="457200"/>
          </a:xfrm>
          <a:prstGeom prst="rect">
            <a:avLst/>
          </a:prstGeom>
          <a:noFill/>
          <a:ln/>
        </p:spPr>
        <p:txBody>
          <a:bodyPr wrap="square" lIns="0" tIns="0" rIns="0" bIns="0" rtlCol="0" anchor="ctr"/>
          <a:lstStyle/>
          <a:p>
            <a:pPr indent="0" marL="0">
              <a:buNone/>
            </a:pPr>
            <a:r>
              <a:rPr lang="en-US" sz="1150" b="1" dirty="0">
                <a:solidFill>
                  <a:srgbClr val="0C7A76"/>
                </a:solidFill>
                <a:latin typeface="Courier New" pitchFamily="34" charset="0"/>
                <a:ea typeface="Courier New" pitchFamily="34" charset="-122"/>
                <a:cs typeface="Courier New" pitchFamily="34" charset="-120"/>
              </a:rPr>
              <a:t>lz77_robust.c   </a:t>
            </a:r>
            <a:pPr indent="0" marL="0">
              <a:buNone/>
            </a:pPr>
            <a:r>
              <a:rPr lang="en-US" sz="1150" dirty="0">
                <a:solidFill>
                  <a:srgbClr val="5A6B7B"/>
                </a:solidFill>
                <a:latin typeface="Calibri" pitchFamily="34" charset="0"/>
                <a:ea typeface="Calibri" pitchFamily="34" charset="-122"/>
                <a:cs typeface="Calibri" pitchFamily="34" charset="-120"/>
              </a:rPr>
              <a:t>Self-verifying codec: compress → decompress round-trip, incl. overlap</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HARDWARE IMPLEMENTATION</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Hardware LZ77 Stream Compressor</a:t>
            </a:r>
            <a:endParaRPr lang="en-US" sz="3100" dirty="0"/>
          </a:p>
        </p:txBody>
      </p:sp>
      <p:sp>
        <p:nvSpPr>
          <p:cNvPr id="5" name="Text 3"/>
          <p:cNvSpPr/>
          <p:nvPr/>
        </p:nvSpPr>
        <p:spPr>
          <a:xfrm>
            <a:off x="566928" y="1261872"/>
            <a:ext cx="10881360" cy="36576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Dataflow architecture — bytes in on a handshake, tokens out on a handshake, only a sliding window is ever held.</a:t>
            </a:r>
            <a:endParaRPr lang="en-US" sz="1350" dirty="0"/>
          </a:p>
        </p:txBody>
      </p:sp>
      <p:sp>
        <p:nvSpPr>
          <p:cNvPr id="6" name="Shape 4"/>
          <p:cNvSpPr/>
          <p:nvPr/>
        </p:nvSpPr>
        <p:spPr>
          <a:xfrm>
            <a:off x="566928" y="2286000"/>
            <a:ext cx="1572768" cy="1371600"/>
          </a:xfrm>
          <a:prstGeom prst="roundRect">
            <a:avLst>
              <a:gd name="adj" fmla="val 6667"/>
            </a:avLst>
          </a:prstGeom>
          <a:solidFill>
            <a:srgbClr val="1B3A5B"/>
          </a:solidFill>
          <a:ln/>
          <a:effectLst>
            <a:outerShdw sx="100000" sy="100000" kx="0" ky="0" algn="bl" rotWithShape="0" blurRad="114300" dist="38100" dir="5400000">
              <a:srgbClr val="1B3A5B">
                <a:alpha val="20000"/>
              </a:srgbClr>
            </a:outerShdw>
          </a:effectLst>
        </p:spPr>
      </p:sp>
      <p:sp>
        <p:nvSpPr>
          <p:cNvPr id="7" name="Text 5"/>
          <p:cNvSpPr/>
          <p:nvPr/>
        </p:nvSpPr>
        <p:spPr>
          <a:xfrm>
            <a:off x="566928" y="2487168"/>
            <a:ext cx="1572768"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Input</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stream</a:t>
            </a:r>
            <a:endParaRPr lang="en-US" sz="1350" dirty="0"/>
          </a:p>
        </p:txBody>
      </p:sp>
      <p:sp>
        <p:nvSpPr>
          <p:cNvPr id="8" name="Text 6"/>
          <p:cNvSpPr/>
          <p:nvPr/>
        </p:nvSpPr>
        <p:spPr>
          <a:xfrm>
            <a:off x="658368" y="3127248"/>
            <a:ext cx="1389888" cy="457200"/>
          </a:xfrm>
          <a:prstGeom prst="rect">
            <a:avLst/>
          </a:prstGeom>
          <a:noFill/>
          <a:ln/>
        </p:spPr>
        <p:txBody>
          <a:bodyPr wrap="square" lIns="0" tIns="0" rIns="0" bIns="0" rtlCol="0" anchor="t"/>
          <a:lstStyle/>
          <a:p>
            <a:pPr algn="ctr" indent="0" marL="0">
              <a:buNone/>
            </a:pPr>
            <a:r>
              <a:rPr lang="en-US" sz="900" dirty="0">
                <a:solidFill>
                  <a:srgbClr val="D6E5F0"/>
                </a:solidFill>
                <a:latin typeface="Calibri" pitchFamily="34" charset="0"/>
                <a:ea typeface="Calibri" pitchFamily="34" charset="-122"/>
                <a:cs typeface="Calibri" pitchFamily="34" charset="-120"/>
              </a:rPr>
              <a:t>byte + valid/ready + last</a:t>
            </a:r>
            <a:endParaRPr lang="en-US" sz="900" dirty="0"/>
          </a:p>
        </p:txBody>
      </p:sp>
      <p:sp>
        <p:nvSpPr>
          <p:cNvPr id="9" name="Shape 7"/>
          <p:cNvSpPr/>
          <p:nvPr/>
        </p:nvSpPr>
        <p:spPr>
          <a:xfrm>
            <a:off x="2157984" y="2862072"/>
            <a:ext cx="219456" cy="219456"/>
          </a:xfrm>
          <a:prstGeom prst="rightArrow">
            <a:avLst/>
          </a:prstGeom>
          <a:solidFill>
            <a:srgbClr val="5A6B7B"/>
          </a:solidFill>
          <a:ln/>
        </p:spPr>
      </p:sp>
      <p:sp>
        <p:nvSpPr>
          <p:cNvPr id="10" name="Shape 8"/>
          <p:cNvSpPr/>
          <p:nvPr/>
        </p:nvSpPr>
        <p:spPr>
          <a:xfrm>
            <a:off x="2395728" y="2286000"/>
            <a:ext cx="1572768" cy="1371600"/>
          </a:xfrm>
          <a:prstGeom prst="roundRect">
            <a:avLst>
              <a:gd name="adj" fmla="val 6667"/>
            </a:avLst>
          </a:prstGeom>
          <a:solidFill>
            <a:srgbClr val="14A8A0"/>
          </a:solidFill>
          <a:ln/>
          <a:effectLst>
            <a:outerShdw sx="100000" sy="100000" kx="0" ky="0" algn="bl" rotWithShape="0" blurRad="114300" dist="38100" dir="5400000">
              <a:srgbClr val="1B3A5B">
                <a:alpha val="20000"/>
              </a:srgbClr>
            </a:outerShdw>
          </a:effectLst>
        </p:spPr>
      </p:sp>
      <p:sp>
        <p:nvSpPr>
          <p:cNvPr id="11" name="Text 9"/>
          <p:cNvSpPr/>
          <p:nvPr/>
        </p:nvSpPr>
        <p:spPr>
          <a:xfrm>
            <a:off x="2395728" y="2487168"/>
            <a:ext cx="1572768"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Stream</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FIFO</a:t>
            </a:r>
            <a:endParaRPr lang="en-US" sz="1350" dirty="0"/>
          </a:p>
        </p:txBody>
      </p:sp>
      <p:sp>
        <p:nvSpPr>
          <p:cNvPr id="12" name="Text 10"/>
          <p:cNvSpPr/>
          <p:nvPr/>
        </p:nvSpPr>
        <p:spPr>
          <a:xfrm>
            <a:off x="2487168" y="3127248"/>
            <a:ext cx="1389888" cy="457200"/>
          </a:xfrm>
          <a:prstGeom prst="rect">
            <a:avLst/>
          </a:prstGeom>
          <a:noFill/>
          <a:ln/>
        </p:spPr>
        <p:txBody>
          <a:bodyPr wrap="square" lIns="0" tIns="0" rIns="0" bIns="0" rtlCol="0" anchor="t"/>
          <a:lstStyle/>
          <a:p>
            <a:pPr algn="ctr" indent="0" marL="0">
              <a:buNone/>
            </a:pPr>
            <a:r>
              <a:rPr lang="en-US" sz="900" dirty="0">
                <a:solidFill>
                  <a:srgbClr val="D6E5F0"/>
                </a:solidFill>
                <a:latin typeface="Calibri" pitchFamily="34" charset="0"/>
                <a:ea typeface="Calibri" pitchFamily="34" charset="-122"/>
                <a:cs typeface="Calibri" pitchFamily="34" charset="-120"/>
              </a:rPr>
              <a:t>buffers &amp; applies backpressure</a:t>
            </a:r>
            <a:endParaRPr lang="en-US" sz="900" dirty="0"/>
          </a:p>
        </p:txBody>
      </p:sp>
      <p:sp>
        <p:nvSpPr>
          <p:cNvPr id="13" name="Shape 11"/>
          <p:cNvSpPr/>
          <p:nvPr/>
        </p:nvSpPr>
        <p:spPr>
          <a:xfrm>
            <a:off x="3986784" y="2862072"/>
            <a:ext cx="219456" cy="219456"/>
          </a:xfrm>
          <a:prstGeom prst="rightArrow">
            <a:avLst/>
          </a:prstGeom>
          <a:solidFill>
            <a:srgbClr val="5A6B7B"/>
          </a:solidFill>
          <a:ln/>
        </p:spPr>
      </p:sp>
      <p:sp>
        <p:nvSpPr>
          <p:cNvPr id="14" name="Shape 12"/>
          <p:cNvSpPr/>
          <p:nvPr/>
        </p:nvSpPr>
        <p:spPr>
          <a:xfrm>
            <a:off x="4224528" y="2286000"/>
            <a:ext cx="1572768" cy="1371600"/>
          </a:xfrm>
          <a:prstGeom prst="roundRect">
            <a:avLst>
              <a:gd name="adj" fmla="val 6667"/>
            </a:avLst>
          </a:prstGeom>
          <a:solidFill>
            <a:srgbClr val="1B3A5B"/>
          </a:solidFill>
          <a:ln/>
          <a:effectLst>
            <a:outerShdw sx="100000" sy="100000" kx="0" ky="0" algn="bl" rotWithShape="0" blurRad="114300" dist="38100" dir="5400000">
              <a:srgbClr val="1B3A5B">
                <a:alpha val="20000"/>
              </a:srgbClr>
            </a:outerShdw>
          </a:effectLst>
        </p:spPr>
      </p:sp>
      <p:sp>
        <p:nvSpPr>
          <p:cNvPr id="15" name="Text 13"/>
          <p:cNvSpPr/>
          <p:nvPr/>
        </p:nvSpPr>
        <p:spPr>
          <a:xfrm>
            <a:off x="4224528" y="2487168"/>
            <a:ext cx="1572768"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Search</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engine</a:t>
            </a:r>
            <a:endParaRPr lang="en-US" sz="1350" dirty="0"/>
          </a:p>
        </p:txBody>
      </p:sp>
      <p:sp>
        <p:nvSpPr>
          <p:cNvPr id="16" name="Text 14"/>
          <p:cNvSpPr/>
          <p:nvPr/>
        </p:nvSpPr>
        <p:spPr>
          <a:xfrm>
            <a:off x="4315968" y="3127248"/>
            <a:ext cx="1389888" cy="457200"/>
          </a:xfrm>
          <a:prstGeom prst="rect">
            <a:avLst/>
          </a:prstGeom>
          <a:noFill/>
          <a:ln/>
        </p:spPr>
        <p:txBody>
          <a:bodyPr wrap="square" lIns="0" tIns="0" rIns="0" bIns="0" rtlCol="0" anchor="t"/>
          <a:lstStyle/>
          <a:p>
            <a:pPr algn="ctr" indent="0" marL="0">
              <a:buNone/>
            </a:pPr>
            <a:r>
              <a:rPr lang="en-US" sz="900" dirty="0">
                <a:solidFill>
                  <a:srgbClr val="D6E5F0"/>
                </a:solidFill>
                <a:latin typeface="Calibri" pitchFamily="34" charset="0"/>
                <a:ea typeface="Calibri" pitchFamily="34" charset="-122"/>
                <a:cs typeface="Calibri" pitchFamily="34" charset="-120"/>
              </a:rPr>
              <a:t>scans history for a prefix match</a:t>
            </a:r>
            <a:endParaRPr lang="en-US" sz="900" dirty="0"/>
          </a:p>
        </p:txBody>
      </p:sp>
      <p:sp>
        <p:nvSpPr>
          <p:cNvPr id="17" name="Shape 15"/>
          <p:cNvSpPr/>
          <p:nvPr/>
        </p:nvSpPr>
        <p:spPr>
          <a:xfrm>
            <a:off x="5815584" y="2862072"/>
            <a:ext cx="219456" cy="219456"/>
          </a:xfrm>
          <a:prstGeom prst="rightArrow">
            <a:avLst/>
          </a:prstGeom>
          <a:solidFill>
            <a:srgbClr val="5A6B7B"/>
          </a:solidFill>
          <a:ln/>
        </p:spPr>
      </p:sp>
      <p:sp>
        <p:nvSpPr>
          <p:cNvPr id="18" name="Shape 16"/>
          <p:cNvSpPr/>
          <p:nvPr/>
        </p:nvSpPr>
        <p:spPr>
          <a:xfrm>
            <a:off x="6053328" y="2286000"/>
            <a:ext cx="1572768" cy="1371600"/>
          </a:xfrm>
          <a:prstGeom prst="roundRect">
            <a:avLst>
              <a:gd name="adj" fmla="val 6667"/>
            </a:avLst>
          </a:prstGeom>
          <a:solidFill>
            <a:srgbClr val="14A8A0"/>
          </a:solidFill>
          <a:ln/>
          <a:effectLst>
            <a:outerShdw sx="100000" sy="100000" kx="0" ky="0" algn="bl" rotWithShape="0" blurRad="114300" dist="38100" dir="5400000">
              <a:srgbClr val="1B3A5B">
                <a:alpha val="20000"/>
              </a:srgbClr>
            </a:outerShdw>
          </a:effectLst>
        </p:spPr>
      </p:sp>
      <p:sp>
        <p:nvSpPr>
          <p:cNvPr id="19" name="Text 17"/>
          <p:cNvSpPr/>
          <p:nvPr/>
        </p:nvSpPr>
        <p:spPr>
          <a:xfrm>
            <a:off x="6053328" y="2487168"/>
            <a:ext cx="1572768"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Longest</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match</a:t>
            </a:r>
            <a:endParaRPr lang="en-US" sz="1350" dirty="0"/>
          </a:p>
        </p:txBody>
      </p:sp>
      <p:sp>
        <p:nvSpPr>
          <p:cNvPr id="20" name="Text 18"/>
          <p:cNvSpPr/>
          <p:nvPr/>
        </p:nvSpPr>
        <p:spPr>
          <a:xfrm>
            <a:off x="6144768" y="3127248"/>
            <a:ext cx="1389888" cy="457200"/>
          </a:xfrm>
          <a:prstGeom prst="rect">
            <a:avLst/>
          </a:prstGeom>
          <a:noFill/>
          <a:ln/>
        </p:spPr>
        <p:txBody>
          <a:bodyPr wrap="square" lIns="0" tIns="0" rIns="0" bIns="0" rtlCol="0" anchor="t"/>
          <a:lstStyle/>
          <a:p>
            <a:pPr algn="ctr" indent="0" marL="0">
              <a:buNone/>
            </a:pPr>
            <a:r>
              <a:rPr lang="en-US" sz="900" dirty="0">
                <a:solidFill>
                  <a:srgbClr val="D6E5F0"/>
                </a:solidFill>
                <a:latin typeface="Calibri" pitchFamily="34" charset="0"/>
                <a:ea typeface="Calibri" pitchFamily="34" charset="-122"/>
                <a:cs typeface="Calibri" pitchFamily="34" charset="-120"/>
              </a:rPr>
              <a:t>tracks best (offset, length)</a:t>
            </a:r>
            <a:endParaRPr lang="en-US" sz="900" dirty="0"/>
          </a:p>
        </p:txBody>
      </p:sp>
      <p:sp>
        <p:nvSpPr>
          <p:cNvPr id="21" name="Shape 19"/>
          <p:cNvSpPr/>
          <p:nvPr/>
        </p:nvSpPr>
        <p:spPr>
          <a:xfrm>
            <a:off x="7644384" y="2862072"/>
            <a:ext cx="219456" cy="219456"/>
          </a:xfrm>
          <a:prstGeom prst="rightArrow">
            <a:avLst/>
          </a:prstGeom>
          <a:solidFill>
            <a:srgbClr val="5A6B7B"/>
          </a:solidFill>
          <a:ln/>
        </p:spPr>
      </p:sp>
      <p:sp>
        <p:nvSpPr>
          <p:cNvPr id="22" name="Shape 20"/>
          <p:cNvSpPr/>
          <p:nvPr/>
        </p:nvSpPr>
        <p:spPr>
          <a:xfrm>
            <a:off x="7882128" y="2286000"/>
            <a:ext cx="1572768" cy="1371600"/>
          </a:xfrm>
          <a:prstGeom prst="roundRect">
            <a:avLst>
              <a:gd name="adj" fmla="val 6667"/>
            </a:avLst>
          </a:prstGeom>
          <a:solidFill>
            <a:srgbClr val="1B3A5B"/>
          </a:solidFill>
          <a:ln/>
          <a:effectLst>
            <a:outerShdw sx="100000" sy="100000" kx="0" ky="0" algn="bl" rotWithShape="0" blurRad="114300" dist="38100" dir="5400000">
              <a:srgbClr val="1B3A5B">
                <a:alpha val="20000"/>
              </a:srgbClr>
            </a:outerShdw>
          </a:effectLst>
        </p:spPr>
      </p:sp>
      <p:sp>
        <p:nvSpPr>
          <p:cNvPr id="23" name="Text 21"/>
          <p:cNvSpPr/>
          <p:nvPr/>
        </p:nvSpPr>
        <p:spPr>
          <a:xfrm>
            <a:off x="7882128" y="2487168"/>
            <a:ext cx="1572768"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Token</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generator</a:t>
            </a:r>
            <a:endParaRPr lang="en-US" sz="1350" dirty="0"/>
          </a:p>
        </p:txBody>
      </p:sp>
      <p:sp>
        <p:nvSpPr>
          <p:cNvPr id="24" name="Text 22"/>
          <p:cNvSpPr/>
          <p:nvPr/>
        </p:nvSpPr>
        <p:spPr>
          <a:xfrm>
            <a:off x="7973568" y="3127248"/>
            <a:ext cx="1389888" cy="457200"/>
          </a:xfrm>
          <a:prstGeom prst="rect">
            <a:avLst/>
          </a:prstGeom>
          <a:noFill/>
          <a:ln/>
        </p:spPr>
        <p:txBody>
          <a:bodyPr wrap="square" lIns="0" tIns="0" rIns="0" bIns="0" rtlCol="0" anchor="t"/>
          <a:lstStyle/>
          <a:p>
            <a:pPr algn="ctr" indent="0" marL="0">
              <a:buNone/>
            </a:pPr>
            <a:r>
              <a:rPr lang="en-US" sz="900" dirty="0">
                <a:solidFill>
                  <a:srgbClr val="D6E5F0"/>
                </a:solidFill>
                <a:latin typeface="Calibri" pitchFamily="34" charset="0"/>
                <a:ea typeface="Calibri" pitchFamily="34" charset="-122"/>
                <a:cs typeface="Calibri" pitchFamily="34" charset="-120"/>
              </a:rPr>
              <a:t>emits offset · length · next_char</a:t>
            </a:r>
            <a:endParaRPr lang="en-US" sz="900" dirty="0"/>
          </a:p>
        </p:txBody>
      </p:sp>
      <p:sp>
        <p:nvSpPr>
          <p:cNvPr id="25" name="Shape 23"/>
          <p:cNvSpPr/>
          <p:nvPr/>
        </p:nvSpPr>
        <p:spPr>
          <a:xfrm>
            <a:off x="9473184" y="2862072"/>
            <a:ext cx="219456" cy="219456"/>
          </a:xfrm>
          <a:prstGeom prst="rightArrow">
            <a:avLst/>
          </a:prstGeom>
          <a:solidFill>
            <a:srgbClr val="5A6B7B"/>
          </a:solidFill>
          <a:ln/>
        </p:spPr>
      </p:sp>
      <p:sp>
        <p:nvSpPr>
          <p:cNvPr id="26" name="Shape 24"/>
          <p:cNvSpPr/>
          <p:nvPr/>
        </p:nvSpPr>
        <p:spPr>
          <a:xfrm>
            <a:off x="9710928" y="2286000"/>
            <a:ext cx="1572768" cy="1371600"/>
          </a:xfrm>
          <a:prstGeom prst="roundRect">
            <a:avLst>
              <a:gd name="adj" fmla="val 6667"/>
            </a:avLst>
          </a:prstGeom>
          <a:solidFill>
            <a:srgbClr val="F4A825"/>
          </a:solidFill>
          <a:ln/>
          <a:effectLst>
            <a:outerShdw sx="100000" sy="100000" kx="0" ky="0" algn="bl" rotWithShape="0" blurRad="114300" dist="38100" dir="5400000">
              <a:srgbClr val="1B3A5B">
                <a:alpha val="20000"/>
              </a:srgbClr>
            </a:outerShdw>
          </a:effectLst>
        </p:spPr>
      </p:sp>
      <p:sp>
        <p:nvSpPr>
          <p:cNvPr id="27" name="Text 25"/>
          <p:cNvSpPr/>
          <p:nvPr/>
        </p:nvSpPr>
        <p:spPr>
          <a:xfrm>
            <a:off x="9710928" y="2487168"/>
            <a:ext cx="1572768" cy="640080"/>
          </a:xfrm>
          <a:prstGeom prst="rect">
            <a:avLst/>
          </a:prstGeom>
          <a:noFill/>
          <a:ln/>
        </p:spPr>
        <p:txBody>
          <a:bodyPr wrap="square" lIns="0" tIns="0" rIns="0" bIns="0" rtlCol="0" anchor="ctr"/>
          <a:lstStyle/>
          <a:p>
            <a:pPr algn="ctr" indent="0" marL="0">
              <a:buNone/>
            </a:pPr>
            <a:r>
              <a:rPr lang="en-US" sz="1350" b="1" dirty="0">
                <a:solidFill>
                  <a:srgbClr val="16324F"/>
                </a:solidFill>
                <a:latin typeface="Cambria" pitchFamily="34" charset="0"/>
                <a:ea typeface="Cambria" pitchFamily="34" charset="-122"/>
                <a:cs typeface="Cambria" pitchFamily="34" charset="-120"/>
              </a:rPr>
              <a:t>Compressed</a:t>
            </a:r>
            <a:endParaRPr lang="en-US" sz="1350" dirty="0"/>
          </a:p>
          <a:p>
            <a:pPr algn="ctr" indent="0" marL="0">
              <a:buNone/>
            </a:pPr>
            <a:r>
              <a:rPr lang="en-US" sz="1350" b="1" dirty="0">
                <a:solidFill>
                  <a:srgbClr val="16324F"/>
                </a:solidFill>
                <a:latin typeface="Cambria" pitchFamily="34" charset="0"/>
                <a:ea typeface="Cambria" pitchFamily="34" charset="-122"/>
                <a:cs typeface="Cambria" pitchFamily="34" charset="-120"/>
              </a:rPr>
              <a:t>output</a:t>
            </a:r>
            <a:endParaRPr lang="en-US" sz="1350" dirty="0"/>
          </a:p>
        </p:txBody>
      </p:sp>
      <p:sp>
        <p:nvSpPr>
          <p:cNvPr id="28" name="Text 26"/>
          <p:cNvSpPr/>
          <p:nvPr/>
        </p:nvSpPr>
        <p:spPr>
          <a:xfrm>
            <a:off x="9802368" y="3127248"/>
            <a:ext cx="1389888" cy="457200"/>
          </a:xfrm>
          <a:prstGeom prst="rect">
            <a:avLst/>
          </a:prstGeom>
          <a:noFill/>
          <a:ln/>
        </p:spPr>
        <p:txBody>
          <a:bodyPr wrap="square" lIns="0" tIns="0" rIns="0" bIns="0" rtlCol="0" anchor="t"/>
          <a:lstStyle/>
          <a:p>
            <a:pPr algn="ctr" indent="0" marL="0">
              <a:buNone/>
            </a:pPr>
            <a:r>
              <a:rPr lang="en-US" sz="900" dirty="0">
                <a:solidFill>
                  <a:srgbClr val="6B5410"/>
                </a:solidFill>
                <a:latin typeface="Calibri" pitchFamily="34" charset="0"/>
                <a:ea typeface="Calibri" pitchFamily="34" charset="-122"/>
                <a:cs typeface="Calibri" pitchFamily="34" charset="-120"/>
              </a:rPr>
              <a:t>token bytes + last</a:t>
            </a:r>
            <a:endParaRPr lang="en-US" sz="900" dirty="0"/>
          </a:p>
        </p:txBody>
      </p:sp>
      <p:sp>
        <p:nvSpPr>
          <p:cNvPr id="29" name="Shape 27"/>
          <p:cNvSpPr/>
          <p:nvPr/>
        </p:nvSpPr>
        <p:spPr>
          <a:xfrm>
            <a:off x="566928" y="3977640"/>
            <a:ext cx="11064240" cy="960120"/>
          </a:xfrm>
          <a:prstGeom prst="roundRect">
            <a:avLst>
              <a:gd name="adj" fmla="val 9524"/>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30" name="Text 28"/>
          <p:cNvSpPr/>
          <p:nvPr/>
        </p:nvSpPr>
        <p:spPr>
          <a:xfrm>
            <a:off x="822960" y="4078224"/>
            <a:ext cx="10515600" cy="274320"/>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Internal state held by the compressor</a:t>
            </a:r>
            <a:endParaRPr lang="en-US" sz="1300" dirty="0"/>
          </a:p>
        </p:txBody>
      </p:sp>
      <p:sp>
        <p:nvSpPr>
          <p:cNvPr id="31" name="Text 29"/>
          <p:cNvSpPr/>
          <p:nvPr/>
        </p:nvSpPr>
        <p:spPr>
          <a:xfrm>
            <a:off x="822960" y="4407408"/>
            <a:ext cx="10515600" cy="457200"/>
          </a:xfrm>
          <a:prstGeom prst="rect">
            <a:avLst/>
          </a:prstGeom>
          <a:noFill/>
          <a:ln/>
        </p:spPr>
        <p:txBody>
          <a:bodyPr wrap="square" lIns="0" tIns="0" rIns="0" bIns="0" rtlCol="0" anchor="ctr"/>
          <a:lstStyle/>
          <a:p>
            <a:pPr indent="0" marL="0">
              <a:buNone/>
            </a:pPr>
            <a:r>
              <a:rPr lang="en-US" sz="1200" b="1" dirty="0">
                <a:solidFill>
                  <a:srgbClr val="0C7A76"/>
                </a:solidFill>
                <a:latin typeface="Courier New" pitchFamily="34" charset="0"/>
                <a:ea typeface="Courier New" pitchFamily="34" charset="-122"/>
                <a:cs typeface="Courier New" pitchFamily="34" charset="-120"/>
              </a:rPr>
              <a:t>hist[ ]</a:t>
            </a:r>
            <a:pPr indent="0" marL="0">
              <a:buNone/>
            </a:pPr>
            <a:r>
              <a:rPr lang="en-US" sz="1200" dirty="0">
                <a:solidFill>
                  <a:srgbClr val="5A6B7B"/>
                </a:solidFill>
                <a:latin typeface="Calibri" pitchFamily="34" charset="0"/>
                <a:ea typeface="Calibri" pitchFamily="34" charset="-122"/>
                <a:cs typeface="Calibri" pitchFamily="34" charset="-120"/>
              </a:rPr>
              <a:t>  circular history window (the search buffer)        </a:t>
            </a:r>
            <a:pPr indent="0" marL="0">
              <a:buNone/>
            </a:pPr>
            <a:r>
              <a:rPr lang="en-US" sz="1200" b="1" dirty="0">
                <a:solidFill>
                  <a:srgbClr val="0C7A76"/>
                </a:solidFill>
                <a:latin typeface="Courier New" pitchFamily="34" charset="0"/>
                <a:ea typeface="Courier New" pitchFamily="34" charset="-122"/>
                <a:cs typeface="Courier New" pitchFamily="34" charset="-120"/>
              </a:rPr>
              <a:t>look[ ]</a:t>
            </a:r>
            <a:pPr indent="0" marL="0">
              <a:buNone/>
            </a:pPr>
            <a:r>
              <a:rPr lang="en-US" sz="1200" dirty="0">
                <a:solidFill>
                  <a:srgbClr val="5A6B7B"/>
                </a:solidFill>
                <a:latin typeface="Calibri" pitchFamily="34" charset="0"/>
                <a:ea typeface="Calibri" pitchFamily="34" charset="-122"/>
                <a:cs typeface="Calibri" pitchFamily="34" charset="-120"/>
              </a:rPr>
              <a:t>  small look-ahead shift register        </a:t>
            </a:r>
            <a:pPr indent="0" marL="0">
              <a:buNone/>
            </a:pPr>
            <a:r>
              <a:rPr lang="en-US" sz="1200" b="1" dirty="0">
                <a:solidFill>
                  <a:srgbClr val="0C7A76"/>
                </a:solidFill>
                <a:latin typeface="Courier New" pitchFamily="34" charset="0"/>
                <a:ea typeface="Courier New" pitchFamily="34" charset="-122"/>
                <a:cs typeface="Courier New" pitchFamily="34" charset="-120"/>
              </a:rPr>
              <a:t>hcount / lcount</a:t>
            </a:r>
            <a:pPr indent="0" marL="0">
              <a:buNone/>
            </a:pPr>
            <a:r>
              <a:rPr lang="en-US" sz="1200" dirty="0">
                <a:solidFill>
                  <a:srgbClr val="5A6B7B"/>
                </a:solidFill>
                <a:latin typeface="Calibri" pitchFamily="34" charset="0"/>
                <a:ea typeface="Calibri" pitchFamily="34" charset="-122"/>
                <a:cs typeface="Calibri" pitchFamily="34" charset="-120"/>
              </a:rPr>
              <a:t>  valid-byte counters</a:t>
            </a:r>
            <a:endParaRPr lang="en-US" sz="1200" dirty="0"/>
          </a:p>
        </p:txBody>
      </p:sp>
      <p:sp>
        <p:nvSpPr>
          <p:cNvPr id="32" name="Shape 30"/>
          <p:cNvSpPr/>
          <p:nvPr/>
        </p:nvSpPr>
        <p:spPr>
          <a:xfrm>
            <a:off x="566928" y="5120640"/>
            <a:ext cx="2651760" cy="868680"/>
          </a:xfrm>
          <a:prstGeom prst="roundRect">
            <a:avLst>
              <a:gd name="adj" fmla="val 10526"/>
            </a:avLst>
          </a:prstGeom>
          <a:solidFill>
            <a:srgbClr val="0D1B2A"/>
          </a:solidFill>
          <a:ln/>
          <a:effectLst>
            <a:outerShdw sx="100000" sy="100000" kx="0" ky="0" algn="bl" rotWithShape="0" blurRad="114300" dist="38100" dir="5400000">
              <a:srgbClr val="1B3A5B">
                <a:alpha val="20000"/>
              </a:srgbClr>
            </a:outerShdw>
          </a:effectLst>
        </p:spPr>
      </p:sp>
      <p:sp>
        <p:nvSpPr>
          <p:cNvPr id="33" name="Text 31"/>
          <p:cNvSpPr/>
          <p:nvPr/>
        </p:nvSpPr>
        <p:spPr>
          <a:xfrm>
            <a:off x="566928" y="5193792"/>
            <a:ext cx="2651760" cy="457200"/>
          </a:xfrm>
          <a:prstGeom prst="rect">
            <a:avLst/>
          </a:prstGeom>
          <a:noFill/>
          <a:ln/>
        </p:spPr>
        <p:txBody>
          <a:bodyPr wrap="square" lIns="0" tIns="0" rIns="0" bIns="0" rtlCol="0" anchor="ctr"/>
          <a:lstStyle/>
          <a:p>
            <a:pPr algn="ctr" indent="0" marL="0">
              <a:buNone/>
            </a:pPr>
            <a:r>
              <a:rPr lang="en-US" sz="2600" b="1" dirty="0">
                <a:solidFill>
                  <a:srgbClr val="18C2B8"/>
                </a:solidFill>
                <a:latin typeface="Cambria" pitchFamily="34" charset="0"/>
                <a:ea typeface="Cambria" pitchFamily="34" charset="-122"/>
                <a:cs typeface="Cambria" pitchFamily="34" charset="-120"/>
              </a:rPr>
              <a:t>256</a:t>
            </a:r>
            <a:endParaRPr lang="en-US" sz="2600" dirty="0"/>
          </a:p>
        </p:txBody>
      </p:sp>
      <p:sp>
        <p:nvSpPr>
          <p:cNvPr id="34" name="Text 32"/>
          <p:cNvSpPr/>
          <p:nvPr/>
        </p:nvSpPr>
        <p:spPr>
          <a:xfrm>
            <a:off x="566928" y="5650992"/>
            <a:ext cx="2651760" cy="274320"/>
          </a:xfrm>
          <a:prstGeom prst="rect">
            <a:avLst/>
          </a:prstGeom>
          <a:noFill/>
          <a:ln/>
        </p:spPr>
        <p:txBody>
          <a:bodyPr wrap="square" lIns="0" tIns="0" rIns="0" bIns="0" rtlCol="0" anchor="ctr"/>
          <a:lstStyle/>
          <a:p>
            <a:pPr algn="ctr" indent="0" marL="0">
              <a:buNone/>
            </a:pPr>
            <a:r>
              <a:rPr lang="en-US" sz="1050" dirty="0">
                <a:solidFill>
                  <a:srgbClr val="9DB4C7"/>
                </a:solidFill>
                <a:latin typeface="Courier New" pitchFamily="34" charset="0"/>
                <a:ea typeface="Courier New" pitchFamily="34" charset="-122"/>
                <a:cs typeface="Courier New" pitchFamily="34" charset="-120"/>
              </a:rPr>
              <a:t>WINDOW</a:t>
            </a:r>
            <a:endParaRPr lang="en-US" sz="1050" dirty="0"/>
          </a:p>
        </p:txBody>
      </p:sp>
      <p:sp>
        <p:nvSpPr>
          <p:cNvPr id="35" name="Shape 33"/>
          <p:cNvSpPr/>
          <p:nvPr/>
        </p:nvSpPr>
        <p:spPr>
          <a:xfrm>
            <a:off x="3337560" y="5120640"/>
            <a:ext cx="2651760" cy="868680"/>
          </a:xfrm>
          <a:prstGeom prst="roundRect">
            <a:avLst>
              <a:gd name="adj" fmla="val 10526"/>
            </a:avLst>
          </a:prstGeom>
          <a:solidFill>
            <a:srgbClr val="0D1B2A"/>
          </a:solidFill>
          <a:ln/>
          <a:effectLst>
            <a:outerShdw sx="100000" sy="100000" kx="0" ky="0" algn="bl" rotWithShape="0" blurRad="114300" dist="38100" dir="5400000">
              <a:srgbClr val="1B3A5B">
                <a:alpha val="20000"/>
              </a:srgbClr>
            </a:outerShdw>
          </a:effectLst>
        </p:spPr>
      </p:sp>
      <p:sp>
        <p:nvSpPr>
          <p:cNvPr id="36" name="Text 34"/>
          <p:cNvSpPr/>
          <p:nvPr/>
        </p:nvSpPr>
        <p:spPr>
          <a:xfrm>
            <a:off x="3337560" y="5193792"/>
            <a:ext cx="2651760" cy="457200"/>
          </a:xfrm>
          <a:prstGeom prst="rect">
            <a:avLst/>
          </a:prstGeom>
          <a:noFill/>
          <a:ln/>
        </p:spPr>
        <p:txBody>
          <a:bodyPr wrap="square" lIns="0" tIns="0" rIns="0" bIns="0" rtlCol="0" anchor="ctr"/>
          <a:lstStyle/>
          <a:p>
            <a:pPr algn="ctr" indent="0" marL="0">
              <a:buNone/>
            </a:pPr>
            <a:r>
              <a:rPr lang="en-US" sz="2600" b="1" dirty="0">
                <a:solidFill>
                  <a:srgbClr val="18C2B8"/>
                </a:solidFill>
                <a:latin typeface="Cambria" pitchFamily="34" charset="0"/>
                <a:ea typeface="Cambria" pitchFamily="34" charset="-122"/>
                <a:cs typeface="Cambria" pitchFamily="34" charset="-120"/>
              </a:rPr>
              <a:t>255</a:t>
            </a:r>
            <a:endParaRPr lang="en-US" sz="2600" dirty="0"/>
          </a:p>
        </p:txBody>
      </p:sp>
      <p:sp>
        <p:nvSpPr>
          <p:cNvPr id="37" name="Text 35"/>
          <p:cNvSpPr/>
          <p:nvPr/>
        </p:nvSpPr>
        <p:spPr>
          <a:xfrm>
            <a:off x="3337560" y="5650992"/>
            <a:ext cx="2651760" cy="274320"/>
          </a:xfrm>
          <a:prstGeom prst="rect">
            <a:avLst/>
          </a:prstGeom>
          <a:noFill/>
          <a:ln/>
        </p:spPr>
        <p:txBody>
          <a:bodyPr wrap="square" lIns="0" tIns="0" rIns="0" bIns="0" rtlCol="0" anchor="ctr"/>
          <a:lstStyle/>
          <a:p>
            <a:pPr algn="ctr" indent="0" marL="0">
              <a:buNone/>
            </a:pPr>
            <a:r>
              <a:rPr lang="en-US" sz="1050" dirty="0">
                <a:solidFill>
                  <a:srgbClr val="9DB4C7"/>
                </a:solidFill>
                <a:latin typeface="Courier New" pitchFamily="34" charset="0"/>
                <a:ea typeface="Courier New" pitchFamily="34" charset="-122"/>
                <a:cs typeface="Courier New" pitchFamily="34" charset="-120"/>
              </a:rPr>
              <a:t>MAX_OFFSET</a:t>
            </a:r>
            <a:endParaRPr lang="en-US" sz="1050" dirty="0"/>
          </a:p>
        </p:txBody>
      </p:sp>
      <p:sp>
        <p:nvSpPr>
          <p:cNvPr id="38" name="Shape 36"/>
          <p:cNvSpPr/>
          <p:nvPr/>
        </p:nvSpPr>
        <p:spPr>
          <a:xfrm>
            <a:off x="6108192" y="5120640"/>
            <a:ext cx="2651760" cy="868680"/>
          </a:xfrm>
          <a:prstGeom prst="roundRect">
            <a:avLst>
              <a:gd name="adj" fmla="val 10526"/>
            </a:avLst>
          </a:prstGeom>
          <a:solidFill>
            <a:srgbClr val="0D1B2A"/>
          </a:solidFill>
          <a:ln/>
          <a:effectLst>
            <a:outerShdw sx="100000" sy="100000" kx="0" ky="0" algn="bl" rotWithShape="0" blurRad="114300" dist="38100" dir="5400000">
              <a:srgbClr val="1B3A5B">
                <a:alpha val="20000"/>
              </a:srgbClr>
            </a:outerShdw>
          </a:effectLst>
        </p:spPr>
      </p:sp>
      <p:sp>
        <p:nvSpPr>
          <p:cNvPr id="39" name="Text 37"/>
          <p:cNvSpPr/>
          <p:nvPr/>
        </p:nvSpPr>
        <p:spPr>
          <a:xfrm>
            <a:off x="6108192" y="5193792"/>
            <a:ext cx="2651760" cy="457200"/>
          </a:xfrm>
          <a:prstGeom prst="rect">
            <a:avLst/>
          </a:prstGeom>
          <a:noFill/>
          <a:ln/>
        </p:spPr>
        <p:txBody>
          <a:bodyPr wrap="square" lIns="0" tIns="0" rIns="0" bIns="0" rtlCol="0" anchor="ctr"/>
          <a:lstStyle/>
          <a:p>
            <a:pPr algn="ctr" indent="0" marL="0">
              <a:buNone/>
            </a:pPr>
            <a:r>
              <a:rPr lang="en-US" sz="2600" b="1" dirty="0">
                <a:solidFill>
                  <a:srgbClr val="18C2B8"/>
                </a:solidFill>
                <a:latin typeface="Cambria" pitchFamily="34" charset="0"/>
                <a:ea typeface="Cambria" pitchFamily="34" charset="-122"/>
                <a:cs typeface="Cambria" pitchFamily="34" charset="-120"/>
              </a:rPr>
              <a:t>16</a:t>
            </a:r>
            <a:endParaRPr lang="en-US" sz="2600" dirty="0"/>
          </a:p>
        </p:txBody>
      </p:sp>
      <p:sp>
        <p:nvSpPr>
          <p:cNvPr id="40" name="Text 38"/>
          <p:cNvSpPr/>
          <p:nvPr/>
        </p:nvSpPr>
        <p:spPr>
          <a:xfrm>
            <a:off x="6108192" y="5650992"/>
            <a:ext cx="2651760" cy="274320"/>
          </a:xfrm>
          <a:prstGeom prst="rect">
            <a:avLst/>
          </a:prstGeom>
          <a:noFill/>
          <a:ln/>
        </p:spPr>
        <p:txBody>
          <a:bodyPr wrap="square" lIns="0" tIns="0" rIns="0" bIns="0" rtlCol="0" anchor="ctr"/>
          <a:lstStyle/>
          <a:p>
            <a:pPr algn="ctr" indent="0" marL="0">
              <a:buNone/>
            </a:pPr>
            <a:r>
              <a:rPr lang="en-US" sz="1050" dirty="0">
                <a:solidFill>
                  <a:srgbClr val="9DB4C7"/>
                </a:solidFill>
                <a:latin typeface="Courier New" pitchFamily="34" charset="0"/>
                <a:ea typeface="Courier New" pitchFamily="34" charset="-122"/>
                <a:cs typeface="Courier New" pitchFamily="34" charset="-120"/>
              </a:rPr>
              <a:t>LOOKAHEAD</a:t>
            </a:r>
            <a:endParaRPr lang="en-US" sz="1050" dirty="0"/>
          </a:p>
        </p:txBody>
      </p:sp>
      <p:sp>
        <p:nvSpPr>
          <p:cNvPr id="41" name="Shape 39"/>
          <p:cNvSpPr/>
          <p:nvPr/>
        </p:nvSpPr>
        <p:spPr>
          <a:xfrm>
            <a:off x="8878824" y="5120640"/>
            <a:ext cx="2651760" cy="868680"/>
          </a:xfrm>
          <a:prstGeom prst="roundRect">
            <a:avLst>
              <a:gd name="adj" fmla="val 10526"/>
            </a:avLst>
          </a:prstGeom>
          <a:solidFill>
            <a:srgbClr val="0D1B2A"/>
          </a:solidFill>
          <a:ln/>
          <a:effectLst>
            <a:outerShdw sx="100000" sy="100000" kx="0" ky="0" algn="bl" rotWithShape="0" blurRad="114300" dist="38100" dir="5400000">
              <a:srgbClr val="1B3A5B">
                <a:alpha val="20000"/>
              </a:srgbClr>
            </a:outerShdw>
          </a:effectLst>
        </p:spPr>
      </p:sp>
      <p:sp>
        <p:nvSpPr>
          <p:cNvPr id="42" name="Text 40"/>
          <p:cNvSpPr/>
          <p:nvPr/>
        </p:nvSpPr>
        <p:spPr>
          <a:xfrm>
            <a:off x="8878824" y="5193792"/>
            <a:ext cx="2651760" cy="457200"/>
          </a:xfrm>
          <a:prstGeom prst="rect">
            <a:avLst/>
          </a:prstGeom>
          <a:noFill/>
          <a:ln/>
        </p:spPr>
        <p:txBody>
          <a:bodyPr wrap="square" lIns="0" tIns="0" rIns="0" bIns="0" rtlCol="0" anchor="ctr"/>
          <a:lstStyle/>
          <a:p>
            <a:pPr algn="ctr" indent="0" marL="0">
              <a:buNone/>
            </a:pPr>
            <a:r>
              <a:rPr lang="en-US" sz="2600" b="1" dirty="0">
                <a:solidFill>
                  <a:srgbClr val="18C2B8"/>
                </a:solidFill>
                <a:latin typeface="Cambria" pitchFamily="34" charset="0"/>
                <a:ea typeface="Cambria" pitchFamily="34" charset="-122"/>
                <a:cs typeface="Cambria" pitchFamily="34" charset="-120"/>
              </a:rPr>
              <a:t>15</a:t>
            </a:r>
            <a:endParaRPr lang="en-US" sz="2600" dirty="0"/>
          </a:p>
        </p:txBody>
      </p:sp>
      <p:sp>
        <p:nvSpPr>
          <p:cNvPr id="43" name="Text 41"/>
          <p:cNvSpPr/>
          <p:nvPr/>
        </p:nvSpPr>
        <p:spPr>
          <a:xfrm>
            <a:off x="8878824" y="5650992"/>
            <a:ext cx="2651760" cy="274320"/>
          </a:xfrm>
          <a:prstGeom prst="rect">
            <a:avLst/>
          </a:prstGeom>
          <a:noFill/>
          <a:ln/>
        </p:spPr>
        <p:txBody>
          <a:bodyPr wrap="square" lIns="0" tIns="0" rIns="0" bIns="0" rtlCol="0" anchor="ctr"/>
          <a:lstStyle/>
          <a:p>
            <a:pPr algn="ctr" indent="0" marL="0">
              <a:buNone/>
            </a:pPr>
            <a:r>
              <a:rPr lang="en-US" sz="1050" dirty="0">
                <a:solidFill>
                  <a:srgbClr val="9DB4C7"/>
                </a:solidFill>
                <a:latin typeface="Courier New" pitchFamily="34" charset="0"/>
                <a:ea typeface="Courier New" pitchFamily="34" charset="-122"/>
                <a:cs typeface="Courier New" pitchFamily="34" charset="-120"/>
              </a:rPr>
              <a:t>MAX_MATCH</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HARDWARE IMPLEMENTATION</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LZ77 Stream — RTL &amp; FSM</a:t>
            </a:r>
            <a:endParaRPr lang="en-US" sz="3100" dirty="0"/>
          </a:p>
        </p:txBody>
      </p:sp>
      <p:sp>
        <p:nvSpPr>
          <p:cNvPr id="5" name="Shape 3"/>
          <p:cNvSpPr/>
          <p:nvPr/>
        </p:nvSpPr>
        <p:spPr>
          <a:xfrm>
            <a:off x="566928" y="1691640"/>
            <a:ext cx="5212080" cy="4389120"/>
          </a:xfrm>
          <a:prstGeom prst="roundRect">
            <a:avLst>
              <a:gd name="adj" fmla="val 2500"/>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6" name="Text 4"/>
          <p:cNvSpPr/>
          <p:nvPr/>
        </p:nvSpPr>
        <p:spPr>
          <a:xfrm>
            <a:off x="841248" y="1828800"/>
            <a:ext cx="4663440" cy="274320"/>
          </a:xfrm>
          <a:prstGeom prst="rect">
            <a:avLst/>
          </a:prstGeom>
          <a:noFill/>
          <a:ln/>
        </p:spPr>
        <p:txBody>
          <a:bodyPr wrap="square" lIns="0" tIns="0" rIns="0" bIns="0" rtlCol="0" anchor="ctr"/>
          <a:lstStyle/>
          <a:p>
            <a:pPr indent="0" marL="0">
              <a:buNone/>
            </a:pPr>
            <a:r>
              <a:rPr lang="en-US" sz="1500" b="1" dirty="0">
                <a:solidFill>
                  <a:srgbClr val="16324F"/>
                </a:solidFill>
                <a:latin typeface="Cambria" pitchFamily="34" charset="0"/>
                <a:ea typeface="Cambria" pitchFamily="34" charset="-122"/>
                <a:cs typeface="Cambria" pitchFamily="34" charset="-120"/>
              </a:rPr>
              <a:t>Compressor FSM</a:t>
            </a:r>
            <a:endParaRPr lang="en-US" sz="1500" dirty="0"/>
          </a:p>
        </p:txBody>
      </p:sp>
      <p:sp>
        <p:nvSpPr>
          <p:cNvPr id="7" name="Shape 5"/>
          <p:cNvSpPr/>
          <p:nvPr/>
        </p:nvSpPr>
        <p:spPr>
          <a:xfrm>
            <a:off x="1024128" y="2468880"/>
            <a:ext cx="1325880" cy="868680"/>
          </a:xfrm>
          <a:prstGeom prst="roundRect">
            <a:avLst>
              <a:gd name="adj" fmla="val 10526"/>
            </a:avLst>
          </a:prstGeom>
          <a:solidFill>
            <a:srgbClr val="1B3A5B"/>
          </a:solidFill>
          <a:ln/>
          <a:effectLst>
            <a:outerShdw sx="100000" sy="100000" kx="0" ky="0" algn="bl" rotWithShape="0" blurRad="114300" dist="38100" dir="5400000">
              <a:srgbClr val="1B3A5B">
                <a:alpha val="20000"/>
              </a:srgbClr>
            </a:outerShdw>
          </a:effectLst>
        </p:spPr>
      </p:sp>
      <p:sp>
        <p:nvSpPr>
          <p:cNvPr id="8" name="Text 6"/>
          <p:cNvSpPr/>
          <p:nvPr/>
        </p:nvSpPr>
        <p:spPr>
          <a:xfrm>
            <a:off x="1024128" y="2578608"/>
            <a:ext cx="13258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S_FILL</a:t>
            </a:r>
            <a:endParaRPr lang="en-US" sz="1300" dirty="0"/>
          </a:p>
        </p:txBody>
      </p:sp>
      <p:sp>
        <p:nvSpPr>
          <p:cNvPr id="9" name="Text 7"/>
          <p:cNvSpPr/>
          <p:nvPr/>
        </p:nvSpPr>
        <p:spPr>
          <a:xfrm>
            <a:off x="1069848" y="2871216"/>
            <a:ext cx="1234440" cy="411480"/>
          </a:xfrm>
          <a:prstGeom prst="rect">
            <a:avLst/>
          </a:prstGeom>
          <a:noFill/>
          <a:ln/>
        </p:spPr>
        <p:txBody>
          <a:bodyPr wrap="square" lIns="0" tIns="0" rIns="0" bIns="0" rtlCol="0" anchor="t"/>
          <a:lstStyle/>
          <a:p>
            <a:pPr algn="ctr" indent="0" marL="0">
              <a:buNone/>
            </a:pPr>
            <a:r>
              <a:rPr lang="en-US" sz="850" dirty="0">
                <a:solidFill>
                  <a:srgbClr val="E4EEF5"/>
                </a:solidFill>
                <a:latin typeface="Calibri" pitchFamily="34" charset="0"/>
                <a:ea typeface="Calibri" pitchFamily="34" charset="-122"/>
                <a:cs typeface="Calibri" pitchFamily="34" charset="-120"/>
              </a:rPr>
              <a:t>fill look-ahead</a:t>
            </a:r>
            <a:endParaRPr lang="en-US" sz="850" dirty="0"/>
          </a:p>
          <a:p>
            <a:pPr algn="ctr" indent="0" marL="0">
              <a:buNone/>
            </a:pPr>
            <a:r>
              <a:rPr lang="en-US" sz="850" dirty="0">
                <a:solidFill>
                  <a:srgbClr val="E4EEF5"/>
                </a:solidFill>
                <a:latin typeface="Calibri" pitchFamily="34" charset="0"/>
                <a:ea typeface="Calibri" pitchFamily="34" charset="-122"/>
                <a:cs typeface="Calibri" pitchFamily="34" charset="-120"/>
              </a:rPr>
              <a:t>from the input</a:t>
            </a:r>
            <a:endParaRPr lang="en-US" sz="850" dirty="0"/>
          </a:p>
        </p:txBody>
      </p:sp>
      <p:sp>
        <p:nvSpPr>
          <p:cNvPr id="10" name="Shape 8"/>
          <p:cNvSpPr/>
          <p:nvPr/>
        </p:nvSpPr>
        <p:spPr>
          <a:xfrm>
            <a:off x="2532888" y="2468880"/>
            <a:ext cx="1325880" cy="868680"/>
          </a:xfrm>
          <a:prstGeom prst="roundRect">
            <a:avLst>
              <a:gd name="adj" fmla="val 10526"/>
            </a:avLst>
          </a:prstGeom>
          <a:solidFill>
            <a:srgbClr val="14A8A0"/>
          </a:solidFill>
          <a:ln/>
          <a:effectLst>
            <a:outerShdw sx="100000" sy="100000" kx="0" ky="0" algn="bl" rotWithShape="0" blurRad="114300" dist="38100" dir="5400000">
              <a:srgbClr val="1B3A5B">
                <a:alpha val="20000"/>
              </a:srgbClr>
            </a:outerShdw>
          </a:effectLst>
        </p:spPr>
      </p:sp>
      <p:sp>
        <p:nvSpPr>
          <p:cNvPr id="11" name="Text 9"/>
          <p:cNvSpPr/>
          <p:nvPr/>
        </p:nvSpPr>
        <p:spPr>
          <a:xfrm>
            <a:off x="2532888" y="2578608"/>
            <a:ext cx="13258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S_SEARCH</a:t>
            </a:r>
            <a:endParaRPr lang="en-US" sz="1300" dirty="0"/>
          </a:p>
        </p:txBody>
      </p:sp>
      <p:sp>
        <p:nvSpPr>
          <p:cNvPr id="12" name="Text 10"/>
          <p:cNvSpPr/>
          <p:nvPr/>
        </p:nvSpPr>
        <p:spPr>
          <a:xfrm>
            <a:off x="2578608" y="2871216"/>
            <a:ext cx="1234440" cy="411480"/>
          </a:xfrm>
          <a:prstGeom prst="rect">
            <a:avLst/>
          </a:prstGeom>
          <a:noFill/>
          <a:ln/>
        </p:spPr>
        <p:txBody>
          <a:bodyPr wrap="square" lIns="0" tIns="0" rIns="0" bIns="0" rtlCol="0" anchor="t"/>
          <a:lstStyle/>
          <a:p>
            <a:pPr algn="ctr" indent="0" marL="0">
              <a:buNone/>
            </a:pPr>
            <a:r>
              <a:rPr lang="en-US" sz="850" dirty="0">
                <a:solidFill>
                  <a:srgbClr val="E4EEF5"/>
                </a:solidFill>
                <a:latin typeface="Calibri" pitchFamily="34" charset="0"/>
                <a:ea typeface="Calibri" pitchFamily="34" charset="-122"/>
                <a:cs typeface="Calibri" pitchFamily="34" charset="-120"/>
              </a:rPr>
              <a:t>scan history for</a:t>
            </a:r>
            <a:endParaRPr lang="en-US" sz="850" dirty="0"/>
          </a:p>
          <a:p>
            <a:pPr algn="ctr" indent="0" marL="0">
              <a:buNone/>
            </a:pPr>
            <a:r>
              <a:rPr lang="en-US" sz="850" dirty="0">
                <a:solidFill>
                  <a:srgbClr val="E4EEF5"/>
                </a:solidFill>
                <a:latin typeface="Calibri" pitchFamily="34" charset="0"/>
                <a:ea typeface="Calibri" pitchFamily="34" charset="-122"/>
                <a:cs typeface="Calibri" pitchFamily="34" charset="-120"/>
              </a:rPr>
              <a:t>longest match</a:t>
            </a:r>
            <a:endParaRPr lang="en-US" sz="850" dirty="0"/>
          </a:p>
        </p:txBody>
      </p:sp>
      <p:sp>
        <p:nvSpPr>
          <p:cNvPr id="13" name="Shape 11"/>
          <p:cNvSpPr/>
          <p:nvPr/>
        </p:nvSpPr>
        <p:spPr>
          <a:xfrm>
            <a:off x="4087368" y="2468880"/>
            <a:ext cx="1325880" cy="868680"/>
          </a:xfrm>
          <a:prstGeom prst="roundRect">
            <a:avLst>
              <a:gd name="adj" fmla="val 10526"/>
            </a:avLst>
          </a:prstGeom>
          <a:solidFill>
            <a:srgbClr val="F4A825"/>
          </a:solidFill>
          <a:ln/>
          <a:effectLst>
            <a:outerShdw sx="100000" sy="100000" kx="0" ky="0" algn="bl" rotWithShape="0" blurRad="114300" dist="38100" dir="5400000">
              <a:srgbClr val="1B3A5B">
                <a:alpha val="20000"/>
              </a:srgbClr>
            </a:outerShdw>
          </a:effectLst>
        </p:spPr>
      </p:sp>
      <p:sp>
        <p:nvSpPr>
          <p:cNvPr id="14" name="Text 12"/>
          <p:cNvSpPr/>
          <p:nvPr/>
        </p:nvSpPr>
        <p:spPr>
          <a:xfrm>
            <a:off x="4087368" y="2578608"/>
            <a:ext cx="1325880" cy="274320"/>
          </a:xfrm>
          <a:prstGeom prst="rect">
            <a:avLst/>
          </a:prstGeom>
          <a:noFill/>
          <a:ln/>
        </p:spPr>
        <p:txBody>
          <a:bodyPr wrap="square" lIns="0" tIns="0" rIns="0" bIns="0" rtlCol="0" anchor="ctr"/>
          <a:lstStyle/>
          <a:p>
            <a:pPr algn="ctr" indent="0" marL="0">
              <a:buNone/>
            </a:pPr>
            <a:r>
              <a:rPr lang="en-US" sz="1300" b="1" dirty="0">
                <a:solidFill>
                  <a:srgbClr val="16324F"/>
                </a:solidFill>
                <a:latin typeface="Cambria" pitchFamily="34" charset="0"/>
                <a:ea typeface="Cambria" pitchFamily="34" charset="-122"/>
                <a:cs typeface="Cambria" pitchFamily="34" charset="-120"/>
              </a:rPr>
              <a:t>S_E0</a:t>
            </a:r>
            <a:endParaRPr lang="en-US" sz="1300" dirty="0"/>
          </a:p>
        </p:txBody>
      </p:sp>
      <p:sp>
        <p:nvSpPr>
          <p:cNvPr id="15" name="Text 13"/>
          <p:cNvSpPr/>
          <p:nvPr/>
        </p:nvSpPr>
        <p:spPr>
          <a:xfrm>
            <a:off x="4133088" y="2871216"/>
            <a:ext cx="1234440" cy="411480"/>
          </a:xfrm>
          <a:prstGeom prst="rect">
            <a:avLst/>
          </a:prstGeom>
          <a:noFill/>
          <a:ln/>
        </p:spPr>
        <p:txBody>
          <a:bodyPr wrap="square" lIns="0" tIns="0" rIns="0" bIns="0" rtlCol="0" anchor="t"/>
          <a:lstStyle/>
          <a:p>
            <a:pPr algn="ctr" indent="0" marL="0">
              <a:buNone/>
            </a:pPr>
            <a:r>
              <a:rPr lang="en-US" sz="850" dirty="0">
                <a:solidFill>
                  <a:srgbClr val="6B5410"/>
                </a:solidFill>
                <a:latin typeface="Calibri" pitchFamily="34" charset="0"/>
                <a:ea typeface="Calibri" pitchFamily="34" charset="-122"/>
                <a:cs typeface="Calibri" pitchFamily="34" charset="-120"/>
              </a:rPr>
              <a:t>emit offset</a:t>
            </a:r>
            <a:endParaRPr lang="en-US" sz="850" dirty="0"/>
          </a:p>
        </p:txBody>
      </p:sp>
      <p:sp>
        <p:nvSpPr>
          <p:cNvPr id="16" name="Shape 14"/>
          <p:cNvSpPr/>
          <p:nvPr/>
        </p:nvSpPr>
        <p:spPr>
          <a:xfrm>
            <a:off x="4087368" y="3520440"/>
            <a:ext cx="1325880" cy="868680"/>
          </a:xfrm>
          <a:prstGeom prst="roundRect">
            <a:avLst>
              <a:gd name="adj" fmla="val 10526"/>
            </a:avLst>
          </a:prstGeom>
          <a:solidFill>
            <a:srgbClr val="F4A825"/>
          </a:solidFill>
          <a:ln/>
          <a:effectLst>
            <a:outerShdw sx="100000" sy="100000" kx="0" ky="0" algn="bl" rotWithShape="0" blurRad="114300" dist="38100" dir="5400000">
              <a:srgbClr val="1B3A5B">
                <a:alpha val="20000"/>
              </a:srgbClr>
            </a:outerShdw>
          </a:effectLst>
        </p:spPr>
      </p:sp>
      <p:sp>
        <p:nvSpPr>
          <p:cNvPr id="17" name="Text 15"/>
          <p:cNvSpPr/>
          <p:nvPr/>
        </p:nvSpPr>
        <p:spPr>
          <a:xfrm>
            <a:off x="4087368" y="3630168"/>
            <a:ext cx="1325880" cy="274320"/>
          </a:xfrm>
          <a:prstGeom prst="rect">
            <a:avLst/>
          </a:prstGeom>
          <a:noFill/>
          <a:ln/>
        </p:spPr>
        <p:txBody>
          <a:bodyPr wrap="square" lIns="0" tIns="0" rIns="0" bIns="0" rtlCol="0" anchor="ctr"/>
          <a:lstStyle/>
          <a:p>
            <a:pPr algn="ctr" indent="0" marL="0">
              <a:buNone/>
            </a:pPr>
            <a:r>
              <a:rPr lang="en-US" sz="1300" b="1" dirty="0">
                <a:solidFill>
                  <a:srgbClr val="16324F"/>
                </a:solidFill>
                <a:latin typeface="Cambria" pitchFamily="34" charset="0"/>
                <a:ea typeface="Cambria" pitchFamily="34" charset="-122"/>
                <a:cs typeface="Cambria" pitchFamily="34" charset="-120"/>
              </a:rPr>
              <a:t>S_E1</a:t>
            </a:r>
            <a:endParaRPr lang="en-US" sz="1300" dirty="0"/>
          </a:p>
        </p:txBody>
      </p:sp>
      <p:sp>
        <p:nvSpPr>
          <p:cNvPr id="18" name="Text 16"/>
          <p:cNvSpPr/>
          <p:nvPr/>
        </p:nvSpPr>
        <p:spPr>
          <a:xfrm>
            <a:off x="4133088" y="3922776"/>
            <a:ext cx="1234440" cy="411480"/>
          </a:xfrm>
          <a:prstGeom prst="rect">
            <a:avLst/>
          </a:prstGeom>
          <a:noFill/>
          <a:ln/>
        </p:spPr>
        <p:txBody>
          <a:bodyPr wrap="square" lIns="0" tIns="0" rIns="0" bIns="0" rtlCol="0" anchor="t"/>
          <a:lstStyle/>
          <a:p>
            <a:pPr algn="ctr" indent="0" marL="0">
              <a:buNone/>
            </a:pPr>
            <a:r>
              <a:rPr lang="en-US" sz="850" dirty="0">
                <a:solidFill>
                  <a:srgbClr val="6B5410"/>
                </a:solidFill>
                <a:latin typeface="Calibri" pitchFamily="34" charset="0"/>
                <a:ea typeface="Calibri" pitchFamily="34" charset="-122"/>
                <a:cs typeface="Calibri" pitchFamily="34" charset="-120"/>
              </a:rPr>
              <a:t>emit length</a:t>
            </a:r>
            <a:endParaRPr lang="en-US" sz="850" dirty="0"/>
          </a:p>
        </p:txBody>
      </p:sp>
      <p:sp>
        <p:nvSpPr>
          <p:cNvPr id="19" name="Shape 17"/>
          <p:cNvSpPr/>
          <p:nvPr/>
        </p:nvSpPr>
        <p:spPr>
          <a:xfrm>
            <a:off x="4087368" y="4572000"/>
            <a:ext cx="1325880" cy="868680"/>
          </a:xfrm>
          <a:prstGeom prst="roundRect">
            <a:avLst>
              <a:gd name="adj" fmla="val 10526"/>
            </a:avLst>
          </a:prstGeom>
          <a:solidFill>
            <a:srgbClr val="F4A825"/>
          </a:solidFill>
          <a:ln/>
          <a:effectLst>
            <a:outerShdw sx="100000" sy="100000" kx="0" ky="0" algn="bl" rotWithShape="0" blurRad="114300" dist="38100" dir="5400000">
              <a:srgbClr val="1B3A5B">
                <a:alpha val="20000"/>
              </a:srgbClr>
            </a:outerShdw>
          </a:effectLst>
        </p:spPr>
      </p:sp>
      <p:sp>
        <p:nvSpPr>
          <p:cNvPr id="20" name="Text 18"/>
          <p:cNvSpPr/>
          <p:nvPr/>
        </p:nvSpPr>
        <p:spPr>
          <a:xfrm>
            <a:off x="4087368" y="4681728"/>
            <a:ext cx="1325880" cy="274320"/>
          </a:xfrm>
          <a:prstGeom prst="rect">
            <a:avLst/>
          </a:prstGeom>
          <a:noFill/>
          <a:ln/>
        </p:spPr>
        <p:txBody>
          <a:bodyPr wrap="square" lIns="0" tIns="0" rIns="0" bIns="0" rtlCol="0" anchor="ctr"/>
          <a:lstStyle/>
          <a:p>
            <a:pPr algn="ctr" indent="0" marL="0">
              <a:buNone/>
            </a:pPr>
            <a:r>
              <a:rPr lang="en-US" sz="1300" b="1" dirty="0">
                <a:solidFill>
                  <a:srgbClr val="16324F"/>
                </a:solidFill>
                <a:latin typeface="Cambria" pitchFamily="34" charset="0"/>
                <a:ea typeface="Cambria" pitchFamily="34" charset="-122"/>
                <a:cs typeface="Cambria" pitchFamily="34" charset="-120"/>
              </a:rPr>
              <a:t>S_E2</a:t>
            </a:r>
            <a:endParaRPr lang="en-US" sz="1300" dirty="0"/>
          </a:p>
        </p:txBody>
      </p:sp>
      <p:sp>
        <p:nvSpPr>
          <p:cNvPr id="21" name="Text 19"/>
          <p:cNvSpPr/>
          <p:nvPr/>
        </p:nvSpPr>
        <p:spPr>
          <a:xfrm>
            <a:off x="4133088" y="4974336"/>
            <a:ext cx="1234440" cy="411480"/>
          </a:xfrm>
          <a:prstGeom prst="rect">
            <a:avLst/>
          </a:prstGeom>
          <a:noFill/>
          <a:ln/>
        </p:spPr>
        <p:txBody>
          <a:bodyPr wrap="square" lIns="0" tIns="0" rIns="0" bIns="0" rtlCol="0" anchor="t"/>
          <a:lstStyle/>
          <a:p>
            <a:pPr algn="ctr" indent="0" marL="0">
              <a:buNone/>
            </a:pPr>
            <a:r>
              <a:rPr lang="en-US" sz="850" dirty="0">
                <a:solidFill>
                  <a:srgbClr val="6B5410"/>
                </a:solidFill>
                <a:latin typeface="Calibri" pitchFamily="34" charset="0"/>
                <a:ea typeface="Calibri" pitchFamily="34" charset="-122"/>
                <a:cs typeface="Calibri" pitchFamily="34" charset="-120"/>
              </a:rPr>
              <a:t>emit next_char</a:t>
            </a:r>
            <a:endParaRPr lang="en-US" sz="850" dirty="0"/>
          </a:p>
        </p:txBody>
      </p:sp>
      <p:sp>
        <p:nvSpPr>
          <p:cNvPr id="22" name="Shape 20"/>
          <p:cNvSpPr/>
          <p:nvPr/>
        </p:nvSpPr>
        <p:spPr>
          <a:xfrm>
            <a:off x="2532888" y="4572000"/>
            <a:ext cx="1325880" cy="868680"/>
          </a:xfrm>
          <a:prstGeom prst="roundRect">
            <a:avLst>
              <a:gd name="adj" fmla="val 10526"/>
            </a:avLst>
          </a:prstGeom>
          <a:solidFill>
            <a:srgbClr val="14A8A0"/>
          </a:solidFill>
          <a:ln/>
          <a:effectLst>
            <a:outerShdw sx="100000" sy="100000" kx="0" ky="0" algn="bl" rotWithShape="0" blurRad="114300" dist="38100" dir="5400000">
              <a:srgbClr val="1B3A5B">
                <a:alpha val="20000"/>
              </a:srgbClr>
            </a:outerShdw>
          </a:effectLst>
        </p:spPr>
      </p:sp>
      <p:sp>
        <p:nvSpPr>
          <p:cNvPr id="23" name="Text 21"/>
          <p:cNvSpPr/>
          <p:nvPr/>
        </p:nvSpPr>
        <p:spPr>
          <a:xfrm>
            <a:off x="2532888" y="4681728"/>
            <a:ext cx="13258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S_ADV</a:t>
            </a:r>
            <a:endParaRPr lang="en-US" sz="1300" dirty="0"/>
          </a:p>
        </p:txBody>
      </p:sp>
      <p:sp>
        <p:nvSpPr>
          <p:cNvPr id="24" name="Text 22"/>
          <p:cNvSpPr/>
          <p:nvPr/>
        </p:nvSpPr>
        <p:spPr>
          <a:xfrm>
            <a:off x="2578608" y="4974336"/>
            <a:ext cx="1234440" cy="411480"/>
          </a:xfrm>
          <a:prstGeom prst="rect">
            <a:avLst/>
          </a:prstGeom>
          <a:noFill/>
          <a:ln/>
        </p:spPr>
        <p:txBody>
          <a:bodyPr wrap="square" lIns="0" tIns="0" rIns="0" bIns="0" rtlCol="0" anchor="t"/>
          <a:lstStyle/>
          <a:p>
            <a:pPr algn="ctr" indent="0" marL="0">
              <a:buNone/>
            </a:pPr>
            <a:r>
              <a:rPr lang="en-US" sz="850" dirty="0">
                <a:solidFill>
                  <a:srgbClr val="E4EEF5"/>
                </a:solidFill>
                <a:latin typeface="Calibri" pitchFamily="34" charset="0"/>
                <a:ea typeface="Calibri" pitchFamily="34" charset="-122"/>
                <a:cs typeface="Calibri" pitchFamily="34" charset="-120"/>
              </a:rPr>
              <a:t>advance window</a:t>
            </a:r>
            <a:endParaRPr lang="en-US" sz="850" dirty="0"/>
          </a:p>
          <a:p>
            <a:pPr algn="ctr" indent="0" marL="0">
              <a:buNone/>
            </a:pPr>
            <a:r>
              <a:rPr lang="en-US" sz="850" dirty="0">
                <a:solidFill>
                  <a:srgbClr val="E4EEF5"/>
                </a:solidFill>
                <a:latin typeface="Calibri" pitchFamily="34" charset="0"/>
                <a:ea typeface="Calibri" pitchFamily="34" charset="-122"/>
                <a:cs typeface="Calibri" pitchFamily="34" charset="-120"/>
              </a:rPr>
              <a:t>by length+1</a:t>
            </a:r>
            <a:endParaRPr lang="en-US" sz="850" dirty="0"/>
          </a:p>
        </p:txBody>
      </p:sp>
      <p:sp>
        <p:nvSpPr>
          <p:cNvPr id="25" name="Shape 23"/>
          <p:cNvSpPr/>
          <p:nvPr/>
        </p:nvSpPr>
        <p:spPr>
          <a:xfrm>
            <a:off x="1024128" y="4572000"/>
            <a:ext cx="1325880" cy="868680"/>
          </a:xfrm>
          <a:prstGeom prst="roundRect">
            <a:avLst>
              <a:gd name="adj" fmla="val 10526"/>
            </a:avLst>
          </a:prstGeom>
          <a:solidFill>
            <a:srgbClr val="E5635E"/>
          </a:solidFill>
          <a:ln/>
          <a:effectLst>
            <a:outerShdw sx="100000" sy="100000" kx="0" ky="0" algn="bl" rotWithShape="0" blurRad="114300" dist="38100" dir="5400000">
              <a:srgbClr val="1B3A5B">
                <a:alpha val="20000"/>
              </a:srgbClr>
            </a:outerShdw>
          </a:effectLst>
        </p:spPr>
      </p:sp>
      <p:sp>
        <p:nvSpPr>
          <p:cNvPr id="26" name="Text 24"/>
          <p:cNvSpPr/>
          <p:nvPr/>
        </p:nvSpPr>
        <p:spPr>
          <a:xfrm>
            <a:off x="1024128" y="4681728"/>
            <a:ext cx="13258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S_DONE</a:t>
            </a:r>
            <a:endParaRPr lang="en-US" sz="1300" dirty="0"/>
          </a:p>
        </p:txBody>
      </p:sp>
      <p:sp>
        <p:nvSpPr>
          <p:cNvPr id="27" name="Text 25"/>
          <p:cNvSpPr/>
          <p:nvPr/>
        </p:nvSpPr>
        <p:spPr>
          <a:xfrm>
            <a:off x="1069848" y="4974336"/>
            <a:ext cx="1234440" cy="411480"/>
          </a:xfrm>
          <a:prstGeom prst="rect">
            <a:avLst/>
          </a:prstGeom>
          <a:noFill/>
          <a:ln/>
        </p:spPr>
        <p:txBody>
          <a:bodyPr wrap="square" lIns="0" tIns="0" rIns="0" bIns="0" rtlCol="0" anchor="t"/>
          <a:lstStyle/>
          <a:p>
            <a:pPr algn="ctr" indent="0" marL="0">
              <a:buNone/>
            </a:pPr>
            <a:r>
              <a:rPr lang="en-US" sz="850" dirty="0">
                <a:solidFill>
                  <a:srgbClr val="E4EEF5"/>
                </a:solidFill>
                <a:latin typeface="Calibri" pitchFamily="34" charset="0"/>
                <a:ea typeface="Calibri" pitchFamily="34" charset="-122"/>
                <a:cs typeface="Calibri" pitchFamily="34" charset="-120"/>
              </a:rPr>
              <a:t>last asserted</a:t>
            </a:r>
            <a:endParaRPr lang="en-US" sz="850" dirty="0"/>
          </a:p>
        </p:txBody>
      </p:sp>
      <p:sp>
        <p:nvSpPr>
          <p:cNvPr id="28" name="Shape 26"/>
          <p:cNvSpPr/>
          <p:nvPr/>
        </p:nvSpPr>
        <p:spPr>
          <a:xfrm>
            <a:off x="2350008" y="2898648"/>
            <a:ext cx="182880" cy="0"/>
          </a:xfrm>
          <a:prstGeom prst="line">
            <a:avLst/>
          </a:prstGeom>
          <a:noFill/>
          <a:ln w="19050">
            <a:solidFill>
              <a:srgbClr val="5A6B7B"/>
            </a:solidFill>
            <a:prstDash val="solid"/>
            <a:tailEnd type="triangle"/>
          </a:ln>
        </p:spPr>
      </p:sp>
      <p:sp>
        <p:nvSpPr>
          <p:cNvPr id="29" name="Shape 27"/>
          <p:cNvSpPr/>
          <p:nvPr/>
        </p:nvSpPr>
        <p:spPr>
          <a:xfrm>
            <a:off x="3858768" y="2898648"/>
            <a:ext cx="228600" cy="0"/>
          </a:xfrm>
          <a:prstGeom prst="line">
            <a:avLst/>
          </a:prstGeom>
          <a:noFill/>
          <a:ln w="19050">
            <a:solidFill>
              <a:srgbClr val="5A6B7B"/>
            </a:solidFill>
            <a:prstDash val="solid"/>
            <a:tailEnd type="triangle"/>
          </a:ln>
        </p:spPr>
      </p:sp>
      <p:sp>
        <p:nvSpPr>
          <p:cNvPr id="30" name="Shape 28"/>
          <p:cNvSpPr/>
          <p:nvPr/>
        </p:nvSpPr>
        <p:spPr>
          <a:xfrm>
            <a:off x="4745736" y="3337560"/>
            <a:ext cx="0" cy="182880"/>
          </a:xfrm>
          <a:prstGeom prst="line">
            <a:avLst/>
          </a:prstGeom>
          <a:noFill/>
          <a:ln w="19050">
            <a:solidFill>
              <a:srgbClr val="5A6B7B"/>
            </a:solidFill>
            <a:prstDash val="solid"/>
            <a:tailEnd type="triangle"/>
          </a:ln>
        </p:spPr>
      </p:sp>
      <p:sp>
        <p:nvSpPr>
          <p:cNvPr id="31" name="Shape 29"/>
          <p:cNvSpPr/>
          <p:nvPr/>
        </p:nvSpPr>
        <p:spPr>
          <a:xfrm>
            <a:off x="4745736" y="4389120"/>
            <a:ext cx="0" cy="182880"/>
          </a:xfrm>
          <a:prstGeom prst="line">
            <a:avLst/>
          </a:prstGeom>
          <a:noFill/>
          <a:ln w="19050">
            <a:solidFill>
              <a:srgbClr val="5A6B7B"/>
            </a:solidFill>
            <a:prstDash val="solid"/>
            <a:tailEnd type="triangle"/>
          </a:ln>
        </p:spPr>
      </p:sp>
      <p:sp>
        <p:nvSpPr>
          <p:cNvPr id="32" name="Shape 30"/>
          <p:cNvSpPr/>
          <p:nvPr/>
        </p:nvSpPr>
        <p:spPr>
          <a:xfrm flipH="1">
            <a:off x="3858768" y="5001768"/>
            <a:ext cx="228600" cy="0"/>
          </a:xfrm>
          <a:prstGeom prst="line">
            <a:avLst/>
          </a:prstGeom>
          <a:noFill/>
          <a:ln w="19050">
            <a:solidFill>
              <a:srgbClr val="5A6B7B"/>
            </a:solidFill>
            <a:prstDash val="solid"/>
            <a:tailEnd type="triangle"/>
          </a:ln>
        </p:spPr>
      </p:sp>
      <p:sp>
        <p:nvSpPr>
          <p:cNvPr id="33" name="Shape 31"/>
          <p:cNvSpPr/>
          <p:nvPr/>
        </p:nvSpPr>
        <p:spPr>
          <a:xfrm flipH="1">
            <a:off x="2350008" y="5001768"/>
            <a:ext cx="182880" cy="0"/>
          </a:xfrm>
          <a:prstGeom prst="line">
            <a:avLst/>
          </a:prstGeom>
          <a:noFill/>
          <a:ln w="19050">
            <a:solidFill>
              <a:srgbClr val="5A6B7B"/>
            </a:solidFill>
            <a:prstDash val="solid"/>
            <a:tailEnd type="triangle"/>
          </a:ln>
        </p:spPr>
      </p:sp>
      <p:sp>
        <p:nvSpPr>
          <p:cNvPr id="34" name="Text 32"/>
          <p:cNvSpPr/>
          <p:nvPr/>
        </p:nvSpPr>
        <p:spPr>
          <a:xfrm>
            <a:off x="841248" y="5623560"/>
            <a:ext cx="4663440" cy="320040"/>
          </a:xfrm>
          <a:prstGeom prst="rect">
            <a:avLst/>
          </a:prstGeom>
          <a:noFill/>
          <a:ln/>
        </p:spPr>
        <p:txBody>
          <a:bodyPr wrap="square" lIns="0" tIns="0" rIns="0" bIns="0" rtlCol="0" anchor="ctr"/>
          <a:lstStyle/>
          <a:p>
            <a:pPr algn="ctr" indent="0" marL="0">
              <a:buNone/>
            </a:pPr>
            <a:r>
              <a:rPr lang="en-US" sz="1100" i="1" dirty="0">
                <a:solidFill>
                  <a:srgbClr val="0C7A76"/>
                </a:solidFill>
                <a:latin typeface="Courier New" pitchFamily="34" charset="0"/>
                <a:ea typeface="Courier New" pitchFamily="34" charset="-122"/>
                <a:cs typeface="Courier New" pitchFamily="34" charset="-120"/>
              </a:rPr>
              <a:t>FILL → SEARCH → E0 → E1 → E2 → ADV → (loop)</a:t>
            </a:r>
            <a:endParaRPr lang="en-US" sz="1100" dirty="0"/>
          </a:p>
        </p:txBody>
      </p:sp>
      <p:sp>
        <p:nvSpPr>
          <p:cNvPr id="35" name="Shape 33"/>
          <p:cNvSpPr/>
          <p:nvPr/>
        </p:nvSpPr>
        <p:spPr>
          <a:xfrm>
            <a:off x="5989320" y="1691640"/>
            <a:ext cx="5623560" cy="2468880"/>
          </a:xfrm>
          <a:prstGeom prst="roundRect">
            <a:avLst>
              <a:gd name="adj" fmla="val 2593"/>
            </a:avLst>
          </a:prstGeom>
          <a:solidFill>
            <a:srgbClr val="0E2233"/>
          </a:solidFill>
          <a:ln w="12700">
            <a:solidFill>
              <a:srgbClr val="25415A"/>
            </a:solidFill>
            <a:prstDash val="solid"/>
          </a:ln>
          <a:effectLst>
            <a:outerShdw sx="100000" sy="100000" kx="0" ky="0" algn="bl" rotWithShape="0" blurRad="114300" dist="38100" dir="5400000">
              <a:srgbClr val="1B3A5B">
                <a:alpha val="20000"/>
              </a:srgbClr>
            </a:outerShdw>
          </a:effectLst>
        </p:spPr>
      </p:sp>
      <p:sp>
        <p:nvSpPr>
          <p:cNvPr id="36" name="Text 34"/>
          <p:cNvSpPr/>
          <p:nvPr/>
        </p:nvSpPr>
        <p:spPr>
          <a:xfrm>
            <a:off x="6190488" y="1783080"/>
            <a:ext cx="5257800" cy="256032"/>
          </a:xfrm>
          <a:prstGeom prst="rect">
            <a:avLst/>
          </a:prstGeom>
          <a:noFill/>
          <a:ln/>
        </p:spPr>
        <p:txBody>
          <a:bodyPr wrap="square" lIns="0" tIns="0" rIns="0" bIns="0" rtlCol="0" anchor="ctr"/>
          <a:lstStyle/>
          <a:p>
            <a:pPr algn="l" indent="0" marL="0">
              <a:buNone/>
            </a:pPr>
            <a:r>
              <a:rPr lang="en-US" sz="1000" i="1" dirty="0">
                <a:solidFill>
                  <a:srgbClr val="18C2B8"/>
                </a:solidFill>
                <a:latin typeface="Courier New" pitchFamily="34" charset="0"/>
                <a:ea typeface="Courier New" pitchFamily="34" charset="-122"/>
                <a:cs typeface="Courier New" pitchFamily="34" charset="-120"/>
              </a:rPr>
              <a:t>lz77_stream.v  —  emit path</a:t>
            </a:r>
            <a:endParaRPr lang="en-US" sz="1000" dirty="0"/>
          </a:p>
        </p:txBody>
      </p:sp>
      <p:sp>
        <p:nvSpPr>
          <p:cNvPr id="37" name="Text 35"/>
          <p:cNvSpPr/>
          <p:nvPr/>
        </p:nvSpPr>
        <p:spPr>
          <a:xfrm>
            <a:off x="6190488" y="2093976"/>
            <a:ext cx="5257800" cy="1956816"/>
          </a:xfrm>
          <a:prstGeom prst="rect">
            <a:avLst/>
          </a:prstGeom>
          <a:noFill/>
          <a:ln/>
        </p:spPr>
        <p:txBody>
          <a:bodyPr wrap="square" lIns="0" tIns="0" rIns="0" bIns="0" rtlCol="0" anchor="t"/>
          <a:lstStyle/>
          <a:p>
            <a:pPr algn="l" indent="0" marL="0">
              <a:lnSpc>
                <a:spcPct val="102000"/>
              </a:lnSpc>
              <a:buNone/>
            </a:pPr>
            <a:r>
              <a:rPr lang="en-US" sz="1050" dirty="0">
                <a:solidFill>
                  <a:srgbClr val="6FA8A0"/>
                </a:solidFill>
                <a:latin typeface="Courier New" pitchFamily="34" charset="0"/>
                <a:ea typeface="Courier New" pitchFamily="34" charset="-122"/>
                <a:cs typeface="Courier New" pitchFamily="34" charset="-120"/>
              </a:rPr>
              <a:t>// match source: history for k&lt;d, else the</a:t>
            </a:r>
            <a:endParaRPr lang="en-US" sz="1050" dirty="0"/>
          </a:p>
          <a:p>
            <a:pPr algn="l" indent="0" marL="0">
              <a:lnSpc>
                <a:spcPct val="102000"/>
              </a:lnSpc>
              <a:buNone/>
            </a:pPr>
            <a:r>
              <a:rPr lang="en-US" sz="1050" dirty="0">
                <a:solidFill>
                  <a:srgbClr val="6FA8A0"/>
                </a:solidFill>
                <a:latin typeface="Courier New" pitchFamily="34" charset="0"/>
                <a:ea typeface="Courier New" pitchFamily="34" charset="-122"/>
                <a:cs typeface="Courier New" pitchFamily="34" charset="-120"/>
              </a:rPr>
              <a:t>// look-ahead itself  (handles overlap len&gt;off)</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wire src = (k &lt; d) ? hist[sidx] : look[k-d];</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wire can_extend = (k &lt; maxm) &amp;&amp; (src==look[k]);</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 </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assign m_valid = (state==S_E0)||(state==S_E1)</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                              ||(state==S_E2);</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assign m_data  = (state==S_E0) ? best_off :</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                 (state==S_E1) ? best_len :</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                                 look[best_len];</a:t>
            </a:r>
            <a:endParaRPr lang="en-US" sz="1050" dirty="0"/>
          </a:p>
          <a:p>
            <a:pPr algn="l" indent="0" marL="0">
              <a:lnSpc>
                <a:spcPct val="102000"/>
              </a:lnSpc>
              <a:buNone/>
            </a:pPr>
            <a:r>
              <a:rPr lang="en-US" sz="1050" dirty="0">
                <a:solidFill>
                  <a:srgbClr val="D7E3EE"/>
                </a:solidFill>
                <a:latin typeface="Courier New" pitchFamily="34" charset="0"/>
                <a:ea typeface="Courier New" pitchFamily="34" charset="-122"/>
                <a:cs typeface="Courier New" pitchFamily="34" charset="-120"/>
              </a:rPr>
              <a:t>assign m_last  = (state==S_E2) &amp;&amp; final_tok;</a:t>
            </a:r>
            <a:endParaRPr lang="en-US" sz="1050" dirty="0"/>
          </a:p>
        </p:txBody>
      </p:sp>
      <p:sp>
        <p:nvSpPr>
          <p:cNvPr id="38" name="Shape 36"/>
          <p:cNvSpPr/>
          <p:nvPr/>
        </p:nvSpPr>
        <p:spPr>
          <a:xfrm>
            <a:off x="5989320" y="4343400"/>
            <a:ext cx="5623560" cy="420624"/>
          </a:xfrm>
          <a:prstGeom prst="roundRect">
            <a:avLst>
              <a:gd name="adj" fmla="val 15217"/>
            </a:avLst>
          </a:prstGeom>
          <a:solidFill>
            <a:srgbClr val="F1F5F9"/>
          </a:solidFill>
          <a:ln w="12700">
            <a:solidFill>
              <a:srgbClr val="D3DEE8"/>
            </a:solidFill>
            <a:prstDash val="solid"/>
          </a:ln>
        </p:spPr>
      </p:sp>
      <p:sp>
        <p:nvSpPr>
          <p:cNvPr id="39" name="Text 37"/>
          <p:cNvSpPr/>
          <p:nvPr/>
        </p:nvSpPr>
        <p:spPr>
          <a:xfrm>
            <a:off x="6172200" y="4343400"/>
            <a:ext cx="5303520" cy="420624"/>
          </a:xfrm>
          <a:prstGeom prst="rect">
            <a:avLst/>
          </a:prstGeom>
          <a:noFill/>
          <a:ln/>
        </p:spPr>
        <p:txBody>
          <a:bodyPr wrap="square" lIns="0" tIns="0" rIns="0" bIns="0" rtlCol="0" anchor="ctr"/>
          <a:lstStyle/>
          <a:p>
            <a:pPr indent="0" marL="0">
              <a:buNone/>
            </a:pPr>
            <a:r>
              <a:rPr lang="en-US" sz="1150" b="1" dirty="0">
                <a:solidFill>
                  <a:srgbClr val="0C7A76"/>
                </a:solidFill>
                <a:latin typeface="Cambria" pitchFamily="34" charset="0"/>
                <a:ea typeface="Cambria" pitchFamily="34" charset="-122"/>
                <a:cs typeface="Cambria" pitchFamily="34" charset="-120"/>
              </a:rPr>
              <a:t>Inputs   </a:t>
            </a:r>
            <a:pPr indent="0" marL="0">
              <a:buNone/>
            </a:pPr>
            <a:r>
              <a:rPr lang="en-US" sz="1050" dirty="0">
                <a:solidFill>
                  <a:srgbClr val="5A6B7B"/>
                </a:solidFill>
                <a:latin typeface="Courier New" pitchFamily="34" charset="0"/>
                <a:ea typeface="Courier New" pitchFamily="34" charset="-122"/>
                <a:cs typeface="Courier New" pitchFamily="34" charset="-120"/>
              </a:rPr>
              <a:t>s_valid · s_data · s_last · m_ready · clk · rst_n</a:t>
            </a:r>
            <a:endParaRPr lang="en-US" sz="1150" dirty="0"/>
          </a:p>
        </p:txBody>
      </p:sp>
      <p:sp>
        <p:nvSpPr>
          <p:cNvPr id="40" name="Shape 38"/>
          <p:cNvSpPr/>
          <p:nvPr/>
        </p:nvSpPr>
        <p:spPr>
          <a:xfrm>
            <a:off x="5989320" y="4828032"/>
            <a:ext cx="5623560" cy="420624"/>
          </a:xfrm>
          <a:prstGeom prst="roundRect">
            <a:avLst>
              <a:gd name="adj" fmla="val 15217"/>
            </a:avLst>
          </a:prstGeom>
          <a:solidFill>
            <a:srgbClr val="F1F5F9"/>
          </a:solidFill>
          <a:ln w="12700">
            <a:solidFill>
              <a:srgbClr val="D3DEE8"/>
            </a:solidFill>
            <a:prstDash val="solid"/>
          </a:ln>
        </p:spPr>
      </p:sp>
      <p:sp>
        <p:nvSpPr>
          <p:cNvPr id="41" name="Text 39"/>
          <p:cNvSpPr/>
          <p:nvPr/>
        </p:nvSpPr>
        <p:spPr>
          <a:xfrm>
            <a:off x="6172200" y="4828032"/>
            <a:ext cx="5303520" cy="420624"/>
          </a:xfrm>
          <a:prstGeom prst="rect">
            <a:avLst/>
          </a:prstGeom>
          <a:noFill/>
          <a:ln/>
        </p:spPr>
        <p:txBody>
          <a:bodyPr wrap="square" lIns="0" tIns="0" rIns="0" bIns="0" rtlCol="0" anchor="ctr"/>
          <a:lstStyle/>
          <a:p>
            <a:pPr indent="0" marL="0">
              <a:buNone/>
            </a:pPr>
            <a:r>
              <a:rPr lang="en-US" sz="1150" b="1" dirty="0">
                <a:solidFill>
                  <a:srgbClr val="0C7A76"/>
                </a:solidFill>
                <a:latin typeface="Cambria" pitchFamily="34" charset="0"/>
                <a:ea typeface="Cambria" pitchFamily="34" charset="-122"/>
                <a:cs typeface="Cambria" pitchFamily="34" charset="-120"/>
              </a:rPr>
              <a:t>Outputs   </a:t>
            </a:r>
            <a:pPr indent="0" marL="0">
              <a:buNone/>
            </a:pPr>
            <a:r>
              <a:rPr lang="en-US" sz="1050" dirty="0">
                <a:solidFill>
                  <a:srgbClr val="5A6B7B"/>
                </a:solidFill>
                <a:latin typeface="Courier New" pitchFamily="34" charset="0"/>
                <a:ea typeface="Courier New" pitchFamily="34" charset="-122"/>
                <a:cs typeface="Courier New" pitchFamily="34" charset="-120"/>
              </a:rPr>
              <a:t>s_ready · m_valid · m_data · m_last</a:t>
            </a:r>
            <a:endParaRPr lang="en-US" sz="1150" dirty="0"/>
          </a:p>
        </p:txBody>
      </p:sp>
      <p:sp>
        <p:nvSpPr>
          <p:cNvPr id="42" name="Shape 40"/>
          <p:cNvSpPr/>
          <p:nvPr/>
        </p:nvSpPr>
        <p:spPr>
          <a:xfrm>
            <a:off x="5989320" y="5312664"/>
            <a:ext cx="5623560" cy="420624"/>
          </a:xfrm>
          <a:prstGeom prst="roundRect">
            <a:avLst>
              <a:gd name="adj" fmla="val 15217"/>
            </a:avLst>
          </a:prstGeom>
          <a:solidFill>
            <a:srgbClr val="F1F5F9"/>
          </a:solidFill>
          <a:ln w="12700">
            <a:solidFill>
              <a:srgbClr val="D3DEE8"/>
            </a:solidFill>
            <a:prstDash val="solid"/>
          </a:ln>
        </p:spPr>
      </p:sp>
      <p:sp>
        <p:nvSpPr>
          <p:cNvPr id="43" name="Text 41"/>
          <p:cNvSpPr/>
          <p:nvPr/>
        </p:nvSpPr>
        <p:spPr>
          <a:xfrm>
            <a:off x="6172200" y="5312664"/>
            <a:ext cx="5303520" cy="420624"/>
          </a:xfrm>
          <a:prstGeom prst="rect">
            <a:avLst/>
          </a:prstGeom>
          <a:noFill/>
          <a:ln/>
        </p:spPr>
        <p:txBody>
          <a:bodyPr wrap="square" lIns="0" tIns="0" rIns="0" bIns="0" rtlCol="0" anchor="ctr"/>
          <a:lstStyle/>
          <a:p>
            <a:pPr indent="0" marL="0">
              <a:buNone/>
            </a:pPr>
            <a:r>
              <a:rPr lang="en-US" sz="1150" b="1" dirty="0">
                <a:solidFill>
                  <a:srgbClr val="0C7A76"/>
                </a:solidFill>
                <a:latin typeface="Cambria" pitchFamily="34" charset="0"/>
                <a:ea typeface="Cambria" pitchFamily="34" charset="-122"/>
                <a:cs typeface="Cambria" pitchFamily="34" charset="-120"/>
              </a:rPr>
              <a:t>Matching engine   </a:t>
            </a:r>
            <a:pPr indent="0" marL="0">
              <a:buNone/>
            </a:pPr>
            <a:r>
              <a:rPr lang="en-US" sz="1050" dirty="0">
                <a:solidFill>
                  <a:srgbClr val="5A6B7B"/>
                </a:solidFill>
                <a:latin typeface="Courier New" pitchFamily="34" charset="0"/>
                <a:ea typeface="Courier New" pitchFamily="34" charset="-122"/>
                <a:cs typeface="Courier New" pitchFamily="34" charset="-120"/>
              </a:rPr>
              <a:t>extends a candidate byte-by-byte; keeps best (off,len)</a:t>
            </a:r>
            <a:endParaRPr lang="en-US" sz="1150" dirty="0"/>
          </a:p>
        </p:txBody>
      </p:sp>
      <p:sp>
        <p:nvSpPr>
          <p:cNvPr id="44" name="Shape 42"/>
          <p:cNvSpPr/>
          <p:nvPr/>
        </p:nvSpPr>
        <p:spPr>
          <a:xfrm>
            <a:off x="5989320" y="5797296"/>
            <a:ext cx="5623560" cy="420624"/>
          </a:xfrm>
          <a:prstGeom prst="roundRect">
            <a:avLst>
              <a:gd name="adj" fmla="val 15217"/>
            </a:avLst>
          </a:prstGeom>
          <a:solidFill>
            <a:srgbClr val="F1F5F9"/>
          </a:solidFill>
          <a:ln w="12700">
            <a:solidFill>
              <a:srgbClr val="D3DEE8"/>
            </a:solidFill>
            <a:prstDash val="solid"/>
          </a:ln>
        </p:spPr>
      </p:sp>
      <p:sp>
        <p:nvSpPr>
          <p:cNvPr id="45" name="Text 43"/>
          <p:cNvSpPr/>
          <p:nvPr/>
        </p:nvSpPr>
        <p:spPr>
          <a:xfrm>
            <a:off x="6172200" y="5797296"/>
            <a:ext cx="5303520" cy="420624"/>
          </a:xfrm>
          <a:prstGeom prst="rect">
            <a:avLst/>
          </a:prstGeom>
          <a:noFill/>
          <a:ln/>
        </p:spPr>
        <p:txBody>
          <a:bodyPr wrap="square" lIns="0" tIns="0" rIns="0" bIns="0" rtlCol="0" anchor="ctr"/>
          <a:lstStyle/>
          <a:p>
            <a:pPr indent="0" marL="0">
              <a:buNone/>
            </a:pPr>
            <a:r>
              <a:rPr lang="en-US" sz="1150" b="1" dirty="0">
                <a:solidFill>
                  <a:srgbClr val="0C7A76"/>
                </a:solidFill>
                <a:latin typeface="Cambria" pitchFamily="34" charset="0"/>
                <a:ea typeface="Cambria" pitchFamily="34" charset="-122"/>
                <a:cs typeface="Cambria" pitchFamily="34" charset="-120"/>
              </a:rPr>
              <a:t>Overlap   </a:t>
            </a:r>
            <a:pPr indent="0" marL="0">
              <a:buNone/>
            </a:pPr>
            <a:r>
              <a:rPr lang="en-US" sz="1050" dirty="0">
                <a:solidFill>
                  <a:srgbClr val="5A6B7B"/>
                </a:solidFill>
                <a:latin typeface="Courier New" pitchFamily="34" charset="0"/>
                <a:ea typeface="Courier New" pitchFamily="34" charset="-122"/>
                <a:cs typeface="Courier New" pitchFamily="34" charset="-120"/>
              </a:rPr>
              <a:t>len &gt; offset works — source falls through into look-ahead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VERIFICATION</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LZ77 Stream — Testbench</a:t>
            </a:r>
            <a:endParaRPr lang="en-US" sz="3100" dirty="0"/>
          </a:p>
        </p:txBody>
      </p:sp>
      <p:sp>
        <p:nvSpPr>
          <p:cNvPr id="5" name="Text 3"/>
          <p:cNvSpPr/>
          <p:nvPr/>
        </p:nvSpPr>
        <p:spPr>
          <a:xfrm>
            <a:off x="566928" y="1261872"/>
            <a:ext cx="10515600" cy="36576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tb_lz77_stream.v drives the full streaming path and self-checks the round-trip.</a:t>
            </a:r>
            <a:endParaRPr lang="en-US" sz="1350" dirty="0"/>
          </a:p>
        </p:txBody>
      </p:sp>
      <p:sp>
        <p:nvSpPr>
          <p:cNvPr id="6" name="Shape 4"/>
          <p:cNvSpPr/>
          <p:nvPr/>
        </p:nvSpPr>
        <p:spPr>
          <a:xfrm>
            <a:off x="566928" y="1874520"/>
            <a:ext cx="2084832" cy="1005840"/>
          </a:xfrm>
          <a:prstGeom prst="roundRect">
            <a:avLst>
              <a:gd name="adj" fmla="val 8182"/>
            </a:avLst>
          </a:prstGeom>
          <a:solidFill>
            <a:srgbClr val="1B3A5B"/>
          </a:solidFill>
          <a:ln/>
          <a:effectLst>
            <a:outerShdw sx="100000" sy="100000" kx="0" ky="0" algn="bl" rotWithShape="0" blurRad="114300" dist="38100" dir="5400000">
              <a:srgbClr val="1B3A5B">
                <a:alpha val="20000"/>
              </a:srgbClr>
            </a:outerShdw>
          </a:effectLst>
        </p:spPr>
      </p:sp>
      <p:sp>
        <p:nvSpPr>
          <p:cNvPr id="7" name="Text 5"/>
          <p:cNvSpPr/>
          <p:nvPr/>
        </p:nvSpPr>
        <p:spPr>
          <a:xfrm>
            <a:off x="566928" y="2020824"/>
            <a:ext cx="208483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stimulus</a:t>
            </a:r>
            <a:endParaRPr lang="en-US" sz="1200" dirty="0"/>
          </a:p>
        </p:txBody>
      </p:sp>
      <p:sp>
        <p:nvSpPr>
          <p:cNvPr id="8" name="Text 6"/>
          <p:cNvSpPr/>
          <p:nvPr/>
        </p:nvSpPr>
        <p:spPr>
          <a:xfrm>
            <a:off x="640080" y="2377440"/>
            <a:ext cx="1938528" cy="411480"/>
          </a:xfrm>
          <a:prstGeom prst="rect">
            <a:avLst/>
          </a:prstGeom>
          <a:noFill/>
          <a:ln/>
        </p:spPr>
        <p:txBody>
          <a:bodyPr wrap="square" lIns="0" tIns="0" rIns="0" bIns="0" rtlCol="0" anchor="t"/>
          <a:lstStyle/>
          <a:p>
            <a:pPr algn="ctr" indent="0" marL="0">
              <a:buNone/>
            </a:pPr>
            <a:r>
              <a:rPr lang="en-US" sz="950" dirty="0">
                <a:solidFill>
                  <a:srgbClr val="E4EEF5"/>
                </a:solidFill>
                <a:latin typeface="Calibri" pitchFamily="34" charset="0"/>
                <a:ea typeface="Calibri" pitchFamily="34" charset="-122"/>
                <a:cs typeface="Calibri" pitchFamily="34" charset="-120"/>
              </a:rPr>
              <a:t>byte stream + last</a:t>
            </a:r>
            <a:endParaRPr lang="en-US" sz="950" dirty="0"/>
          </a:p>
        </p:txBody>
      </p:sp>
      <p:sp>
        <p:nvSpPr>
          <p:cNvPr id="9" name="Shape 7"/>
          <p:cNvSpPr/>
          <p:nvPr/>
        </p:nvSpPr>
        <p:spPr>
          <a:xfrm>
            <a:off x="2651760" y="2286000"/>
            <a:ext cx="164592" cy="182880"/>
          </a:xfrm>
          <a:prstGeom prst="rightArrow">
            <a:avLst/>
          </a:prstGeom>
          <a:solidFill>
            <a:srgbClr val="5A6B7B"/>
          </a:solidFill>
          <a:ln/>
        </p:spPr>
      </p:sp>
      <p:sp>
        <p:nvSpPr>
          <p:cNvPr id="10" name="Shape 8"/>
          <p:cNvSpPr/>
          <p:nvPr/>
        </p:nvSpPr>
        <p:spPr>
          <a:xfrm>
            <a:off x="2816352" y="1874520"/>
            <a:ext cx="2084832" cy="1005840"/>
          </a:xfrm>
          <a:prstGeom prst="roundRect">
            <a:avLst>
              <a:gd name="adj" fmla="val 8182"/>
            </a:avLst>
          </a:prstGeom>
          <a:solidFill>
            <a:srgbClr val="14A8A0"/>
          </a:solidFill>
          <a:ln/>
          <a:effectLst>
            <a:outerShdw sx="100000" sy="100000" kx="0" ky="0" algn="bl" rotWithShape="0" blurRad="114300" dist="38100" dir="5400000">
              <a:srgbClr val="1B3A5B">
                <a:alpha val="20000"/>
              </a:srgbClr>
            </a:outerShdw>
          </a:effectLst>
        </p:spPr>
      </p:sp>
      <p:sp>
        <p:nvSpPr>
          <p:cNvPr id="11" name="Text 9"/>
          <p:cNvSpPr/>
          <p:nvPr/>
        </p:nvSpPr>
        <p:spPr>
          <a:xfrm>
            <a:off x="2816352" y="2020824"/>
            <a:ext cx="208483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compress</a:t>
            </a:r>
            <a:endParaRPr lang="en-US" sz="1200" dirty="0"/>
          </a:p>
        </p:txBody>
      </p:sp>
      <p:sp>
        <p:nvSpPr>
          <p:cNvPr id="12" name="Text 10"/>
          <p:cNvSpPr/>
          <p:nvPr/>
        </p:nvSpPr>
        <p:spPr>
          <a:xfrm>
            <a:off x="2889504" y="2377440"/>
            <a:ext cx="1938528" cy="411480"/>
          </a:xfrm>
          <a:prstGeom prst="rect">
            <a:avLst/>
          </a:prstGeom>
          <a:noFill/>
          <a:ln/>
        </p:spPr>
        <p:txBody>
          <a:bodyPr wrap="square" lIns="0" tIns="0" rIns="0" bIns="0" rtlCol="0" anchor="t"/>
          <a:lstStyle/>
          <a:p>
            <a:pPr algn="ctr" indent="0" marL="0">
              <a:buNone/>
            </a:pPr>
            <a:r>
              <a:rPr lang="en-US" sz="950" dirty="0">
                <a:solidFill>
                  <a:srgbClr val="E4EEF5"/>
                </a:solidFill>
                <a:latin typeface="Calibri" pitchFamily="34" charset="0"/>
                <a:ea typeface="Calibri" pitchFamily="34" charset="-122"/>
                <a:cs typeface="Calibri" pitchFamily="34" charset="-120"/>
              </a:rPr>
              <a:t>lz77_stream_compress</a:t>
            </a:r>
            <a:endParaRPr lang="en-US" sz="950" dirty="0"/>
          </a:p>
        </p:txBody>
      </p:sp>
      <p:sp>
        <p:nvSpPr>
          <p:cNvPr id="13" name="Shape 11"/>
          <p:cNvSpPr/>
          <p:nvPr/>
        </p:nvSpPr>
        <p:spPr>
          <a:xfrm>
            <a:off x="4901184" y="2286000"/>
            <a:ext cx="164592" cy="182880"/>
          </a:xfrm>
          <a:prstGeom prst="rightArrow">
            <a:avLst/>
          </a:prstGeom>
          <a:solidFill>
            <a:srgbClr val="5A6B7B"/>
          </a:solidFill>
          <a:ln/>
        </p:spPr>
      </p:sp>
      <p:sp>
        <p:nvSpPr>
          <p:cNvPr id="14" name="Shape 12"/>
          <p:cNvSpPr/>
          <p:nvPr/>
        </p:nvSpPr>
        <p:spPr>
          <a:xfrm>
            <a:off x="5065776" y="1874520"/>
            <a:ext cx="2084832" cy="1005840"/>
          </a:xfrm>
          <a:prstGeom prst="roundRect">
            <a:avLst>
              <a:gd name="adj" fmla="val 8182"/>
            </a:avLst>
          </a:prstGeom>
          <a:solidFill>
            <a:srgbClr val="F4A825"/>
          </a:solidFill>
          <a:ln/>
          <a:effectLst>
            <a:outerShdw sx="100000" sy="100000" kx="0" ky="0" algn="bl" rotWithShape="0" blurRad="114300" dist="38100" dir="5400000">
              <a:srgbClr val="1B3A5B">
                <a:alpha val="20000"/>
              </a:srgbClr>
            </a:outerShdw>
          </a:effectLst>
        </p:spPr>
      </p:sp>
      <p:sp>
        <p:nvSpPr>
          <p:cNvPr id="15" name="Text 13"/>
          <p:cNvSpPr/>
          <p:nvPr/>
        </p:nvSpPr>
        <p:spPr>
          <a:xfrm>
            <a:off x="5065776" y="2020824"/>
            <a:ext cx="208483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stream_fifo</a:t>
            </a:r>
            <a:endParaRPr lang="en-US" sz="1200" dirty="0"/>
          </a:p>
        </p:txBody>
      </p:sp>
      <p:sp>
        <p:nvSpPr>
          <p:cNvPr id="16" name="Text 14"/>
          <p:cNvSpPr/>
          <p:nvPr/>
        </p:nvSpPr>
        <p:spPr>
          <a:xfrm>
            <a:off x="5138928" y="2377440"/>
            <a:ext cx="1938528" cy="411480"/>
          </a:xfrm>
          <a:prstGeom prst="rect">
            <a:avLst/>
          </a:prstGeom>
          <a:noFill/>
          <a:ln/>
        </p:spPr>
        <p:txBody>
          <a:bodyPr wrap="square" lIns="0" tIns="0" rIns="0" bIns="0" rtlCol="0" anchor="t"/>
          <a:lstStyle/>
          <a:p>
            <a:pPr algn="ctr" indent="0" marL="0">
              <a:buNone/>
            </a:pPr>
            <a:r>
              <a:rPr lang="en-US" sz="950" dirty="0">
                <a:solidFill>
                  <a:srgbClr val="E4EEF5"/>
                </a:solidFill>
                <a:latin typeface="Calibri" pitchFamily="34" charset="0"/>
                <a:ea typeface="Calibri" pitchFamily="34" charset="-122"/>
                <a:cs typeface="Calibri" pitchFamily="34" charset="-120"/>
              </a:rPr>
              <a:t>backpressure buffer</a:t>
            </a:r>
            <a:endParaRPr lang="en-US" sz="950" dirty="0"/>
          </a:p>
        </p:txBody>
      </p:sp>
      <p:sp>
        <p:nvSpPr>
          <p:cNvPr id="17" name="Shape 15"/>
          <p:cNvSpPr/>
          <p:nvPr/>
        </p:nvSpPr>
        <p:spPr>
          <a:xfrm>
            <a:off x="7150608" y="2286000"/>
            <a:ext cx="164592" cy="182880"/>
          </a:xfrm>
          <a:prstGeom prst="rightArrow">
            <a:avLst/>
          </a:prstGeom>
          <a:solidFill>
            <a:srgbClr val="5A6B7B"/>
          </a:solidFill>
          <a:ln/>
        </p:spPr>
      </p:sp>
      <p:sp>
        <p:nvSpPr>
          <p:cNvPr id="18" name="Shape 16"/>
          <p:cNvSpPr/>
          <p:nvPr/>
        </p:nvSpPr>
        <p:spPr>
          <a:xfrm>
            <a:off x="7315200" y="1874520"/>
            <a:ext cx="2084832" cy="1005840"/>
          </a:xfrm>
          <a:prstGeom prst="roundRect">
            <a:avLst>
              <a:gd name="adj" fmla="val 8182"/>
            </a:avLst>
          </a:prstGeom>
          <a:solidFill>
            <a:srgbClr val="14A8A0"/>
          </a:solidFill>
          <a:ln/>
          <a:effectLst>
            <a:outerShdw sx="100000" sy="100000" kx="0" ky="0" algn="bl" rotWithShape="0" blurRad="114300" dist="38100" dir="5400000">
              <a:srgbClr val="1B3A5B">
                <a:alpha val="20000"/>
              </a:srgbClr>
            </a:outerShdw>
          </a:effectLst>
        </p:spPr>
      </p:sp>
      <p:sp>
        <p:nvSpPr>
          <p:cNvPr id="19" name="Text 17"/>
          <p:cNvSpPr/>
          <p:nvPr/>
        </p:nvSpPr>
        <p:spPr>
          <a:xfrm>
            <a:off x="7315200" y="2020824"/>
            <a:ext cx="208483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decompress</a:t>
            </a:r>
            <a:endParaRPr lang="en-US" sz="1200" dirty="0"/>
          </a:p>
        </p:txBody>
      </p:sp>
      <p:sp>
        <p:nvSpPr>
          <p:cNvPr id="20" name="Text 18"/>
          <p:cNvSpPr/>
          <p:nvPr/>
        </p:nvSpPr>
        <p:spPr>
          <a:xfrm>
            <a:off x="7388352" y="2377440"/>
            <a:ext cx="1938528" cy="411480"/>
          </a:xfrm>
          <a:prstGeom prst="rect">
            <a:avLst/>
          </a:prstGeom>
          <a:noFill/>
          <a:ln/>
        </p:spPr>
        <p:txBody>
          <a:bodyPr wrap="square" lIns="0" tIns="0" rIns="0" bIns="0" rtlCol="0" anchor="t"/>
          <a:lstStyle/>
          <a:p>
            <a:pPr algn="ctr" indent="0" marL="0">
              <a:buNone/>
            </a:pPr>
            <a:r>
              <a:rPr lang="en-US" sz="950" dirty="0">
                <a:solidFill>
                  <a:srgbClr val="E4EEF5"/>
                </a:solidFill>
                <a:latin typeface="Calibri" pitchFamily="34" charset="0"/>
                <a:ea typeface="Calibri" pitchFamily="34" charset="-122"/>
                <a:cs typeface="Calibri" pitchFamily="34" charset="-120"/>
              </a:rPr>
              <a:t>lz77_stream_decompress</a:t>
            </a:r>
            <a:endParaRPr lang="en-US" sz="950" dirty="0"/>
          </a:p>
        </p:txBody>
      </p:sp>
      <p:sp>
        <p:nvSpPr>
          <p:cNvPr id="21" name="Shape 19"/>
          <p:cNvSpPr/>
          <p:nvPr/>
        </p:nvSpPr>
        <p:spPr>
          <a:xfrm>
            <a:off x="9400032" y="2286000"/>
            <a:ext cx="164592" cy="182880"/>
          </a:xfrm>
          <a:prstGeom prst="rightArrow">
            <a:avLst/>
          </a:prstGeom>
          <a:solidFill>
            <a:srgbClr val="5A6B7B"/>
          </a:solidFill>
          <a:ln/>
        </p:spPr>
      </p:sp>
      <p:sp>
        <p:nvSpPr>
          <p:cNvPr id="22" name="Shape 20"/>
          <p:cNvSpPr/>
          <p:nvPr/>
        </p:nvSpPr>
        <p:spPr>
          <a:xfrm>
            <a:off x="9564624" y="1874520"/>
            <a:ext cx="2084832" cy="1005840"/>
          </a:xfrm>
          <a:prstGeom prst="roundRect">
            <a:avLst>
              <a:gd name="adj" fmla="val 8182"/>
            </a:avLst>
          </a:prstGeom>
          <a:solidFill>
            <a:srgbClr val="E5635E"/>
          </a:solidFill>
          <a:ln/>
          <a:effectLst>
            <a:outerShdw sx="100000" sy="100000" kx="0" ky="0" algn="bl" rotWithShape="0" blurRad="114300" dist="38100" dir="5400000">
              <a:srgbClr val="1B3A5B">
                <a:alpha val="20000"/>
              </a:srgbClr>
            </a:outerShdw>
          </a:effectLst>
        </p:spPr>
      </p:sp>
      <p:sp>
        <p:nvSpPr>
          <p:cNvPr id="23" name="Text 21"/>
          <p:cNvSpPr/>
          <p:nvPr/>
        </p:nvSpPr>
        <p:spPr>
          <a:xfrm>
            <a:off x="9564624" y="2020824"/>
            <a:ext cx="208483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checker</a:t>
            </a:r>
            <a:endParaRPr lang="en-US" sz="1200" dirty="0"/>
          </a:p>
        </p:txBody>
      </p:sp>
      <p:sp>
        <p:nvSpPr>
          <p:cNvPr id="24" name="Text 22"/>
          <p:cNvSpPr/>
          <p:nvPr/>
        </p:nvSpPr>
        <p:spPr>
          <a:xfrm>
            <a:off x="9637776" y="2377440"/>
            <a:ext cx="1938528" cy="411480"/>
          </a:xfrm>
          <a:prstGeom prst="rect">
            <a:avLst/>
          </a:prstGeom>
          <a:noFill/>
          <a:ln/>
        </p:spPr>
        <p:txBody>
          <a:bodyPr wrap="square" lIns="0" tIns="0" rIns="0" bIns="0" rtlCol="0" anchor="t"/>
          <a:lstStyle/>
          <a:p>
            <a:pPr algn="ctr" indent="0" marL="0">
              <a:buNone/>
            </a:pPr>
            <a:r>
              <a:rPr lang="en-US" sz="950" dirty="0">
                <a:solidFill>
                  <a:srgbClr val="E4EEF5"/>
                </a:solidFill>
                <a:latin typeface="Calibri" pitchFamily="34" charset="0"/>
                <a:ea typeface="Calibri" pitchFamily="34" charset="-122"/>
                <a:cs typeface="Calibri" pitchFamily="34" charset="-120"/>
              </a:rPr>
              <a:t>compare vs original</a:t>
            </a:r>
            <a:endParaRPr lang="en-US" sz="950" dirty="0"/>
          </a:p>
        </p:txBody>
      </p:sp>
      <p:sp>
        <p:nvSpPr>
          <p:cNvPr id="25" name="Shape 23"/>
          <p:cNvSpPr/>
          <p:nvPr/>
        </p:nvSpPr>
        <p:spPr>
          <a:xfrm>
            <a:off x="566928" y="3246120"/>
            <a:ext cx="5394960" cy="2834640"/>
          </a:xfrm>
          <a:prstGeom prst="roundRect">
            <a:avLst>
              <a:gd name="adj" fmla="val 3871"/>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26" name="Text 24"/>
          <p:cNvSpPr/>
          <p:nvPr/>
        </p:nvSpPr>
        <p:spPr>
          <a:xfrm>
            <a:off x="841248" y="3364992"/>
            <a:ext cx="4846320" cy="292608"/>
          </a:xfrm>
          <a:prstGeom prst="rect">
            <a:avLst/>
          </a:prstGeom>
          <a:noFill/>
          <a:ln/>
        </p:spPr>
        <p:txBody>
          <a:bodyPr wrap="square" lIns="0" tIns="0" rIns="0" bIns="0" rtlCol="0" anchor="ctr"/>
          <a:lstStyle/>
          <a:p>
            <a:pPr indent="0" marL="0">
              <a:buNone/>
            </a:pPr>
            <a:r>
              <a:rPr lang="en-US" sz="1500" b="1" dirty="0">
                <a:solidFill>
                  <a:srgbClr val="16324F"/>
                </a:solidFill>
                <a:latin typeface="Cambria" pitchFamily="34" charset="0"/>
                <a:ea typeface="Cambria" pitchFamily="34" charset="-122"/>
                <a:cs typeface="Cambria" pitchFamily="34" charset="-120"/>
              </a:rPr>
              <a:t>What the bench drives</a:t>
            </a:r>
            <a:endParaRPr lang="en-US" sz="1500" dirty="0"/>
          </a:p>
        </p:txBody>
      </p:sp>
      <p:sp>
        <p:nvSpPr>
          <p:cNvPr id="27" name="Shape 25"/>
          <p:cNvSpPr/>
          <p:nvPr/>
        </p:nvSpPr>
        <p:spPr>
          <a:xfrm>
            <a:off x="841248" y="3794760"/>
            <a:ext cx="347472" cy="347472"/>
          </a:xfrm>
          <a:prstGeom prst="ellipse">
            <a:avLst/>
          </a:prstGeom>
          <a:solidFill>
            <a:srgbClr val="14A8A0"/>
          </a:solidFill>
          <a:ln/>
        </p:spPr>
      </p:sp>
      <p:sp>
        <p:nvSpPr>
          <p:cNvPr id="28" name="Text 26"/>
          <p:cNvSpPr/>
          <p:nvPr/>
        </p:nvSpPr>
        <p:spPr>
          <a:xfrm>
            <a:off x="841248" y="37856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9" name="Text 27"/>
          <p:cNvSpPr/>
          <p:nvPr/>
        </p:nvSpPr>
        <p:spPr>
          <a:xfrm>
            <a:off x="1298448" y="3767328"/>
            <a:ext cx="4480560" cy="256032"/>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Clock &amp; reset</a:t>
            </a:r>
            <a:endParaRPr lang="en-US" sz="1300" dirty="0"/>
          </a:p>
        </p:txBody>
      </p:sp>
      <p:sp>
        <p:nvSpPr>
          <p:cNvPr id="30" name="Text 28"/>
          <p:cNvSpPr/>
          <p:nvPr/>
        </p:nvSpPr>
        <p:spPr>
          <a:xfrm>
            <a:off x="1298448" y="4023360"/>
            <a:ext cx="4434840" cy="27432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generates clk and an active-low reset pulse</a:t>
            </a:r>
            <a:endParaRPr lang="en-US" sz="1150" dirty="0"/>
          </a:p>
        </p:txBody>
      </p:sp>
      <p:sp>
        <p:nvSpPr>
          <p:cNvPr id="31" name="Shape 29"/>
          <p:cNvSpPr/>
          <p:nvPr/>
        </p:nvSpPr>
        <p:spPr>
          <a:xfrm>
            <a:off x="841248" y="4361688"/>
            <a:ext cx="347472" cy="347472"/>
          </a:xfrm>
          <a:prstGeom prst="ellipse">
            <a:avLst/>
          </a:prstGeom>
          <a:solidFill>
            <a:srgbClr val="14A8A0"/>
          </a:solidFill>
          <a:ln/>
        </p:spPr>
      </p:sp>
      <p:sp>
        <p:nvSpPr>
          <p:cNvPr id="32" name="Text 30"/>
          <p:cNvSpPr/>
          <p:nvPr/>
        </p:nvSpPr>
        <p:spPr>
          <a:xfrm>
            <a:off x="841248" y="43525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33" name="Text 31"/>
          <p:cNvSpPr/>
          <p:nvPr/>
        </p:nvSpPr>
        <p:spPr>
          <a:xfrm>
            <a:off x="1298448" y="4334256"/>
            <a:ext cx="4480560" cy="256032"/>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Input stream</a:t>
            </a:r>
            <a:endParaRPr lang="en-US" sz="1300" dirty="0"/>
          </a:p>
        </p:txBody>
      </p:sp>
      <p:sp>
        <p:nvSpPr>
          <p:cNvPr id="34" name="Text 32"/>
          <p:cNvSpPr/>
          <p:nvPr/>
        </p:nvSpPr>
        <p:spPr>
          <a:xfrm>
            <a:off x="1298448" y="4590288"/>
            <a:ext cx="4434840" cy="27432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feeds test bytes with valid/last, honouring s_ready</a:t>
            </a:r>
            <a:endParaRPr lang="en-US" sz="1150" dirty="0"/>
          </a:p>
        </p:txBody>
      </p:sp>
      <p:sp>
        <p:nvSpPr>
          <p:cNvPr id="35" name="Shape 33"/>
          <p:cNvSpPr/>
          <p:nvPr/>
        </p:nvSpPr>
        <p:spPr>
          <a:xfrm>
            <a:off x="841248" y="4928616"/>
            <a:ext cx="347472" cy="347472"/>
          </a:xfrm>
          <a:prstGeom prst="ellipse">
            <a:avLst/>
          </a:prstGeom>
          <a:solidFill>
            <a:srgbClr val="14A8A0"/>
          </a:solidFill>
          <a:ln/>
        </p:spPr>
      </p:sp>
      <p:sp>
        <p:nvSpPr>
          <p:cNvPr id="36" name="Text 34"/>
          <p:cNvSpPr/>
          <p:nvPr/>
        </p:nvSpPr>
        <p:spPr>
          <a:xfrm>
            <a:off x="841248" y="491947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7" name="Text 35"/>
          <p:cNvSpPr/>
          <p:nvPr/>
        </p:nvSpPr>
        <p:spPr>
          <a:xfrm>
            <a:off x="1298448" y="4901184"/>
            <a:ext cx="4480560" cy="256032"/>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Backpressure</a:t>
            </a:r>
            <a:endParaRPr lang="en-US" sz="1300" dirty="0"/>
          </a:p>
        </p:txBody>
      </p:sp>
      <p:sp>
        <p:nvSpPr>
          <p:cNvPr id="38" name="Text 36"/>
          <p:cNvSpPr/>
          <p:nvPr/>
        </p:nvSpPr>
        <p:spPr>
          <a:xfrm>
            <a:off x="1298448" y="5157216"/>
            <a:ext cx="4434840" cy="27432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toggles m_ready to exercise stalls</a:t>
            </a:r>
            <a:endParaRPr lang="en-US" sz="1150" dirty="0"/>
          </a:p>
        </p:txBody>
      </p:sp>
      <p:sp>
        <p:nvSpPr>
          <p:cNvPr id="39" name="Shape 37"/>
          <p:cNvSpPr/>
          <p:nvPr/>
        </p:nvSpPr>
        <p:spPr>
          <a:xfrm>
            <a:off x="841248" y="5495544"/>
            <a:ext cx="347472" cy="347472"/>
          </a:xfrm>
          <a:prstGeom prst="ellipse">
            <a:avLst/>
          </a:prstGeom>
          <a:solidFill>
            <a:srgbClr val="14A8A0"/>
          </a:solidFill>
          <a:ln/>
        </p:spPr>
      </p:sp>
      <p:sp>
        <p:nvSpPr>
          <p:cNvPr id="40" name="Text 38"/>
          <p:cNvSpPr/>
          <p:nvPr/>
        </p:nvSpPr>
        <p:spPr>
          <a:xfrm>
            <a:off x="841248" y="54864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41" name="Text 39"/>
          <p:cNvSpPr/>
          <p:nvPr/>
        </p:nvSpPr>
        <p:spPr>
          <a:xfrm>
            <a:off x="1298448" y="5468112"/>
            <a:ext cx="4480560" cy="256032"/>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Expected output</a:t>
            </a:r>
            <a:endParaRPr lang="en-US" sz="1300" dirty="0"/>
          </a:p>
        </p:txBody>
      </p:sp>
      <p:sp>
        <p:nvSpPr>
          <p:cNvPr id="42" name="Text 40"/>
          <p:cNvSpPr/>
          <p:nvPr/>
        </p:nvSpPr>
        <p:spPr>
          <a:xfrm>
            <a:off x="1298448" y="5724144"/>
            <a:ext cx="4434840" cy="27432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reconstructed bytes must equal the input</a:t>
            </a:r>
            <a:endParaRPr lang="en-US" sz="1150" dirty="0"/>
          </a:p>
        </p:txBody>
      </p:sp>
      <p:sp>
        <p:nvSpPr>
          <p:cNvPr id="43" name="Shape 41"/>
          <p:cNvSpPr/>
          <p:nvPr/>
        </p:nvSpPr>
        <p:spPr>
          <a:xfrm>
            <a:off x="6217920" y="3246120"/>
            <a:ext cx="5394960" cy="2834640"/>
          </a:xfrm>
          <a:prstGeom prst="roundRect">
            <a:avLst>
              <a:gd name="adj" fmla="val 3871"/>
            </a:avLst>
          </a:prstGeom>
          <a:solidFill>
            <a:srgbClr val="0D1B2A"/>
          </a:solidFill>
          <a:ln/>
          <a:effectLst>
            <a:outerShdw sx="100000" sy="100000" kx="0" ky="0" algn="bl" rotWithShape="0" blurRad="114300" dist="38100" dir="5400000">
              <a:srgbClr val="1B3A5B">
                <a:alpha val="20000"/>
              </a:srgbClr>
            </a:outerShdw>
          </a:effectLst>
        </p:spPr>
      </p:sp>
      <p:sp>
        <p:nvSpPr>
          <p:cNvPr id="44" name="Text 42"/>
          <p:cNvSpPr/>
          <p:nvPr/>
        </p:nvSpPr>
        <p:spPr>
          <a:xfrm>
            <a:off x="6492240" y="3383280"/>
            <a:ext cx="484632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Self-checking verdict</a:t>
            </a:r>
            <a:endParaRPr lang="en-US" sz="1500" dirty="0"/>
          </a:p>
        </p:txBody>
      </p:sp>
      <p:sp>
        <p:nvSpPr>
          <p:cNvPr id="45" name="Shape 43"/>
          <p:cNvSpPr/>
          <p:nvPr/>
        </p:nvSpPr>
        <p:spPr>
          <a:xfrm>
            <a:off x="6492240" y="3794760"/>
            <a:ext cx="4846320" cy="822960"/>
          </a:xfrm>
          <a:prstGeom prst="roundRect">
            <a:avLst>
              <a:gd name="adj" fmla="val 11111"/>
            </a:avLst>
          </a:prstGeom>
          <a:solidFill>
            <a:srgbClr val="12362E"/>
          </a:solidFill>
          <a:ln w="15240">
            <a:solidFill>
              <a:srgbClr val="1E7A5E"/>
            </a:solidFill>
            <a:prstDash val="solid"/>
          </a:ln>
        </p:spPr>
      </p:sp>
      <p:sp>
        <p:nvSpPr>
          <p:cNvPr id="46" name="Text 44"/>
          <p:cNvSpPr/>
          <p:nvPr/>
        </p:nvSpPr>
        <p:spPr>
          <a:xfrm>
            <a:off x="6492240" y="3794760"/>
            <a:ext cx="4846320" cy="822960"/>
          </a:xfrm>
          <a:prstGeom prst="rect">
            <a:avLst/>
          </a:prstGeom>
          <a:noFill/>
          <a:ln/>
        </p:spPr>
        <p:txBody>
          <a:bodyPr wrap="square" lIns="0" tIns="0" rIns="0" bIns="0" rtlCol="0" anchor="ctr"/>
          <a:lstStyle/>
          <a:p>
            <a:pPr algn="ctr" indent="0" marL="0">
              <a:buNone/>
            </a:pPr>
            <a:r>
              <a:rPr lang="en-US" sz="2000" b="1" dirty="0">
                <a:solidFill>
                  <a:srgbClr val="3FD79A"/>
                </a:solidFill>
              </a:rPr>
              <a:t>✓  </a:t>
            </a:r>
            <a:pPr algn="ctr" indent="0" marL="0">
              <a:buNone/>
            </a:pPr>
            <a:r>
              <a:rPr lang="en-US" sz="1800" b="1" dirty="0">
                <a:solidFill>
                  <a:srgbClr val="3FD79A"/>
                </a:solidFill>
                <a:latin typeface="Courier New" pitchFamily="34" charset="0"/>
                <a:ea typeface="Courier New" pitchFamily="34" charset="-122"/>
                <a:cs typeface="Courier New" pitchFamily="34" charset="-120"/>
              </a:rPr>
              <a:t>ROUND-TRIP OK</a:t>
            </a:r>
            <a:endParaRPr lang="en-US" sz="2000" dirty="0"/>
          </a:p>
        </p:txBody>
      </p:sp>
      <p:sp>
        <p:nvSpPr>
          <p:cNvPr id="47" name="Text 45"/>
          <p:cNvSpPr/>
          <p:nvPr/>
        </p:nvSpPr>
        <p:spPr>
          <a:xfrm>
            <a:off x="6492240" y="4754880"/>
            <a:ext cx="4846320" cy="457200"/>
          </a:xfrm>
          <a:prstGeom prst="rect">
            <a:avLst/>
          </a:prstGeom>
          <a:noFill/>
          <a:ln/>
        </p:spPr>
        <p:txBody>
          <a:bodyPr wrap="square" lIns="0" tIns="0" rIns="0" bIns="0" rtlCol="0" anchor="ctr"/>
          <a:lstStyle/>
          <a:p>
            <a:pPr indent="0" marL="0">
              <a:buNone/>
            </a:pPr>
            <a:r>
              <a:rPr lang="en-US" sz="1200" b="1" dirty="0">
                <a:solidFill>
                  <a:srgbClr val="18C2B8"/>
                </a:solidFill>
                <a:latin typeface="Cambria" pitchFamily="34" charset="0"/>
                <a:ea typeface="Cambria" pitchFamily="34" charset="-122"/>
                <a:cs typeface="Cambria" pitchFamily="34" charset="-120"/>
              </a:rPr>
              <a:t>Toolchain:  </a:t>
            </a:r>
            <a:pPr indent="0" marL="0">
              <a:buNone/>
            </a:pPr>
            <a:r>
              <a:rPr lang="en-US" sz="1200" dirty="0">
                <a:solidFill>
                  <a:srgbClr val="C7D6E4"/>
                </a:solidFill>
                <a:latin typeface="Calibri" pitchFamily="34" charset="0"/>
                <a:ea typeface="Calibri" pitchFamily="34" charset="-122"/>
                <a:cs typeface="Calibri" pitchFamily="34" charset="-120"/>
              </a:rPr>
              <a:t>Icarus Verilog (iverilog + vvp), gcc for the C models.</a:t>
            </a:r>
            <a:endParaRPr lang="en-US" sz="1200" dirty="0"/>
          </a:p>
        </p:txBody>
      </p:sp>
      <p:sp>
        <p:nvSpPr>
          <p:cNvPr id="48" name="Text 46"/>
          <p:cNvSpPr/>
          <p:nvPr/>
        </p:nvSpPr>
        <p:spPr>
          <a:xfrm>
            <a:off x="6492240" y="5212080"/>
            <a:ext cx="4846320" cy="640080"/>
          </a:xfrm>
          <a:prstGeom prst="rect">
            <a:avLst/>
          </a:prstGeom>
          <a:noFill/>
          <a:ln/>
        </p:spPr>
        <p:txBody>
          <a:bodyPr wrap="square" lIns="0" tIns="0" rIns="0" bIns="0" rtlCol="0" anchor="ctr"/>
          <a:lstStyle/>
          <a:p>
            <a:pPr indent="0" marL="0">
              <a:buNone/>
            </a:pPr>
            <a:r>
              <a:rPr lang="en-US" sz="1200" b="1" dirty="0">
                <a:solidFill>
                  <a:srgbClr val="18C2B8"/>
                </a:solidFill>
                <a:latin typeface="Cambria" pitchFamily="34" charset="0"/>
                <a:ea typeface="Cambria" pitchFamily="34" charset="-122"/>
                <a:cs typeface="Cambria" pitchFamily="34" charset="-120"/>
              </a:rPr>
              <a:t>One command:  </a:t>
            </a:r>
            <a:pPr indent="0" marL="0">
              <a:buNone/>
            </a:pPr>
            <a:r>
              <a:rPr lang="en-US" sz="1200" b="1" dirty="0">
                <a:solidFill>
                  <a:srgbClr val="F4A825"/>
                </a:solidFill>
                <a:latin typeface="Courier New" pitchFamily="34" charset="0"/>
                <a:ea typeface="Courier New" pitchFamily="34" charset="-122"/>
                <a:cs typeface="Courier New" pitchFamily="34" charset="-120"/>
              </a:rPr>
              <a:t>make</a:t>
            </a:r>
            <a:pPr indent="0" marL="0">
              <a:buNone/>
            </a:pPr>
            <a:r>
              <a:rPr lang="en-US" sz="1200" dirty="0">
                <a:solidFill>
                  <a:srgbClr val="C7D6E4"/>
                </a:solidFill>
                <a:latin typeface="Calibri" pitchFamily="34" charset="0"/>
                <a:ea typeface="Calibri" pitchFamily="34" charset="-122"/>
                <a:cs typeface="Calibri" pitchFamily="34" charset="-120"/>
              </a:rPr>
              <a:t>  builds the 3 C models and runs all five testbenches.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2A"/>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indent="0" marL="0">
              <a:buNone/>
            </a:pPr>
            <a:r>
              <a:rPr lang="en-US" sz="1200" b="1" spc="200" kern="0" dirty="0">
                <a:solidFill>
                  <a:srgbClr val="18C2B8"/>
                </a:solidFill>
                <a:latin typeface="Calibri" pitchFamily="34" charset="0"/>
                <a:ea typeface="Calibri" pitchFamily="34" charset="-122"/>
                <a:cs typeface="Calibri" pitchFamily="34" charset="-120"/>
              </a:rPr>
              <a:t>SIMULATION</a:t>
            </a:r>
            <a:endParaRPr lang="en-US" sz="1200" dirty="0"/>
          </a:p>
        </p:txBody>
      </p:sp>
      <p:sp>
        <p:nvSpPr>
          <p:cNvPr id="4" name="Text 2"/>
          <p:cNvSpPr/>
          <p:nvPr/>
        </p:nvSpPr>
        <p:spPr>
          <a:xfrm>
            <a:off x="548640" y="640080"/>
            <a:ext cx="11064240" cy="64008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LZ77 Stream — Compressing in Action</a:t>
            </a:r>
            <a:endParaRPr lang="en-US" sz="3100" dirty="0"/>
          </a:p>
        </p:txBody>
      </p:sp>
      <p:sp>
        <p:nvSpPr>
          <p:cNvPr id="5" name="Shape 3"/>
          <p:cNvSpPr/>
          <p:nvPr/>
        </p:nvSpPr>
        <p:spPr>
          <a:xfrm>
            <a:off x="566928" y="1554480"/>
            <a:ext cx="11064240" cy="3977640"/>
          </a:xfrm>
          <a:prstGeom prst="roundRect">
            <a:avLst>
              <a:gd name="adj" fmla="val 2759"/>
            </a:avLst>
          </a:prstGeom>
          <a:solidFill>
            <a:srgbClr val="0A1826"/>
          </a:solidFill>
          <a:ln w="12700">
            <a:solidFill>
              <a:srgbClr val="25415A"/>
            </a:solidFill>
            <a:prstDash val="solid"/>
          </a:ln>
          <a:effectLst>
            <a:outerShdw sx="100000" sy="100000" kx="0" ky="0" algn="bl" rotWithShape="0" blurRad="127000" dist="38100" dir="5400000">
              <a:srgbClr val="000000">
                <a:alpha val="35000"/>
              </a:srgbClr>
            </a:outerShdw>
          </a:effectLst>
        </p:spPr>
      </p:sp>
      <p:sp>
        <p:nvSpPr>
          <p:cNvPr id="6" name="Text 4"/>
          <p:cNvSpPr/>
          <p:nvPr/>
        </p:nvSpPr>
        <p:spPr>
          <a:xfrm>
            <a:off x="749808" y="2221992"/>
            <a:ext cx="1481328" cy="365760"/>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clk</a:t>
            </a:r>
            <a:endParaRPr lang="en-US" sz="1000" dirty="0"/>
          </a:p>
        </p:txBody>
      </p:sp>
      <p:sp>
        <p:nvSpPr>
          <p:cNvPr id="7" name="Shape 5"/>
          <p:cNvSpPr/>
          <p:nvPr/>
        </p:nvSpPr>
        <p:spPr>
          <a:xfrm>
            <a:off x="2350008" y="2569464"/>
            <a:ext cx="566928" cy="0"/>
          </a:xfrm>
          <a:prstGeom prst="line">
            <a:avLst/>
          </a:prstGeom>
          <a:noFill/>
          <a:ln w="25400">
            <a:solidFill>
              <a:srgbClr val="7FA8C9"/>
            </a:solidFill>
            <a:prstDash val="solid"/>
          </a:ln>
        </p:spPr>
      </p:sp>
      <p:sp>
        <p:nvSpPr>
          <p:cNvPr id="8" name="Shape 6"/>
          <p:cNvSpPr/>
          <p:nvPr/>
        </p:nvSpPr>
        <p:spPr>
          <a:xfrm>
            <a:off x="2916936" y="2240280"/>
            <a:ext cx="566928" cy="0"/>
          </a:xfrm>
          <a:prstGeom prst="line">
            <a:avLst/>
          </a:prstGeom>
          <a:noFill/>
          <a:ln w="25400">
            <a:solidFill>
              <a:srgbClr val="7FA8C9"/>
            </a:solidFill>
            <a:prstDash val="solid"/>
          </a:ln>
        </p:spPr>
      </p:sp>
      <p:sp>
        <p:nvSpPr>
          <p:cNvPr id="9" name="Shape 7"/>
          <p:cNvSpPr/>
          <p:nvPr/>
        </p:nvSpPr>
        <p:spPr>
          <a:xfrm>
            <a:off x="2916936" y="2240280"/>
            <a:ext cx="0" cy="329184"/>
          </a:xfrm>
          <a:prstGeom prst="line">
            <a:avLst/>
          </a:prstGeom>
          <a:noFill/>
          <a:ln w="25400">
            <a:solidFill>
              <a:srgbClr val="7FA8C9"/>
            </a:solidFill>
            <a:prstDash val="solid"/>
          </a:ln>
        </p:spPr>
      </p:sp>
      <p:sp>
        <p:nvSpPr>
          <p:cNvPr id="10" name="Shape 8"/>
          <p:cNvSpPr/>
          <p:nvPr/>
        </p:nvSpPr>
        <p:spPr>
          <a:xfrm>
            <a:off x="3483864" y="2569464"/>
            <a:ext cx="566928" cy="0"/>
          </a:xfrm>
          <a:prstGeom prst="line">
            <a:avLst/>
          </a:prstGeom>
          <a:noFill/>
          <a:ln w="25400">
            <a:solidFill>
              <a:srgbClr val="7FA8C9"/>
            </a:solidFill>
            <a:prstDash val="solid"/>
          </a:ln>
        </p:spPr>
      </p:sp>
      <p:sp>
        <p:nvSpPr>
          <p:cNvPr id="11" name="Shape 9"/>
          <p:cNvSpPr/>
          <p:nvPr/>
        </p:nvSpPr>
        <p:spPr>
          <a:xfrm>
            <a:off x="3483864" y="2240280"/>
            <a:ext cx="0" cy="329184"/>
          </a:xfrm>
          <a:prstGeom prst="line">
            <a:avLst/>
          </a:prstGeom>
          <a:noFill/>
          <a:ln w="25400">
            <a:solidFill>
              <a:srgbClr val="7FA8C9"/>
            </a:solidFill>
            <a:prstDash val="solid"/>
          </a:ln>
        </p:spPr>
      </p:sp>
      <p:sp>
        <p:nvSpPr>
          <p:cNvPr id="12" name="Shape 10"/>
          <p:cNvSpPr/>
          <p:nvPr/>
        </p:nvSpPr>
        <p:spPr>
          <a:xfrm>
            <a:off x="4050792" y="2240280"/>
            <a:ext cx="566928" cy="0"/>
          </a:xfrm>
          <a:prstGeom prst="line">
            <a:avLst/>
          </a:prstGeom>
          <a:noFill/>
          <a:ln w="25400">
            <a:solidFill>
              <a:srgbClr val="7FA8C9"/>
            </a:solidFill>
            <a:prstDash val="solid"/>
          </a:ln>
        </p:spPr>
      </p:sp>
      <p:sp>
        <p:nvSpPr>
          <p:cNvPr id="13" name="Shape 11"/>
          <p:cNvSpPr/>
          <p:nvPr/>
        </p:nvSpPr>
        <p:spPr>
          <a:xfrm>
            <a:off x="4050792" y="2240280"/>
            <a:ext cx="0" cy="329184"/>
          </a:xfrm>
          <a:prstGeom prst="line">
            <a:avLst/>
          </a:prstGeom>
          <a:noFill/>
          <a:ln w="25400">
            <a:solidFill>
              <a:srgbClr val="7FA8C9"/>
            </a:solidFill>
            <a:prstDash val="solid"/>
          </a:ln>
        </p:spPr>
      </p:sp>
      <p:sp>
        <p:nvSpPr>
          <p:cNvPr id="14" name="Shape 12"/>
          <p:cNvSpPr/>
          <p:nvPr/>
        </p:nvSpPr>
        <p:spPr>
          <a:xfrm>
            <a:off x="4617720" y="2569464"/>
            <a:ext cx="566928" cy="0"/>
          </a:xfrm>
          <a:prstGeom prst="line">
            <a:avLst/>
          </a:prstGeom>
          <a:noFill/>
          <a:ln w="25400">
            <a:solidFill>
              <a:srgbClr val="7FA8C9"/>
            </a:solidFill>
            <a:prstDash val="solid"/>
          </a:ln>
        </p:spPr>
      </p:sp>
      <p:sp>
        <p:nvSpPr>
          <p:cNvPr id="15" name="Shape 13"/>
          <p:cNvSpPr/>
          <p:nvPr/>
        </p:nvSpPr>
        <p:spPr>
          <a:xfrm>
            <a:off x="4617720" y="2240280"/>
            <a:ext cx="0" cy="329184"/>
          </a:xfrm>
          <a:prstGeom prst="line">
            <a:avLst/>
          </a:prstGeom>
          <a:noFill/>
          <a:ln w="25400">
            <a:solidFill>
              <a:srgbClr val="7FA8C9"/>
            </a:solidFill>
            <a:prstDash val="solid"/>
          </a:ln>
        </p:spPr>
      </p:sp>
      <p:sp>
        <p:nvSpPr>
          <p:cNvPr id="16" name="Shape 14"/>
          <p:cNvSpPr/>
          <p:nvPr/>
        </p:nvSpPr>
        <p:spPr>
          <a:xfrm>
            <a:off x="5184648" y="2240280"/>
            <a:ext cx="566928" cy="0"/>
          </a:xfrm>
          <a:prstGeom prst="line">
            <a:avLst/>
          </a:prstGeom>
          <a:noFill/>
          <a:ln w="25400">
            <a:solidFill>
              <a:srgbClr val="7FA8C9"/>
            </a:solidFill>
            <a:prstDash val="solid"/>
          </a:ln>
        </p:spPr>
      </p:sp>
      <p:sp>
        <p:nvSpPr>
          <p:cNvPr id="17" name="Shape 15"/>
          <p:cNvSpPr/>
          <p:nvPr/>
        </p:nvSpPr>
        <p:spPr>
          <a:xfrm>
            <a:off x="5184648" y="2240280"/>
            <a:ext cx="0" cy="329184"/>
          </a:xfrm>
          <a:prstGeom prst="line">
            <a:avLst/>
          </a:prstGeom>
          <a:noFill/>
          <a:ln w="25400">
            <a:solidFill>
              <a:srgbClr val="7FA8C9"/>
            </a:solidFill>
            <a:prstDash val="solid"/>
          </a:ln>
        </p:spPr>
      </p:sp>
      <p:sp>
        <p:nvSpPr>
          <p:cNvPr id="18" name="Shape 16"/>
          <p:cNvSpPr/>
          <p:nvPr/>
        </p:nvSpPr>
        <p:spPr>
          <a:xfrm>
            <a:off x="5751576" y="2569464"/>
            <a:ext cx="566928" cy="0"/>
          </a:xfrm>
          <a:prstGeom prst="line">
            <a:avLst/>
          </a:prstGeom>
          <a:noFill/>
          <a:ln w="25400">
            <a:solidFill>
              <a:srgbClr val="7FA8C9"/>
            </a:solidFill>
            <a:prstDash val="solid"/>
          </a:ln>
        </p:spPr>
      </p:sp>
      <p:sp>
        <p:nvSpPr>
          <p:cNvPr id="19" name="Shape 17"/>
          <p:cNvSpPr/>
          <p:nvPr/>
        </p:nvSpPr>
        <p:spPr>
          <a:xfrm>
            <a:off x="5751576" y="2240280"/>
            <a:ext cx="0" cy="329184"/>
          </a:xfrm>
          <a:prstGeom prst="line">
            <a:avLst/>
          </a:prstGeom>
          <a:noFill/>
          <a:ln w="25400">
            <a:solidFill>
              <a:srgbClr val="7FA8C9"/>
            </a:solidFill>
            <a:prstDash val="solid"/>
          </a:ln>
        </p:spPr>
      </p:sp>
      <p:sp>
        <p:nvSpPr>
          <p:cNvPr id="20" name="Shape 18"/>
          <p:cNvSpPr/>
          <p:nvPr/>
        </p:nvSpPr>
        <p:spPr>
          <a:xfrm>
            <a:off x="6318504" y="2240280"/>
            <a:ext cx="566928" cy="0"/>
          </a:xfrm>
          <a:prstGeom prst="line">
            <a:avLst/>
          </a:prstGeom>
          <a:noFill/>
          <a:ln w="25400">
            <a:solidFill>
              <a:srgbClr val="7FA8C9"/>
            </a:solidFill>
            <a:prstDash val="solid"/>
          </a:ln>
        </p:spPr>
      </p:sp>
      <p:sp>
        <p:nvSpPr>
          <p:cNvPr id="21" name="Shape 19"/>
          <p:cNvSpPr/>
          <p:nvPr/>
        </p:nvSpPr>
        <p:spPr>
          <a:xfrm>
            <a:off x="6318504" y="2240280"/>
            <a:ext cx="0" cy="329184"/>
          </a:xfrm>
          <a:prstGeom prst="line">
            <a:avLst/>
          </a:prstGeom>
          <a:noFill/>
          <a:ln w="25400">
            <a:solidFill>
              <a:srgbClr val="7FA8C9"/>
            </a:solidFill>
            <a:prstDash val="solid"/>
          </a:ln>
        </p:spPr>
      </p:sp>
      <p:sp>
        <p:nvSpPr>
          <p:cNvPr id="22" name="Shape 20"/>
          <p:cNvSpPr/>
          <p:nvPr/>
        </p:nvSpPr>
        <p:spPr>
          <a:xfrm>
            <a:off x="6885432" y="2569464"/>
            <a:ext cx="566928" cy="0"/>
          </a:xfrm>
          <a:prstGeom prst="line">
            <a:avLst/>
          </a:prstGeom>
          <a:noFill/>
          <a:ln w="25400">
            <a:solidFill>
              <a:srgbClr val="7FA8C9"/>
            </a:solidFill>
            <a:prstDash val="solid"/>
          </a:ln>
        </p:spPr>
      </p:sp>
      <p:sp>
        <p:nvSpPr>
          <p:cNvPr id="23" name="Shape 21"/>
          <p:cNvSpPr/>
          <p:nvPr/>
        </p:nvSpPr>
        <p:spPr>
          <a:xfrm>
            <a:off x="6885432" y="2240280"/>
            <a:ext cx="0" cy="329184"/>
          </a:xfrm>
          <a:prstGeom prst="line">
            <a:avLst/>
          </a:prstGeom>
          <a:noFill/>
          <a:ln w="25400">
            <a:solidFill>
              <a:srgbClr val="7FA8C9"/>
            </a:solidFill>
            <a:prstDash val="solid"/>
          </a:ln>
        </p:spPr>
      </p:sp>
      <p:sp>
        <p:nvSpPr>
          <p:cNvPr id="24" name="Shape 22"/>
          <p:cNvSpPr/>
          <p:nvPr/>
        </p:nvSpPr>
        <p:spPr>
          <a:xfrm>
            <a:off x="7452360" y="2240280"/>
            <a:ext cx="566928" cy="0"/>
          </a:xfrm>
          <a:prstGeom prst="line">
            <a:avLst/>
          </a:prstGeom>
          <a:noFill/>
          <a:ln w="25400">
            <a:solidFill>
              <a:srgbClr val="7FA8C9"/>
            </a:solidFill>
            <a:prstDash val="solid"/>
          </a:ln>
        </p:spPr>
      </p:sp>
      <p:sp>
        <p:nvSpPr>
          <p:cNvPr id="25" name="Shape 23"/>
          <p:cNvSpPr/>
          <p:nvPr/>
        </p:nvSpPr>
        <p:spPr>
          <a:xfrm>
            <a:off x="7452360" y="2240280"/>
            <a:ext cx="0" cy="329184"/>
          </a:xfrm>
          <a:prstGeom prst="line">
            <a:avLst/>
          </a:prstGeom>
          <a:noFill/>
          <a:ln w="25400">
            <a:solidFill>
              <a:srgbClr val="7FA8C9"/>
            </a:solidFill>
            <a:prstDash val="solid"/>
          </a:ln>
        </p:spPr>
      </p:sp>
      <p:sp>
        <p:nvSpPr>
          <p:cNvPr id="26" name="Shape 24"/>
          <p:cNvSpPr/>
          <p:nvPr/>
        </p:nvSpPr>
        <p:spPr>
          <a:xfrm>
            <a:off x="8019288" y="2569464"/>
            <a:ext cx="566928" cy="0"/>
          </a:xfrm>
          <a:prstGeom prst="line">
            <a:avLst/>
          </a:prstGeom>
          <a:noFill/>
          <a:ln w="25400">
            <a:solidFill>
              <a:srgbClr val="7FA8C9"/>
            </a:solidFill>
            <a:prstDash val="solid"/>
          </a:ln>
        </p:spPr>
      </p:sp>
      <p:sp>
        <p:nvSpPr>
          <p:cNvPr id="27" name="Shape 25"/>
          <p:cNvSpPr/>
          <p:nvPr/>
        </p:nvSpPr>
        <p:spPr>
          <a:xfrm>
            <a:off x="8019288" y="2240280"/>
            <a:ext cx="0" cy="329184"/>
          </a:xfrm>
          <a:prstGeom prst="line">
            <a:avLst/>
          </a:prstGeom>
          <a:noFill/>
          <a:ln w="25400">
            <a:solidFill>
              <a:srgbClr val="7FA8C9"/>
            </a:solidFill>
            <a:prstDash val="solid"/>
          </a:ln>
        </p:spPr>
      </p:sp>
      <p:sp>
        <p:nvSpPr>
          <p:cNvPr id="28" name="Shape 26"/>
          <p:cNvSpPr/>
          <p:nvPr/>
        </p:nvSpPr>
        <p:spPr>
          <a:xfrm>
            <a:off x="8586216" y="2240280"/>
            <a:ext cx="566928" cy="0"/>
          </a:xfrm>
          <a:prstGeom prst="line">
            <a:avLst/>
          </a:prstGeom>
          <a:noFill/>
          <a:ln w="25400">
            <a:solidFill>
              <a:srgbClr val="7FA8C9"/>
            </a:solidFill>
            <a:prstDash val="solid"/>
          </a:ln>
        </p:spPr>
      </p:sp>
      <p:sp>
        <p:nvSpPr>
          <p:cNvPr id="29" name="Shape 27"/>
          <p:cNvSpPr/>
          <p:nvPr/>
        </p:nvSpPr>
        <p:spPr>
          <a:xfrm>
            <a:off x="8586216" y="2240280"/>
            <a:ext cx="0" cy="329184"/>
          </a:xfrm>
          <a:prstGeom prst="line">
            <a:avLst/>
          </a:prstGeom>
          <a:noFill/>
          <a:ln w="25400">
            <a:solidFill>
              <a:srgbClr val="7FA8C9"/>
            </a:solidFill>
            <a:prstDash val="solid"/>
          </a:ln>
        </p:spPr>
      </p:sp>
      <p:sp>
        <p:nvSpPr>
          <p:cNvPr id="30" name="Shape 28"/>
          <p:cNvSpPr/>
          <p:nvPr/>
        </p:nvSpPr>
        <p:spPr>
          <a:xfrm>
            <a:off x="9153144" y="2569464"/>
            <a:ext cx="566928" cy="0"/>
          </a:xfrm>
          <a:prstGeom prst="line">
            <a:avLst/>
          </a:prstGeom>
          <a:noFill/>
          <a:ln w="25400">
            <a:solidFill>
              <a:srgbClr val="7FA8C9"/>
            </a:solidFill>
            <a:prstDash val="solid"/>
          </a:ln>
        </p:spPr>
      </p:sp>
      <p:sp>
        <p:nvSpPr>
          <p:cNvPr id="31" name="Shape 29"/>
          <p:cNvSpPr/>
          <p:nvPr/>
        </p:nvSpPr>
        <p:spPr>
          <a:xfrm>
            <a:off x="9153144" y="2240280"/>
            <a:ext cx="0" cy="329184"/>
          </a:xfrm>
          <a:prstGeom prst="line">
            <a:avLst/>
          </a:prstGeom>
          <a:noFill/>
          <a:ln w="25400">
            <a:solidFill>
              <a:srgbClr val="7FA8C9"/>
            </a:solidFill>
            <a:prstDash val="solid"/>
          </a:ln>
        </p:spPr>
      </p:sp>
      <p:sp>
        <p:nvSpPr>
          <p:cNvPr id="32" name="Shape 30"/>
          <p:cNvSpPr/>
          <p:nvPr/>
        </p:nvSpPr>
        <p:spPr>
          <a:xfrm>
            <a:off x="9720072" y="2240280"/>
            <a:ext cx="566928" cy="0"/>
          </a:xfrm>
          <a:prstGeom prst="line">
            <a:avLst/>
          </a:prstGeom>
          <a:noFill/>
          <a:ln w="25400">
            <a:solidFill>
              <a:srgbClr val="7FA8C9"/>
            </a:solidFill>
            <a:prstDash val="solid"/>
          </a:ln>
        </p:spPr>
      </p:sp>
      <p:sp>
        <p:nvSpPr>
          <p:cNvPr id="33" name="Shape 31"/>
          <p:cNvSpPr/>
          <p:nvPr/>
        </p:nvSpPr>
        <p:spPr>
          <a:xfrm>
            <a:off x="9720072" y="2240280"/>
            <a:ext cx="0" cy="329184"/>
          </a:xfrm>
          <a:prstGeom prst="line">
            <a:avLst/>
          </a:prstGeom>
          <a:noFill/>
          <a:ln w="25400">
            <a:solidFill>
              <a:srgbClr val="7FA8C9"/>
            </a:solidFill>
            <a:prstDash val="solid"/>
          </a:ln>
        </p:spPr>
      </p:sp>
      <p:sp>
        <p:nvSpPr>
          <p:cNvPr id="34" name="Text 32"/>
          <p:cNvSpPr/>
          <p:nvPr/>
        </p:nvSpPr>
        <p:spPr>
          <a:xfrm>
            <a:off x="749808" y="2679192"/>
            <a:ext cx="1481328" cy="365760"/>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s_valid</a:t>
            </a:r>
            <a:endParaRPr lang="en-US" sz="1000" dirty="0"/>
          </a:p>
        </p:txBody>
      </p:sp>
      <p:sp>
        <p:nvSpPr>
          <p:cNvPr id="35" name="Shape 33"/>
          <p:cNvSpPr/>
          <p:nvPr/>
        </p:nvSpPr>
        <p:spPr>
          <a:xfrm>
            <a:off x="2350008" y="3026664"/>
            <a:ext cx="566928" cy="0"/>
          </a:xfrm>
          <a:prstGeom prst="line">
            <a:avLst/>
          </a:prstGeom>
          <a:noFill/>
          <a:ln w="25400">
            <a:solidFill>
              <a:srgbClr val="18C2B8"/>
            </a:solidFill>
            <a:prstDash val="solid"/>
          </a:ln>
        </p:spPr>
      </p:sp>
      <p:sp>
        <p:nvSpPr>
          <p:cNvPr id="36" name="Shape 34"/>
          <p:cNvSpPr/>
          <p:nvPr/>
        </p:nvSpPr>
        <p:spPr>
          <a:xfrm>
            <a:off x="2916936" y="2697480"/>
            <a:ext cx="566928" cy="0"/>
          </a:xfrm>
          <a:prstGeom prst="line">
            <a:avLst/>
          </a:prstGeom>
          <a:noFill/>
          <a:ln w="25400">
            <a:solidFill>
              <a:srgbClr val="18C2B8"/>
            </a:solidFill>
            <a:prstDash val="solid"/>
          </a:ln>
        </p:spPr>
      </p:sp>
      <p:sp>
        <p:nvSpPr>
          <p:cNvPr id="37" name="Shape 35"/>
          <p:cNvSpPr/>
          <p:nvPr/>
        </p:nvSpPr>
        <p:spPr>
          <a:xfrm>
            <a:off x="2916936" y="2697480"/>
            <a:ext cx="0" cy="329184"/>
          </a:xfrm>
          <a:prstGeom prst="line">
            <a:avLst/>
          </a:prstGeom>
          <a:noFill/>
          <a:ln w="25400">
            <a:solidFill>
              <a:srgbClr val="18C2B8"/>
            </a:solidFill>
            <a:prstDash val="solid"/>
          </a:ln>
        </p:spPr>
      </p:sp>
      <p:sp>
        <p:nvSpPr>
          <p:cNvPr id="38" name="Shape 36"/>
          <p:cNvSpPr/>
          <p:nvPr/>
        </p:nvSpPr>
        <p:spPr>
          <a:xfrm>
            <a:off x="3483864" y="2697480"/>
            <a:ext cx="566928" cy="0"/>
          </a:xfrm>
          <a:prstGeom prst="line">
            <a:avLst/>
          </a:prstGeom>
          <a:noFill/>
          <a:ln w="25400">
            <a:solidFill>
              <a:srgbClr val="18C2B8"/>
            </a:solidFill>
            <a:prstDash val="solid"/>
          </a:ln>
        </p:spPr>
      </p:sp>
      <p:sp>
        <p:nvSpPr>
          <p:cNvPr id="39" name="Shape 37"/>
          <p:cNvSpPr/>
          <p:nvPr/>
        </p:nvSpPr>
        <p:spPr>
          <a:xfrm>
            <a:off x="4050792" y="2697480"/>
            <a:ext cx="566928" cy="0"/>
          </a:xfrm>
          <a:prstGeom prst="line">
            <a:avLst/>
          </a:prstGeom>
          <a:noFill/>
          <a:ln w="25400">
            <a:solidFill>
              <a:srgbClr val="18C2B8"/>
            </a:solidFill>
            <a:prstDash val="solid"/>
          </a:ln>
        </p:spPr>
      </p:sp>
      <p:sp>
        <p:nvSpPr>
          <p:cNvPr id="40" name="Shape 38"/>
          <p:cNvSpPr/>
          <p:nvPr/>
        </p:nvSpPr>
        <p:spPr>
          <a:xfrm>
            <a:off x="4617720" y="2697480"/>
            <a:ext cx="566928" cy="0"/>
          </a:xfrm>
          <a:prstGeom prst="line">
            <a:avLst/>
          </a:prstGeom>
          <a:noFill/>
          <a:ln w="25400">
            <a:solidFill>
              <a:srgbClr val="18C2B8"/>
            </a:solidFill>
            <a:prstDash val="solid"/>
          </a:ln>
        </p:spPr>
      </p:sp>
      <p:sp>
        <p:nvSpPr>
          <p:cNvPr id="41" name="Shape 39"/>
          <p:cNvSpPr/>
          <p:nvPr/>
        </p:nvSpPr>
        <p:spPr>
          <a:xfrm>
            <a:off x="5184648" y="3026664"/>
            <a:ext cx="566928" cy="0"/>
          </a:xfrm>
          <a:prstGeom prst="line">
            <a:avLst/>
          </a:prstGeom>
          <a:noFill/>
          <a:ln w="25400">
            <a:solidFill>
              <a:srgbClr val="18C2B8"/>
            </a:solidFill>
            <a:prstDash val="solid"/>
          </a:ln>
        </p:spPr>
      </p:sp>
      <p:sp>
        <p:nvSpPr>
          <p:cNvPr id="42" name="Shape 40"/>
          <p:cNvSpPr/>
          <p:nvPr/>
        </p:nvSpPr>
        <p:spPr>
          <a:xfrm>
            <a:off x="5184648" y="2697480"/>
            <a:ext cx="0" cy="329184"/>
          </a:xfrm>
          <a:prstGeom prst="line">
            <a:avLst/>
          </a:prstGeom>
          <a:noFill/>
          <a:ln w="25400">
            <a:solidFill>
              <a:srgbClr val="18C2B8"/>
            </a:solidFill>
            <a:prstDash val="solid"/>
          </a:ln>
        </p:spPr>
      </p:sp>
      <p:sp>
        <p:nvSpPr>
          <p:cNvPr id="43" name="Shape 41"/>
          <p:cNvSpPr/>
          <p:nvPr/>
        </p:nvSpPr>
        <p:spPr>
          <a:xfrm>
            <a:off x="5751576" y="3026664"/>
            <a:ext cx="566928" cy="0"/>
          </a:xfrm>
          <a:prstGeom prst="line">
            <a:avLst/>
          </a:prstGeom>
          <a:noFill/>
          <a:ln w="25400">
            <a:solidFill>
              <a:srgbClr val="18C2B8"/>
            </a:solidFill>
            <a:prstDash val="solid"/>
          </a:ln>
        </p:spPr>
      </p:sp>
      <p:sp>
        <p:nvSpPr>
          <p:cNvPr id="44" name="Shape 42"/>
          <p:cNvSpPr/>
          <p:nvPr/>
        </p:nvSpPr>
        <p:spPr>
          <a:xfrm>
            <a:off x="6318504" y="3026664"/>
            <a:ext cx="566928" cy="0"/>
          </a:xfrm>
          <a:prstGeom prst="line">
            <a:avLst/>
          </a:prstGeom>
          <a:noFill/>
          <a:ln w="25400">
            <a:solidFill>
              <a:srgbClr val="18C2B8"/>
            </a:solidFill>
            <a:prstDash val="solid"/>
          </a:ln>
        </p:spPr>
      </p:sp>
      <p:sp>
        <p:nvSpPr>
          <p:cNvPr id="45" name="Shape 43"/>
          <p:cNvSpPr/>
          <p:nvPr/>
        </p:nvSpPr>
        <p:spPr>
          <a:xfrm>
            <a:off x="6885432" y="3026664"/>
            <a:ext cx="566928" cy="0"/>
          </a:xfrm>
          <a:prstGeom prst="line">
            <a:avLst/>
          </a:prstGeom>
          <a:noFill/>
          <a:ln w="25400">
            <a:solidFill>
              <a:srgbClr val="18C2B8"/>
            </a:solidFill>
            <a:prstDash val="solid"/>
          </a:ln>
        </p:spPr>
      </p:sp>
      <p:sp>
        <p:nvSpPr>
          <p:cNvPr id="46" name="Shape 44"/>
          <p:cNvSpPr/>
          <p:nvPr/>
        </p:nvSpPr>
        <p:spPr>
          <a:xfrm>
            <a:off x="7452360" y="3026664"/>
            <a:ext cx="566928" cy="0"/>
          </a:xfrm>
          <a:prstGeom prst="line">
            <a:avLst/>
          </a:prstGeom>
          <a:noFill/>
          <a:ln w="25400">
            <a:solidFill>
              <a:srgbClr val="18C2B8"/>
            </a:solidFill>
            <a:prstDash val="solid"/>
          </a:ln>
        </p:spPr>
      </p:sp>
      <p:sp>
        <p:nvSpPr>
          <p:cNvPr id="47" name="Shape 45"/>
          <p:cNvSpPr/>
          <p:nvPr/>
        </p:nvSpPr>
        <p:spPr>
          <a:xfrm>
            <a:off x="8019288" y="3026664"/>
            <a:ext cx="566928" cy="0"/>
          </a:xfrm>
          <a:prstGeom prst="line">
            <a:avLst/>
          </a:prstGeom>
          <a:noFill/>
          <a:ln w="25400">
            <a:solidFill>
              <a:srgbClr val="18C2B8"/>
            </a:solidFill>
            <a:prstDash val="solid"/>
          </a:ln>
        </p:spPr>
      </p:sp>
      <p:sp>
        <p:nvSpPr>
          <p:cNvPr id="48" name="Shape 46"/>
          <p:cNvSpPr/>
          <p:nvPr/>
        </p:nvSpPr>
        <p:spPr>
          <a:xfrm>
            <a:off x="8586216" y="3026664"/>
            <a:ext cx="566928" cy="0"/>
          </a:xfrm>
          <a:prstGeom prst="line">
            <a:avLst/>
          </a:prstGeom>
          <a:noFill/>
          <a:ln w="25400">
            <a:solidFill>
              <a:srgbClr val="18C2B8"/>
            </a:solidFill>
            <a:prstDash val="solid"/>
          </a:ln>
        </p:spPr>
      </p:sp>
      <p:sp>
        <p:nvSpPr>
          <p:cNvPr id="49" name="Shape 47"/>
          <p:cNvSpPr/>
          <p:nvPr/>
        </p:nvSpPr>
        <p:spPr>
          <a:xfrm>
            <a:off x="9153144" y="3026664"/>
            <a:ext cx="566928" cy="0"/>
          </a:xfrm>
          <a:prstGeom prst="line">
            <a:avLst/>
          </a:prstGeom>
          <a:noFill/>
          <a:ln w="25400">
            <a:solidFill>
              <a:srgbClr val="18C2B8"/>
            </a:solidFill>
            <a:prstDash val="solid"/>
          </a:ln>
        </p:spPr>
      </p:sp>
      <p:sp>
        <p:nvSpPr>
          <p:cNvPr id="50" name="Shape 48"/>
          <p:cNvSpPr/>
          <p:nvPr/>
        </p:nvSpPr>
        <p:spPr>
          <a:xfrm>
            <a:off x="9720072" y="3026664"/>
            <a:ext cx="566928" cy="0"/>
          </a:xfrm>
          <a:prstGeom prst="line">
            <a:avLst/>
          </a:prstGeom>
          <a:noFill/>
          <a:ln w="25400">
            <a:solidFill>
              <a:srgbClr val="18C2B8"/>
            </a:solidFill>
            <a:prstDash val="solid"/>
          </a:ln>
        </p:spPr>
      </p:sp>
      <p:sp>
        <p:nvSpPr>
          <p:cNvPr id="51" name="Text 49"/>
          <p:cNvSpPr/>
          <p:nvPr/>
        </p:nvSpPr>
        <p:spPr>
          <a:xfrm>
            <a:off x="749808" y="3136392"/>
            <a:ext cx="1481328" cy="365760"/>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s_data</a:t>
            </a:r>
            <a:endParaRPr lang="en-US" sz="1000" dirty="0"/>
          </a:p>
        </p:txBody>
      </p:sp>
      <p:sp>
        <p:nvSpPr>
          <p:cNvPr id="52" name="Shape 50"/>
          <p:cNvSpPr/>
          <p:nvPr/>
        </p:nvSpPr>
        <p:spPr>
          <a:xfrm>
            <a:off x="2350008" y="3319272"/>
            <a:ext cx="566928" cy="0"/>
          </a:xfrm>
          <a:prstGeom prst="line">
            <a:avLst/>
          </a:prstGeom>
          <a:noFill/>
          <a:ln w="19050">
            <a:solidFill>
              <a:srgbClr val="3A536B"/>
            </a:solidFill>
            <a:prstDash val="dash"/>
          </a:ln>
        </p:spPr>
      </p:sp>
      <p:sp>
        <p:nvSpPr>
          <p:cNvPr id="53" name="Shape 51"/>
          <p:cNvSpPr/>
          <p:nvPr/>
        </p:nvSpPr>
        <p:spPr>
          <a:xfrm>
            <a:off x="2944368" y="3172968"/>
            <a:ext cx="512064" cy="292608"/>
          </a:xfrm>
          <a:prstGeom prst="roundRect">
            <a:avLst>
              <a:gd name="adj" fmla="val 12500"/>
            </a:avLst>
          </a:prstGeom>
          <a:solidFill>
            <a:srgbClr val="1B3A5B"/>
          </a:solidFill>
          <a:ln w="17780">
            <a:solidFill>
              <a:srgbClr val="18C2B8"/>
            </a:solidFill>
            <a:prstDash val="solid"/>
          </a:ln>
        </p:spPr>
      </p:sp>
      <p:sp>
        <p:nvSpPr>
          <p:cNvPr id="54" name="Text 52"/>
          <p:cNvSpPr/>
          <p:nvPr/>
        </p:nvSpPr>
        <p:spPr>
          <a:xfrm>
            <a:off x="2916936" y="31546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a:t>
            </a:r>
            <a:endParaRPr lang="en-US" sz="950" dirty="0"/>
          </a:p>
        </p:txBody>
      </p:sp>
      <p:sp>
        <p:nvSpPr>
          <p:cNvPr id="55" name="Shape 53"/>
          <p:cNvSpPr/>
          <p:nvPr/>
        </p:nvSpPr>
        <p:spPr>
          <a:xfrm>
            <a:off x="3511296" y="3172968"/>
            <a:ext cx="512064" cy="292608"/>
          </a:xfrm>
          <a:prstGeom prst="roundRect">
            <a:avLst>
              <a:gd name="adj" fmla="val 12500"/>
            </a:avLst>
          </a:prstGeom>
          <a:solidFill>
            <a:srgbClr val="1B3A5B"/>
          </a:solidFill>
          <a:ln w="17780">
            <a:solidFill>
              <a:srgbClr val="18C2B8"/>
            </a:solidFill>
            <a:prstDash val="solid"/>
          </a:ln>
        </p:spPr>
      </p:sp>
      <p:sp>
        <p:nvSpPr>
          <p:cNvPr id="56" name="Text 54"/>
          <p:cNvSpPr/>
          <p:nvPr/>
        </p:nvSpPr>
        <p:spPr>
          <a:xfrm>
            <a:off x="3483864" y="31546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b</a:t>
            </a:r>
            <a:endParaRPr lang="en-US" sz="950" dirty="0"/>
          </a:p>
        </p:txBody>
      </p:sp>
      <p:sp>
        <p:nvSpPr>
          <p:cNvPr id="57" name="Shape 55"/>
          <p:cNvSpPr/>
          <p:nvPr/>
        </p:nvSpPr>
        <p:spPr>
          <a:xfrm>
            <a:off x="4078224" y="3172968"/>
            <a:ext cx="512064" cy="292608"/>
          </a:xfrm>
          <a:prstGeom prst="roundRect">
            <a:avLst>
              <a:gd name="adj" fmla="val 12500"/>
            </a:avLst>
          </a:prstGeom>
          <a:solidFill>
            <a:srgbClr val="1B3A5B"/>
          </a:solidFill>
          <a:ln w="17780">
            <a:solidFill>
              <a:srgbClr val="18C2B8"/>
            </a:solidFill>
            <a:prstDash val="solid"/>
          </a:ln>
        </p:spPr>
      </p:sp>
      <p:sp>
        <p:nvSpPr>
          <p:cNvPr id="58" name="Text 56"/>
          <p:cNvSpPr/>
          <p:nvPr/>
        </p:nvSpPr>
        <p:spPr>
          <a:xfrm>
            <a:off x="4050792" y="31546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r</a:t>
            </a:r>
            <a:endParaRPr lang="en-US" sz="950" dirty="0"/>
          </a:p>
        </p:txBody>
      </p:sp>
      <p:sp>
        <p:nvSpPr>
          <p:cNvPr id="59" name="Shape 57"/>
          <p:cNvSpPr/>
          <p:nvPr/>
        </p:nvSpPr>
        <p:spPr>
          <a:xfrm>
            <a:off x="4645152" y="3172968"/>
            <a:ext cx="512064" cy="292608"/>
          </a:xfrm>
          <a:prstGeom prst="roundRect">
            <a:avLst>
              <a:gd name="adj" fmla="val 12500"/>
            </a:avLst>
          </a:prstGeom>
          <a:solidFill>
            <a:srgbClr val="1B3A5B"/>
          </a:solidFill>
          <a:ln w="17780">
            <a:solidFill>
              <a:srgbClr val="18C2B8"/>
            </a:solidFill>
            <a:prstDash val="solid"/>
          </a:ln>
        </p:spPr>
      </p:sp>
      <p:sp>
        <p:nvSpPr>
          <p:cNvPr id="60" name="Text 58"/>
          <p:cNvSpPr/>
          <p:nvPr/>
        </p:nvSpPr>
        <p:spPr>
          <a:xfrm>
            <a:off x="4617720" y="31546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a:t>
            </a:r>
            <a:endParaRPr lang="en-US" sz="950" dirty="0"/>
          </a:p>
        </p:txBody>
      </p:sp>
      <p:sp>
        <p:nvSpPr>
          <p:cNvPr id="61" name="Shape 59"/>
          <p:cNvSpPr/>
          <p:nvPr/>
        </p:nvSpPr>
        <p:spPr>
          <a:xfrm>
            <a:off x="5184648" y="3319272"/>
            <a:ext cx="5102352" cy="0"/>
          </a:xfrm>
          <a:prstGeom prst="line">
            <a:avLst/>
          </a:prstGeom>
          <a:noFill/>
          <a:ln w="19050">
            <a:solidFill>
              <a:srgbClr val="3A536B"/>
            </a:solidFill>
            <a:prstDash val="dash"/>
          </a:ln>
        </p:spPr>
      </p:sp>
      <p:sp>
        <p:nvSpPr>
          <p:cNvPr id="62" name="Text 60"/>
          <p:cNvSpPr/>
          <p:nvPr/>
        </p:nvSpPr>
        <p:spPr>
          <a:xfrm>
            <a:off x="749808" y="3593592"/>
            <a:ext cx="1481328" cy="365760"/>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state</a:t>
            </a:r>
            <a:endParaRPr lang="en-US" sz="1000" dirty="0"/>
          </a:p>
        </p:txBody>
      </p:sp>
      <p:sp>
        <p:nvSpPr>
          <p:cNvPr id="63" name="Shape 61"/>
          <p:cNvSpPr/>
          <p:nvPr/>
        </p:nvSpPr>
        <p:spPr>
          <a:xfrm>
            <a:off x="2377440" y="3630168"/>
            <a:ext cx="2779776" cy="292608"/>
          </a:xfrm>
          <a:prstGeom prst="roundRect">
            <a:avLst>
              <a:gd name="adj" fmla="val 12500"/>
            </a:avLst>
          </a:prstGeom>
          <a:solidFill>
            <a:srgbClr val="1B3A5B"/>
          </a:solidFill>
          <a:ln w="17780">
            <a:solidFill>
              <a:srgbClr val="18C2B8"/>
            </a:solidFill>
            <a:prstDash val="solid"/>
          </a:ln>
        </p:spPr>
      </p:sp>
      <p:sp>
        <p:nvSpPr>
          <p:cNvPr id="64" name="Text 62"/>
          <p:cNvSpPr/>
          <p:nvPr/>
        </p:nvSpPr>
        <p:spPr>
          <a:xfrm>
            <a:off x="2350008" y="3611880"/>
            <a:ext cx="2834640"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FILL</a:t>
            </a:r>
            <a:endParaRPr lang="en-US" sz="950" dirty="0"/>
          </a:p>
        </p:txBody>
      </p:sp>
      <p:sp>
        <p:nvSpPr>
          <p:cNvPr id="65" name="Shape 63"/>
          <p:cNvSpPr/>
          <p:nvPr/>
        </p:nvSpPr>
        <p:spPr>
          <a:xfrm>
            <a:off x="5212080" y="3630168"/>
            <a:ext cx="1078992" cy="292608"/>
          </a:xfrm>
          <a:prstGeom prst="roundRect">
            <a:avLst>
              <a:gd name="adj" fmla="val 12500"/>
            </a:avLst>
          </a:prstGeom>
          <a:solidFill>
            <a:srgbClr val="0C5F5B"/>
          </a:solidFill>
          <a:ln w="17780">
            <a:solidFill>
              <a:srgbClr val="18C2B8"/>
            </a:solidFill>
            <a:prstDash val="solid"/>
          </a:ln>
        </p:spPr>
      </p:sp>
      <p:sp>
        <p:nvSpPr>
          <p:cNvPr id="66" name="Text 64"/>
          <p:cNvSpPr/>
          <p:nvPr/>
        </p:nvSpPr>
        <p:spPr>
          <a:xfrm>
            <a:off x="5184648" y="3611880"/>
            <a:ext cx="1133856"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SRCH</a:t>
            </a:r>
            <a:endParaRPr lang="en-US" sz="950" dirty="0"/>
          </a:p>
        </p:txBody>
      </p:sp>
      <p:sp>
        <p:nvSpPr>
          <p:cNvPr id="67" name="Shape 65"/>
          <p:cNvSpPr/>
          <p:nvPr/>
        </p:nvSpPr>
        <p:spPr>
          <a:xfrm>
            <a:off x="6345936" y="3630168"/>
            <a:ext cx="512064" cy="292608"/>
          </a:xfrm>
          <a:prstGeom prst="roundRect">
            <a:avLst>
              <a:gd name="adj" fmla="val 12500"/>
            </a:avLst>
          </a:prstGeom>
          <a:solidFill>
            <a:srgbClr val="5A4410"/>
          </a:solidFill>
          <a:ln w="17780">
            <a:solidFill>
              <a:srgbClr val="18C2B8"/>
            </a:solidFill>
            <a:prstDash val="solid"/>
          </a:ln>
        </p:spPr>
      </p:sp>
      <p:sp>
        <p:nvSpPr>
          <p:cNvPr id="68" name="Text 66"/>
          <p:cNvSpPr/>
          <p:nvPr/>
        </p:nvSpPr>
        <p:spPr>
          <a:xfrm>
            <a:off x="6318504" y="36118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E0</a:t>
            </a:r>
            <a:endParaRPr lang="en-US" sz="950" dirty="0"/>
          </a:p>
        </p:txBody>
      </p:sp>
      <p:sp>
        <p:nvSpPr>
          <p:cNvPr id="69" name="Shape 67"/>
          <p:cNvSpPr/>
          <p:nvPr/>
        </p:nvSpPr>
        <p:spPr>
          <a:xfrm>
            <a:off x="6912864" y="3630168"/>
            <a:ext cx="512064" cy="292608"/>
          </a:xfrm>
          <a:prstGeom prst="roundRect">
            <a:avLst>
              <a:gd name="adj" fmla="val 12500"/>
            </a:avLst>
          </a:prstGeom>
          <a:solidFill>
            <a:srgbClr val="5A4410"/>
          </a:solidFill>
          <a:ln w="17780">
            <a:solidFill>
              <a:srgbClr val="18C2B8"/>
            </a:solidFill>
            <a:prstDash val="solid"/>
          </a:ln>
        </p:spPr>
      </p:sp>
      <p:sp>
        <p:nvSpPr>
          <p:cNvPr id="70" name="Text 68"/>
          <p:cNvSpPr/>
          <p:nvPr/>
        </p:nvSpPr>
        <p:spPr>
          <a:xfrm>
            <a:off x="6885432" y="36118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E1</a:t>
            </a:r>
            <a:endParaRPr lang="en-US" sz="950" dirty="0"/>
          </a:p>
        </p:txBody>
      </p:sp>
      <p:sp>
        <p:nvSpPr>
          <p:cNvPr id="71" name="Shape 69"/>
          <p:cNvSpPr/>
          <p:nvPr/>
        </p:nvSpPr>
        <p:spPr>
          <a:xfrm>
            <a:off x="7479792" y="3630168"/>
            <a:ext cx="512064" cy="292608"/>
          </a:xfrm>
          <a:prstGeom prst="roundRect">
            <a:avLst>
              <a:gd name="adj" fmla="val 12500"/>
            </a:avLst>
          </a:prstGeom>
          <a:solidFill>
            <a:srgbClr val="5A4410"/>
          </a:solidFill>
          <a:ln w="17780">
            <a:solidFill>
              <a:srgbClr val="18C2B8"/>
            </a:solidFill>
            <a:prstDash val="solid"/>
          </a:ln>
        </p:spPr>
      </p:sp>
      <p:sp>
        <p:nvSpPr>
          <p:cNvPr id="72" name="Text 70"/>
          <p:cNvSpPr/>
          <p:nvPr/>
        </p:nvSpPr>
        <p:spPr>
          <a:xfrm>
            <a:off x="7452360" y="36118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E2</a:t>
            </a:r>
            <a:endParaRPr lang="en-US" sz="950" dirty="0"/>
          </a:p>
        </p:txBody>
      </p:sp>
      <p:sp>
        <p:nvSpPr>
          <p:cNvPr id="73" name="Shape 71"/>
          <p:cNvSpPr/>
          <p:nvPr/>
        </p:nvSpPr>
        <p:spPr>
          <a:xfrm>
            <a:off x="8046720" y="3630168"/>
            <a:ext cx="1078992" cy="292608"/>
          </a:xfrm>
          <a:prstGeom prst="roundRect">
            <a:avLst>
              <a:gd name="adj" fmla="val 12500"/>
            </a:avLst>
          </a:prstGeom>
          <a:solidFill>
            <a:srgbClr val="0C5F5B"/>
          </a:solidFill>
          <a:ln w="17780">
            <a:solidFill>
              <a:srgbClr val="18C2B8"/>
            </a:solidFill>
            <a:prstDash val="solid"/>
          </a:ln>
        </p:spPr>
      </p:sp>
      <p:sp>
        <p:nvSpPr>
          <p:cNvPr id="74" name="Text 72"/>
          <p:cNvSpPr/>
          <p:nvPr/>
        </p:nvSpPr>
        <p:spPr>
          <a:xfrm>
            <a:off x="8019288" y="3611880"/>
            <a:ext cx="1133856"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ADV</a:t>
            </a:r>
            <a:endParaRPr lang="en-US" sz="950" dirty="0"/>
          </a:p>
        </p:txBody>
      </p:sp>
      <p:sp>
        <p:nvSpPr>
          <p:cNvPr id="75" name="Shape 73"/>
          <p:cNvSpPr/>
          <p:nvPr/>
        </p:nvSpPr>
        <p:spPr>
          <a:xfrm>
            <a:off x="9180576" y="3630168"/>
            <a:ext cx="1078992" cy="292608"/>
          </a:xfrm>
          <a:prstGeom prst="roundRect">
            <a:avLst>
              <a:gd name="adj" fmla="val 12500"/>
            </a:avLst>
          </a:prstGeom>
          <a:solidFill>
            <a:srgbClr val="5A2020"/>
          </a:solidFill>
          <a:ln w="17780">
            <a:solidFill>
              <a:srgbClr val="18C2B8"/>
            </a:solidFill>
            <a:prstDash val="solid"/>
          </a:ln>
        </p:spPr>
      </p:sp>
      <p:sp>
        <p:nvSpPr>
          <p:cNvPr id="76" name="Text 74"/>
          <p:cNvSpPr/>
          <p:nvPr/>
        </p:nvSpPr>
        <p:spPr>
          <a:xfrm>
            <a:off x="9153144" y="3611880"/>
            <a:ext cx="1133856"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DONE</a:t>
            </a:r>
            <a:endParaRPr lang="en-US" sz="950" dirty="0"/>
          </a:p>
        </p:txBody>
      </p:sp>
      <p:sp>
        <p:nvSpPr>
          <p:cNvPr id="77" name="Text 75"/>
          <p:cNvSpPr/>
          <p:nvPr/>
        </p:nvSpPr>
        <p:spPr>
          <a:xfrm>
            <a:off x="749808" y="4050792"/>
            <a:ext cx="1481328" cy="365760"/>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m_valid</a:t>
            </a:r>
            <a:endParaRPr lang="en-US" sz="1000" dirty="0"/>
          </a:p>
        </p:txBody>
      </p:sp>
      <p:sp>
        <p:nvSpPr>
          <p:cNvPr id="78" name="Shape 76"/>
          <p:cNvSpPr/>
          <p:nvPr/>
        </p:nvSpPr>
        <p:spPr>
          <a:xfrm>
            <a:off x="2350008" y="4398264"/>
            <a:ext cx="566928" cy="0"/>
          </a:xfrm>
          <a:prstGeom prst="line">
            <a:avLst/>
          </a:prstGeom>
          <a:noFill/>
          <a:ln w="25400">
            <a:solidFill>
              <a:srgbClr val="F4A825"/>
            </a:solidFill>
            <a:prstDash val="solid"/>
          </a:ln>
        </p:spPr>
      </p:sp>
      <p:sp>
        <p:nvSpPr>
          <p:cNvPr id="79" name="Shape 77"/>
          <p:cNvSpPr/>
          <p:nvPr/>
        </p:nvSpPr>
        <p:spPr>
          <a:xfrm>
            <a:off x="2916936" y="4398264"/>
            <a:ext cx="566928" cy="0"/>
          </a:xfrm>
          <a:prstGeom prst="line">
            <a:avLst/>
          </a:prstGeom>
          <a:noFill/>
          <a:ln w="25400">
            <a:solidFill>
              <a:srgbClr val="F4A825"/>
            </a:solidFill>
            <a:prstDash val="solid"/>
          </a:ln>
        </p:spPr>
      </p:sp>
      <p:sp>
        <p:nvSpPr>
          <p:cNvPr id="80" name="Shape 78"/>
          <p:cNvSpPr/>
          <p:nvPr/>
        </p:nvSpPr>
        <p:spPr>
          <a:xfrm>
            <a:off x="3483864" y="4398264"/>
            <a:ext cx="566928" cy="0"/>
          </a:xfrm>
          <a:prstGeom prst="line">
            <a:avLst/>
          </a:prstGeom>
          <a:noFill/>
          <a:ln w="25400">
            <a:solidFill>
              <a:srgbClr val="F4A825"/>
            </a:solidFill>
            <a:prstDash val="solid"/>
          </a:ln>
        </p:spPr>
      </p:sp>
      <p:sp>
        <p:nvSpPr>
          <p:cNvPr id="81" name="Shape 79"/>
          <p:cNvSpPr/>
          <p:nvPr/>
        </p:nvSpPr>
        <p:spPr>
          <a:xfrm>
            <a:off x="4050792" y="4398264"/>
            <a:ext cx="566928" cy="0"/>
          </a:xfrm>
          <a:prstGeom prst="line">
            <a:avLst/>
          </a:prstGeom>
          <a:noFill/>
          <a:ln w="25400">
            <a:solidFill>
              <a:srgbClr val="F4A825"/>
            </a:solidFill>
            <a:prstDash val="solid"/>
          </a:ln>
        </p:spPr>
      </p:sp>
      <p:sp>
        <p:nvSpPr>
          <p:cNvPr id="82" name="Shape 80"/>
          <p:cNvSpPr/>
          <p:nvPr/>
        </p:nvSpPr>
        <p:spPr>
          <a:xfrm>
            <a:off x="4617720" y="4398264"/>
            <a:ext cx="566928" cy="0"/>
          </a:xfrm>
          <a:prstGeom prst="line">
            <a:avLst/>
          </a:prstGeom>
          <a:noFill/>
          <a:ln w="25400">
            <a:solidFill>
              <a:srgbClr val="F4A825"/>
            </a:solidFill>
            <a:prstDash val="solid"/>
          </a:ln>
        </p:spPr>
      </p:sp>
      <p:sp>
        <p:nvSpPr>
          <p:cNvPr id="83" name="Shape 81"/>
          <p:cNvSpPr/>
          <p:nvPr/>
        </p:nvSpPr>
        <p:spPr>
          <a:xfrm>
            <a:off x="5184648" y="4398264"/>
            <a:ext cx="566928" cy="0"/>
          </a:xfrm>
          <a:prstGeom prst="line">
            <a:avLst/>
          </a:prstGeom>
          <a:noFill/>
          <a:ln w="25400">
            <a:solidFill>
              <a:srgbClr val="F4A825"/>
            </a:solidFill>
            <a:prstDash val="solid"/>
          </a:ln>
        </p:spPr>
      </p:sp>
      <p:sp>
        <p:nvSpPr>
          <p:cNvPr id="84" name="Shape 82"/>
          <p:cNvSpPr/>
          <p:nvPr/>
        </p:nvSpPr>
        <p:spPr>
          <a:xfrm>
            <a:off x="5751576" y="4398264"/>
            <a:ext cx="566928" cy="0"/>
          </a:xfrm>
          <a:prstGeom prst="line">
            <a:avLst/>
          </a:prstGeom>
          <a:noFill/>
          <a:ln w="25400">
            <a:solidFill>
              <a:srgbClr val="F4A825"/>
            </a:solidFill>
            <a:prstDash val="solid"/>
          </a:ln>
        </p:spPr>
      </p:sp>
      <p:sp>
        <p:nvSpPr>
          <p:cNvPr id="85" name="Shape 83"/>
          <p:cNvSpPr/>
          <p:nvPr/>
        </p:nvSpPr>
        <p:spPr>
          <a:xfrm>
            <a:off x="6318504" y="4069080"/>
            <a:ext cx="566928" cy="0"/>
          </a:xfrm>
          <a:prstGeom prst="line">
            <a:avLst/>
          </a:prstGeom>
          <a:noFill/>
          <a:ln w="25400">
            <a:solidFill>
              <a:srgbClr val="F4A825"/>
            </a:solidFill>
            <a:prstDash val="solid"/>
          </a:ln>
        </p:spPr>
      </p:sp>
      <p:sp>
        <p:nvSpPr>
          <p:cNvPr id="86" name="Shape 84"/>
          <p:cNvSpPr/>
          <p:nvPr/>
        </p:nvSpPr>
        <p:spPr>
          <a:xfrm>
            <a:off x="6318504" y="4069080"/>
            <a:ext cx="0" cy="329184"/>
          </a:xfrm>
          <a:prstGeom prst="line">
            <a:avLst/>
          </a:prstGeom>
          <a:noFill/>
          <a:ln w="25400">
            <a:solidFill>
              <a:srgbClr val="F4A825"/>
            </a:solidFill>
            <a:prstDash val="solid"/>
          </a:ln>
        </p:spPr>
      </p:sp>
      <p:sp>
        <p:nvSpPr>
          <p:cNvPr id="87" name="Shape 85"/>
          <p:cNvSpPr/>
          <p:nvPr/>
        </p:nvSpPr>
        <p:spPr>
          <a:xfrm>
            <a:off x="6885432" y="4069080"/>
            <a:ext cx="566928" cy="0"/>
          </a:xfrm>
          <a:prstGeom prst="line">
            <a:avLst/>
          </a:prstGeom>
          <a:noFill/>
          <a:ln w="25400">
            <a:solidFill>
              <a:srgbClr val="F4A825"/>
            </a:solidFill>
            <a:prstDash val="solid"/>
          </a:ln>
        </p:spPr>
      </p:sp>
      <p:sp>
        <p:nvSpPr>
          <p:cNvPr id="88" name="Shape 86"/>
          <p:cNvSpPr/>
          <p:nvPr/>
        </p:nvSpPr>
        <p:spPr>
          <a:xfrm>
            <a:off x="7452360" y="4069080"/>
            <a:ext cx="566928" cy="0"/>
          </a:xfrm>
          <a:prstGeom prst="line">
            <a:avLst/>
          </a:prstGeom>
          <a:noFill/>
          <a:ln w="25400">
            <a:solidFill>
              <a:srgbClr val="F4A825"/>
            </a:solidFill>
            <a:prstDash val="solid"/>
          </a:ln>
        </p:spPr>
      </p:sp>
      <p:sp>
        <p:nvSpPr>
          <p:cNvPr id="89" name="Shape 87"/>
          <p:cNvSpPr/>
          <p:nvPr/>
        </p:nvSpPr>
        <p:spPr>
          <a:xfrm>
            <a:off x="8019288" y="4398264"/>
            <a:ext cx="566928" cy="0"/>
          </a:xfrm>
          <a:prstGeom prst="line">
            <a:avLst/>
          </a:prstGeom>
          <a:noFill/>
          <a:ln w="25400">
            <a:solidFill>
              <a:srgbClr val="F4A825"/>
            </a:solidFill>
            <a:prstDash val="solid"/>
          </a:ln>
        </p:spPr>
      </p:sp>
      <p:sp>
        <p:nvSpPr>
          <p:cNvPr id="90" name="Shape 88"/>
          <p:cNvSpPr/>
          <p:nvPr/>
        </p:nvSpPr>
        <p:spPr>
          <a:xfrm>
            <a:off x="8019288" y="4069080"/>
            <a:ext cx="0" cy="329184"/>
          </a:xfrm>
          <a:prstGeom prst="line">
            <a:avLst/>
          </a:prstGeom>
          <a:noFill/>
          <a:ln w="25400">
            <a:solidFill>
              <a:srgbClr val="F4A825"/>
            </a:solidFill>
            <a:prstDash val="solid"/>
          </a:ln>
        </p:spPr>
      </p:sp>
      <p:sp>
        <p:nvSpPr>
          <p:cNvPr id="91" name="Shape 89"/>
          <p:cNvSpPr/>
          <p:nvPr/>
        </p:nvSpPr>
        <p:spPr>
          <a:xfrm>
            <a:off x="8586216" y="4398264"/>
            <a:ext cx="566928" cy="0"/>
          </a:xfrm>
          <a:prstGeom prst="line">
            <a:avLst/>
          </a:prstGeom>
          <a:noFill/>
          <a:ln w="25400">
            <a:solidFill>
              <a:srgbClr val="F4A825"/>
            </a:solidFill>
            <a:prstDash val="solid"/>
          </a:ln>
        </p:spPr>
      </p:sp>
      <p:sp>
        <p:nvSpPr>
          <p:cNvPr id="92" name="Shape 90"/>
          <p:cNvSpPr/>
          <p:nvPr/>
        </p:nvSpPr>
        <p:spPr>
          <a:xfrm>
            <a:off x="9153144" y="4398264"/>
            <a:ext cx="566928" cy="0"/>
          </a:xfrm>
          <a:prstGeom prst="line">
            <a:avLst/>
          </a:prstGeom>
          <a:noFill/>
          <a:ln w="25400">
            <a:solidFill>
              <a:srgbClr val="F4A825"/>
            </a:solidFill>
            <a:prstDash val="solid"/>
          </a:ln>
        </p:spPr>
      </p:sp>
      <p:sp>
        <p:nvSpPr>
          <p:cNvPr id="93" name="Shape 91"/>
          <p:cNvSpPr/>
          <p:nvPr/>
        </p:nvSpPr>
        <p:spPr>
          <a:xfrm>
            <a:off x="9720072" y="4398264"/>
            <a:ext cx="566928" cy="0"/>
          </a:xfrm>
          <a:prstGeom prst="line">
            <a:avLst/>
          </a:prstGeom>
          <a:noFill/>
          <a:ln w="25400">
            <a:solidFill>
              <a:srgbClr val="F4A825"/>
            </a:solidFill>
            <a:prstDash val="solid"/>
          </a:ln>
        </p:spPr>
      </p:sp>
      <p:sp>
        <p:nvSpPr>
          <p:cNvPr id="94" name="Text 92"/>
          <p:cNvSpPr/>
          <p:nvPr/>
        </p:nvSpPr>
        <p:spPr>
          <a:xfrm>
            <a:off x="749808" y="4507992"/>
            <a:ext cx="1481328" cy="365760"/>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m_data</a:t>
            </a:r>
            <a:endParaRPr lang="en-US" sz="1000" dirty="0"/>
          </a:p>
        </p:txBody>
      </p:sp>
      <p:sp>
        <p:nvSpPr>
          <p:cNvPr id="95" name="Shape 93"/>
          <p:cNvSpPr/>
          <p:nvPr/>
        </p:nvSpPr>
        <p:spPr>
          <a:xfrm>
            <a:off x="2350008" y="4690872"/>
            <a:ext cx="3968496" cy="0"/>
          </a:xfrm>
          <a:prstGeom prst="line">
            <a:avLst/>
          </a:prstGeom>
          <a:noFill/>
          <a:ln w="19050">
            <a:solidFill>
              <a:srgbClr val="3A536B"/>
            </a:solidFill>
            <a:prstDash val="dash"/>
          </a:ln>
        </p:spPr>
      </p:sp>
      <p:sp>
        <p:nvSpPr>
          <p:cNvPr id="96" name="Shape 94"/>
          <p:cNvSpPr/>
          <p:nvPr/>
        </p:nvSpPr>
        <p:spPr>
          <a:xfrm>
            <a:off x="6345936" y="4544568"/>
            <a:ext cx="512064" cy="292608"/>
          </a:xfrm>
          <a:prstGeom prst="roundRect">
            <a:avLst>
              <a:gd name="adj" fmla="val 12500"/>
            </a:avLst>
          </a:prstGeom>
          <a:solidFill>
            <a:srgbClr val="5A4410"/>
          </a:solidFill>
          <a:ln w="17780">
            <a:solidFill>
              <a:srgbClr val="F4A825"/>
            </a:solidFill>
            <a:prstDash val="solid"/>
          </a:ln>
        </p:spPr>
      </p:sp>
      <p:sp>
        <p:nvSpPr>
          <p:cNvPr id="97" name="Text 95"/>
          <p:cNvSpPr/>
          <p:nvPr/>
        </p:nvSpPr>
        <p:spPr>
          <a:xfrm>
            <a:off x="6318504" y="45262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off=7</a:t>
            </a:r>
            <a:endParaRPr lang="en-US" sz="950" dirty="0"/>
          </a:p>
        </p:txBody>
      </p:sp>
      <p:sp>
        <p:nvSpPr>
          <p:cNvPr id="98" name="Shape 96"/>
          <p:cNvSpPr/>
          <p:nvPr/>
        </p:nvSpPr>
        <p:spPr>
          <a:xfrm>
            <a:off x="6912864" y="4544568"/>
            <a:ext cx="512064" cy="292608"/>
          </a:xfrm>
          <a:prstGeom prst="roundRect">
            <a:avLst>
              <a:gd name="adj" fmla="val 12500"/>
            </a:avLst>
          </a:prstGeom>
          <a:solidFill>
            <a:srgbClr val="5A4410"/>
          </a:solidFill>
          <a:ln w="17780">
            <a:solidFill>
              <a:srgbClr val="F4A825"/>
            </a:solidFill>
            <a:prstDash val="solid"/>
          </a:ln>
        </p:spPr>
      </p:sp>
      <p:sp>
        <p:nvSpPr>
          <p:cNvPr id="99" name="Text 97"/>
          <p:cNvSpPr/>
          <p:nvPr/>
        </p:nvSpPr>
        <p:spPr>
          <a:xfrm>
            <a:off x="6885432" y="45262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len=4</a:t>
            </a:r>
            <a:endParaRPr lang="en-US" sz="950" dirty="0"/>
          </a:p>
        </p:txBody>
      </p:sp>
      <p:sp>
        <p:nvSpPr>
          <p:cNvPr id="100" name="Shape 98"/>
          <p:cNvSpPr/>
          <p:nvPr/>
        </p:nvSpPr>
        <p:spPr>
          <a:xfrm>
            <a:off x="7479792" y="4544568"/>
            <a:ext cx="512064" cy="292608"/>
          </a:xfrm>
          <a:prstGeom prst="roundRect">
            <a:avLst>
              <a:gd name="adj" fmla="val 12500"/>
            </a:avLst>
          </a:prstGeom>
          <a:solidFill>
            <a:srgbClr val="5A4410"/>
          </a:solidFill>
          <a:ln w="17780">
            <a:solidFill>
              <a:srgbClr val="F4A825"/>
            </a:solidFill>
            <a:prstDash val="solid"/>
          </a:ln>
        </p:spPr>
      </p:sp>
      <p:sp>
        <p:nvSpPr>
          <p:cNvPr id="101" name="Text 99"/>
          <p:cNvSpPr/>
          <p:nvPr/>
        </p:nvSpPr>
        <p:spPr>
          <a:xfrm>
            <a:off x="7452360" y="4526280"/>
            <a:ext cx="566928" cy="329184"/>
          </a:xfrm>
          <a:prstGeom prst="rect">
            <a:avLst/>
          </a:prstGeom>
          <a:noFill/>
          <a:ln/>
        </p:spPr>
        <p:txBody>
          <a:bodyPr wrap="square" lIns="0" tIns="0" rIns="0" bIns="0" rtlCol="0" anchor="ctr"/>
          <a:lstStyle/>
          <a:p>
            <a:pPr algn="ctr" indent="0" marL="0">
              <a:buNone/>
            </a:pPr>
            <a:r>
              <a:rPr lang="en-US" sz="950" b="1" dirty="0">
                <a:solidFill>
                  <a:srgbClr val="E8F2F0"/>
                </a:solidFill>
                <a:latin typeface="Courier New" pitchFamily="34" charset="0"/>
                <a:ea typeface="Courier New" pitchFamily="34" charset="-122"/>
                <a:cs typeface="Courier New" pitchFamily="34" charset="-120"/>
              </a:rPr>
              <a:t>'a'</a:t>
            </a:r>
            <a:endParaRPr lang="en-US" sz="950" dirty="0"/>
          </a:p>
        </p:txBody>
      </p:sp>
      <p:sp>
        <p:nvSpPr>
          <p:cNvPr id="102" name="Shape 100"/>
          <p:cNvSpPr/>
          <p:nvPr/>
        </p:nvSpPr>
        <p:spPr>
          <a:xfrm>
            <a:off x="8019288" y="4690872"/>
            <a:ext cx="2267712" cy="0"/>
          </a:xfrm>
          <a:prstGeom prst="line">
            <a:avLst/>
          </a:prstGeom>
          <a:noFill/>
          <a:ln w="19050">
            <a:solidFill>
              <a:srgbClr val="3A536B"/>
            </a:solidFill>
            <a:prstDash val="dash"/>
          </a:ln>
        </p:spPr>
      </p:sp>
      <p:sp>
        <p:nvSpPr>
          <p:cNvPr id="103" name="Text 101"/>
          <p:cNvSpPr/>
          <p:nvPr/>
        </p:nvSpPr>
        <p:spPr>
          <a:xfrm>
            <a:off x="749808" y="4965192"/>
            <a:ext cx="1481328" cy="365760"/>
          </a:xfrm>
          <a:prstGeom prst="rect">
            <a:avLst/>
          </a:prstGeom>
          <a:noFill/>
          <a:ln/>
        </p:spPr>
        <p:txBody>
          <a:bodyPr wrap="square" lIns="0" tIns="0" rIns="0" bIns="0" rtlCol="0" anchor="ctr"/>
          <a:lstStyle/>
          <a:p>
            <a:pPr algn="r" indent="0" marL="0">
              <a:buNone/>
            </a:pPr>
            <a:r>
              <a:rPr lang="en-US" sz="1000" dirty="0">
                <a:solidFill>
                  <a:srgbClr val="C7D3DE"/>
                </a:solidFill>
                <a:latin typeface="Courier New" pitchFamily="34" charset="0"/>
                <a:ea typeface="Courier New" pitchFamily="34" charset="-122"/>
                <a:cs typeface="Courier New" pitchFamily="34" charset="-120"/>
              </a:rPr>
              <a:t>m_last</a:t>
            </a:r>
            <a:endParaRPr lang="en-US" sz="1000" dirty="0"/>
          </a:p>
        </p:txBody>
      </p:sp>
      <p:sp>
        <p:nvSpPr>
          <p:cNvPr id="104" name="Shape 102"/>
          <p:cNvSpPr/>
          <p:nvPr/>
        </p:nvSpPr>
        <p:spPr>
          <a:xfrm>
            <a:off x="2350008" y="5312664"/>
            <a:ext cx="566928" cy="0"/>
          </a:xfrm>
          <a:prstGeom prst="line">
            <a:avLst/>
          </a:prstGeom>
          <a:noFill/>
          <a:ln w="25400">
            <a:solidFill>
              <a:srgbClr val="F6C86A"/>
            </a:solidFill>
            <a:prstDash val="solid"/>
          </a:ln>
        </p:spPr>
      </p:sp>
      <p:sp>
        <p:nvSpPr>
          <p:cNvPr id="105" name="Shape 103"/>
          <p:cNvSpPr/>
          <p:nvPr/>
        </p:nvSpPr>
        <p:spPr>
          <a:xfrm>
            <a:off x="2916936" y="5312664"/>
            <a:ext cx="566928" cy="0"/>
          </a:xfrm>
          <a:prstGeom prst="line">
            <a:avLst/>
          </a:prstGeom>
          <a:noFill/>
          <a:ln w="25400">
            <a:solidFill>
              <a:srgbClr val="F6C86A"/>
            </a:solidFill>
            <a:prstDash val="solid"/>
          </a:ln>
        </p:spPr>
      </p:sp>
      <p:sp>
        <p:nvSpPr>
          <p:cNvPr id="106" name="Shape 104"/>
          <p:cNvSpPr/>
          <p:nvPr/>
        </p:nvSpPr>
        <p:spPr>
          <a:xfrm>
            <a:off x="3483864" y="5312664"/>
            <a:ext cx="566928" cy="0"/>
          </a:xfrm>
          <a:prstGeom prst="line">
            <a:avLst/>
          </a:prstGeom>
          <a:noFill/>
          <a:ln w="25400">
            <a:solidFill>
              <a:srgbClr val="F6C86A"/>
            </a:solidFill>
            <a:prstDash val="solid"/>
          </a:ln>
        </p:spPr>
      </p:sp>
      <p:sp>
        <p:nvSpPr>
          <p:cNvPr id="107" name="Shape 105"/>
          <p:cNvSpPr/>
          <p:nvPr/>
        </p:nvSpPr>
        <p:spPr>
          <a:xfrm>
            <a:off x="4050792" y="5312664"/>
            <a:ext cx="566928" cy="0"/>
          </a:xfrm>
          <a:prstGeom prst="line">
            <a:avLst/>
          </a:prstGeom>
          <a:noFill/>
          <a:ln w="25400">
            <a:solidFill>
              <a:srgbClr val="F6C86A"/>
            </a:solidFill>
            <a:prstDash val="solid"/>
          </a:ln>
        </p:spPr>
      </p:sp>
      <p:sp>
        <p:nvSpPr>
          <p:cNvPr id="108" name="Shape 106"/>
          <p:cNvSpPr/>
          <p:nvPr/>
        </p:nvSpPr>
        <p:spPr>
          <a:xfrm>
            <a:off x="4617720" y="5312664"/>
            <a:ext cx="566928" cy="0"/>
          </a:xfrm>
          <a:prstGeom prst="line">
            <a:avLst/>
          </a:prstGeom>
          <a:noFill/>
          <a:ln w="25400">
            <a:solidFill>
              <a:srgbClr val="F6C86A"/>
            </a:solidFill>
            <a:prstDash val="solid"/>
          </a:ln>
        </p:spPr>
      </p:sp>
      <p:sp>
        <p:nvSpPr>
          <p:cNvPr id="109" name="Shape 107"/>
          <p:cNvSpPr/>
          <p:nvPr/>
        </p:nvSpPr>
        <p:spPr>
          <a:xfrm>
            <a:off x="5184648" y="5312664"/>
            <a:ext cx="566928" cy="0"/>
          </a:xfrm>
          <a:prstGeom prst="line">
            <a:avLst/>
          </a:prstGeom>
          <a:noFill/>
          <a:ln w="25400">
            <a:solidFill>
              <a:srgbClr val="F6C86A"/>
            </a:solidFill>
            <a:prstDash val="solid"/>
          </a:ln>
        </p:spPr>
      </p:sp>
      <p:sp>
        <p:nvSpPr>
          <p:cNvPr id="110" name="Shape 108"/>
          <p:cNvSpPr/>
          <p:nvPr/>
        </p:nvSpPr>
        <p:spPr>
          <a:xfrm>
            <a:off x="5751576" y="5312664"/>
            <a:ext cx="566928" cy="0"/>
          </a:xfrm>
          <a:prstGeom prst="line">
            <a:avLst/>
          </a:prstGeom>
          <a:noFill/>
          <a:ln w="25400">
            <a:solidFill>
              <a:srgbClr val="F6C86A"/>
            </a:solidFill>
            <a:prstDash val="solid"/>
          </a:ln>
        </p:spPr>
      </p:sp>
      <p:sp>
        <p:nvSpPr>
          <p:cNvPr id="111" name="Shape 109"/>
          <p:cNvSpPr/>
          <p:nvPr/>
        </p:nvSpPr>
        <p:spPr>
          <a:xfrm>
            <a:off x="6318504" y="5312664"/>
            <a:ext cx="566928" cy="0"/>
          </a:xfrm>
          <a:prstGeom prst="line">
            <a:avLst/>
          </a:prstGeom>
          <a:noFill/>
          <a:ln w="25400">
            <a:solidFill>
              <a:srgbClr val="F6C86A"/>
            </a:solidFill>
            <a:prstDash val="solid"/>
          </a:ln>
        </p:spPr>
      </p:sp>
      <p:sp>
        <p:nvSpPr>
          <p:cNvPr id="112" name="Shape 110"/>
          <p:cNvSpPr/>
          <p:nvPr/>
        </p:nvSpPr>
        <p:spPr>
          <a:xfrm>
            <a:off x="6885432" y="5312664"/>
            <a:ext cx="566928" cy="0"/>
          </a:xfrm>
          <a:prstGeom prst="line">
            <a:avLst/>
          </a:prstGeom>
          <a:noFill/>
          <a:ln w="25400">
            <a:solidFill>
              <a:srgbClr val="F6C86A"/>
            </a:solidFill>
            <a:prstDash val="solid"/>
          </a:ln>
        </p:spPr>
      </p:sp>
      <p:sp>
        <p:nvSpPr>
          <p:cNvPr id="113" name="Shape 111"/>
          <p:cNvSpPr/>
          <p:nvPr/>
        </p:nvSpPr>
        <p:spPr>
          <a:xfrm>
            <a:off x="7452360" y="4983480"/>
            <a:ext cx="566928" cy="0"/>
          </a:xfrm>
          <a:prstGeom prst="line">
            <a:avLst/>
          </a:prstGeom>
          <a:noFill/>
          <a:ln w="25400">
            <a:solidFill>
              <a:srgbClr val="F6C86A"/>
            </a:solidFill>
            <a:prstDash val="solid"/>
          </a:ln>
        </p:spPr>
      </p:sp>
      <p:sp>
        <p:nvSpPr>
          <p:cNvPr id="114" name="Shape 112"/>
          <p:cNvSpPr/>
          <p:nvPr/>
        </p:nvSpPr>
        <p:spPr>
          <a:xfrm>
            <a:off x="7452360" y="4983480"/>
            <a:ext cx="0" cy="329184"/>
          </a:xfrm>
          <a:prstGeom prst="line">
            <a:avLst/>
          </a:prstGeom>
          <a:noFill/>
          <a:ln w="25400">
            <a:solidFill>
              <a:srgbClr val="F6C86A"/>
            </a:solidFill>
            <a:prstDash val="solid"/>
          </a:ln>
        </p:spPr>
      </p:sp>
      <p:sp>
        <p:nvSpPr>
          <p:cNvPr id="115" name="Shape 113"/>
          <p:cNvSpPr/>
          <p:nvPr/>
        </p:nvSpPr>
        <p:spPr>
          <a:xfrm>
            <a:off x="8019288" y="5312664"/>
            <a:ext cx="566928" cy="0"/>
          </a:xfrm>
          <a:prstGeom prst="line">
            <a:avLst/>
          </a:prstGeom>
          <a:noFill/>
          <a:ln w="25400">
            <a:solidFill>
              <a:srgbClr val="F6C86A"/>
            </a:solidFill>
            <a:prstDash val="solid"/>
          </a:ln>
        </p:spPr>
      </p:sp>
      <p:sp>
        <p:nvSpPr>
          <p:cNvPr id="116" name="Shape 114"/>
          <p:cNvSpPr/>
          <p:nvPr/>
        </p:nvSpPr>
        <p:spPr>
          <a:xfrm>
            <a:off x="8019288" y="4983480"/>
            <a:ext cx="0" cy="329184"/>
          </a:xfrm>
          <a:prstGeom prst="line">
            <a:avLst/>
          </a:prstGeom>
          <a:noFill/>
          <a:ln w="25400">
            <a:solidFill>
              <a:srgbClr val="F6C86A"/>
            </a:solidFill>
            <a:prstDash val="solid"/>
          </a:ln>
        </p:spPr>
      </p:sp>
      <p:sp>
        <p:nvSpPr>
          <p:cNvPr id="117" name="Shape 115"/>
          <p:cNvSpPr/>
          <p:nvPr/>
        </p:nvSpPr>
        <p:spPr>
          <a:xfrm>
            <a:off x="8586216" y="5312664"/>
            <a:ext cx="566928" cy="0"/>
          </a:xfrm>
          <a:prstGeom prst="line">
            <a:avLst/>
          </a:prstGeom>
          <a:noFill/>
          <a:ln w="25400">
            <a:solidFill>
              <a:srgbClr val="F6C86A"/>
            </a:solidFill>
            <a:prstDash val="solid"/>
          </a:ln>
        </p:spPr>
      </p:sp>
      <p:sp>
        <p:nvSpPr>
          <p:cNvPr id="118" name="Shape 116"/>
          <p:cNvSpPr/>
          <p:nvPr/>
        </p:nvSpPr>
        <p:spPr>
          <a:xfrm>
            <a:off x="9153144" y="5312664"/>
            <a:ext cx="566928" cy="0"/>
          </a:xfrm>
          <a:prstGeom prst="line">
            <a:avLst/>
          </a:prstGeom>
          <a:noFill/>
          <a:ln w="25400">
            <a:solidFill>
              <a:srgbClr val="F6C86A"/>
            </a:solidFill>
            <a:prstDash val="solid"/>
          </a:ln>
        </p:spPr>
      </p:sp>
      <p:sp>
        <p:nvSpPr>
          <p:cNvPr id="119" name="Shape 117"/>
          <p:cNvSpPr/>
          <p:nvPr/>
        </p:nvSpPr>
        <p:spPr>
          <a:xfrm>
            <a:off x="9720072" y="5312664"/>
            <a:ext cx="566928" cy="0"/>
          </a:xfrm>
          <a:prstGeom prst="line">
            <a:avLst/>
          </a:prstGeom>
          <a:noFill/>
          <a:ln w="25400">
            <a:solidFill>
              <a:srgbClr val="F6C86A"/>
            </a:solidFill>
            <a:prstDash val="solid"/>
          </a:ln>
        </p:spPr>
      </p:sp>
      <p:sp>
        <p:nvSpPr>
          <p:cNvPr id="120" name="Shape 118"/>
          <p:cNvSpPr/>
          <p:nvPr/>
        </p:nvSpPr>
        <p:spPr>
          <a:xfrm>
            <a:off x="3767328" y="2057400"/>
            <a:ext cx="0" cy="3300984"/>
          </a:xfrm>
          <a:prstGeom prst="line">
            <a:avLst/>
          </a:prstGeom>
          <a:noFill/>
          <a:ln w="12700">
            <a:solidFill>
              <a:srgbClr val="18C2B8"/>
            </a:solidFill>
            <a:prstDash val="dash"/>
          </a:ln>
        </p:spPr>
      </p:sp>
      <p:sp>
        <p:nvSpPr>
          <p:cNvPr id="121" name="Text 119"/>
          <p:cNvSpPr/>
          <p:nvPr/>
        </p:nvSpPr>
        <p:spPr>
          <a:xfrm>
            <a:off x="3127248" y="1819656"/>
            <a:ext cx="1280160" cy="219456"/>
          </a:xfrm>
          <a:prstGeom prst="rect">
            <a:avLst/>
          </a:prstGeom>
          <a:noFill/>
          <a:ln/>
        </p:spPr>
        <p:txBody>
          <a:bodyPr wrap="square" lIns="0" tIns="0" rIns="0" bIns="0" rtlCol="0" anchor="ctr"/>
          <a:lstStyle/>
          <a:p>
            <a:pPr algn="ctr" indent="0" marL="0">
              <a:buNone/>
            </a:pPr>
            <a:r>
              <a:rPr lang="en-US" sz="850" i="1" dirty="0">
                <a:solidFill>
                  <a:srgbClr val="18C2B8"/>
                </a:solidFill>
                <a:latin typeface="Calibri" pitchFamily="34" charset="0"/>
                <a:ea typeface="Calibri" pitchFamily="34" charset="-122"/>
                <a:cs typeface="Calibri" pitchFamily="34" charset="-120"/>
              </a:rPr>
              <a:t>① fill</a:t>
            </a:r>
            <a:endParaRPr lang="en-US" sz="850" dirty="0"/>
          </a:p>
        </p:txBody>
      </p:sp>
      <p:sp>
        <p:nvSpPr>
          <p:cNvPr id="122" name="Shape 120"/>
          <p:cNvSpPr/>
          <p:nvPr/>
        </p:nvSpPr>
        <p:spPr>
          <a:xfrm>
            <a:off x="5751576" y="2057400"/>
            <a:ext cx="0" cy="3300984"/>
          </a:xfrm>
          <a:prstGeom prst="line">
            <a:avLst/>
          </a:prstGeom>
          <a:noFill/>
          <a:ln w="12700">
            <a:solidFill>
              <a:srgbClr val="18C2B8"/>
            </a:solidFill>
            <a:prstDash val="dash"/>
          </a:ln>
        </p:spPr>
      </p:sp>
      <p:sp>
        <p:nvSpPr>
          <p:cNvPr id="123" name="Text 121"/>
          <p:cNvSpPr/>
          <p:nvPr/>
        </p:nvSpPr>
        <p:spPr>
          <a:xfrm>
            <a:off x="5111496" y="1819656"/>
            <a:ext cx="1280160" cy="219456"/>
          </a:xfrm>
          <a:prstGeom prst="rect">
            <a:avLst/>
          </a:prstGeom>
          <a:noFill/>
          <a:ln/>
        </p:spPr>
        <p:txBody>
          <a:bodyPr wrap="square" lIns="0" tIns="0" rIns="0" bIns="0" rtlCol="0" anchor="ctr"/>
          <a:lstStyle/>
          <a:p>
            <a:pPr algn="ctr" indent="0" marL="0">
              <a:buNone/>
            </a:pPr>
            <a:r>
              <a:rPr lang="en-US" sz="850" i="1" dirty="0">
                <a:solidFill>
                  <a:srgbClr val="18C2B8"/>
                </a:solidFill>
                <a:latin typeface="Calibri" pitchFamily="34" charset="0"/>
                <a:ea typeface="Calibri" pitchFamily="34" charset="-122"/>
                <a:cs typeface="Calibri" pitchFamily="34" charset="-120"/>
              </a:rPr>
              <a:t>② search</a:t>
            </a:r>
            <a:endParaRPr lang="en-US" sz="850" dirty="0"/>
          </a:p>
        </p:txBody>
      </p:sp>
      <p:sp>
        <p:nvSpPr>
          <p:cNvPr id="124" name="Shape 122"/>
          <p:cNvSpPr/>
          <p:nvPr/>
        </p:nvSpPr>
        <p:spPr>
          <a:xfrm>
            <a:off x="6601968" y="2057400"/>
            <a:ext cx="0" cy="3300984"/>
          </a:xfrm>
          <a:prstGeom prst="line">
            <a:avLst/>
          </a:prstGeom>
          <a:noFill/>
          <a:ln w="12700">
            <a:solidFill>
              <a:srgbClr val="F4A825"/>
            </a:solidFill>
            <a:prstDash val="dash"/>
          </a:ln>
        </p:spPr>
      </p:sp>
      <p:sp>
        <p:nvSpPr>
          <p:cNvPr id="125" name="Text 123"/>
          <p:cNvSpPr/>
          <p:nvPr/>
        </p:nvSpPr>
        <p:spPr>
          <a:xfrm>
            <a:off x="5961888" y="1819656"/>
            <a:ext cx="1280160" cy="219456"/>
          </a:xfrm>
          <a:prstGeom prst="rect">
            <a:avLst/>
          </a:prstGeom>
          <a:noFill/>
          <a:ln/>
        </p:spPr>
        <p:txBody>
          <a:bodyPr wrap="square" lIns="0" tIns="0" rIns="0" bIns="0" rtlCol="0" anchor="ctr"/>
          <a:lstStyle/>
          <a:p>
            <a:pPr algn="ctr" indent="0" marL="0">
              <a:buNone/>
            </a:pPr>
            <a:r>
              <a:rPr lang="en-US" sz="850" i="1" dirty="0">
                <a:solidFill>
                  <a:srgbClr val="F4A825"/>
                </a:solidFill>
                <a:latin typeface="Calibri" pitchFamily="34" charset="0"/>
                <a:ea typeface="Calibri" pitchFamily="34" charset="-122"/>
                <a:cs typeface="Calibri" pitchFamily="34" charset="-120"/>
              </a:rPr>
              <a:t>③ emit</a:t>
            </a:r>
            <a:endParaRPr lang="en-US" sz="850" dirty="0"/>
          </a:p>
        </p:txBody>
      </p:sp>
      <p:sp>
        <p:nvSpPr>
          <p:cNvPr id="126" name="Shape 124"/>
          <p:cNvSpPr/>
          <p:nvPr/>
        </p:nvSpPr>
        <p:spPr>
          <a:xfrm>
            <a:off x="7735824" y="2057400"/>
            <a:ext cx="0" cy="3300984"/>
          </a:xfrm>
          <a:prstGeom prst="line">
            <a:avLst/>
          </a:prstGeom>
          <a:noFill/>
          <a:ln w="12700">
            <a:solidFill>
              <a:srgbClr val="F6C86A"/>
            </a:solidFill>
            <a:prstDash val="dash"/>
          </a:ln>
        </p:spPr>
      </p:sp>
      <p:sp>
        <p:nvSpPr>
          <p:cNvPr id="127" name="Text 125"/>
          <p:cNvSpPr/>
          <p:nvPr/>
        </p:nvSpPr>
        <p:spPr>
          <a:xfrm>
            <a:off x="7095744" y="1819656"/>
            <a:ext cx="1280160" cy="219456"/>
          </a:xfrm>
          <a:prstGeom prst="rect">
            <a:avLst/>
          </a:prstGeom>
          <a:noFill/>
          <a:ln/>
        </p:spPr>
        <p:txBody>
          <a:bodyPr wrap="square" lIns="0" tIns="0" rIns="0" bIns="0" rtlCol="0" anchor="ctr"/>
          <a:lstStyle/>
          <a:p>
            <a:pPr algn="ctr" indent="0" marL="0">
              <a:buNone/>
            </a:pPr>
            <a:r>
              <a:rPr lang="en-US" sz="850" i="1" dirty="0">
                <a:solidFill>
                  <a:srgbClr val="F6C86A"/>
                </a:solidFill>
                <a:latin typeface="Calibri" pitchFamily="34" charset="0"/>
                <a:ea typeface="Calibri" pitchFamily="34" charset="-122"/>
                <a:cs typeface="Calibri" pitchFamily="34" charset="-120"/>
              </a:rPr>
              <a:t>④ last</a:t>
            </a:r>
            <a:endParaRPr lang="en-US" sz="850" dirty="0"/>
          </a:p>
        </p:txBody>
      </p:sp>
      <p:sp>
        <p:nvSpPr>
          <p:cNvPr id="128" name="Shape 126"/>
          <p:cNvSpPr/>
          <p:nvPr/>
        </p:nvSpPr>
        <p:spPr>
          <a:xfrm>
            <a:off x="566928" y="5715000"/>
            <a:ext cx="2651760" cy="868680"/>
          </a:xfrm>
          <a:prstGeom prst="roundRect">
            <a:avLst>
              <a:gd name="adj" fmla="val 10526"/>
            </a:avLst>
          </a:prstGeom>
          <a:solidFill>
            <a:srgbClr val="12283D"/>
          </a:solidFill>
          <a:ln w="12700">
            <a:solidFill>
              <a:srgbClr val="274863"/>
            </a:solidFill>
            <a:prstDash val="solid"/>
          </a:ln>
        </p:spPr>
      </p:sp>
      <p:sp>
        <p:nvSpPr>
          <p:cNvPr id="129" name="Text 127"/>
          <p:cNvSpPr/>
          <p:nvPr/>
        </p:nvSpPr>
        <p:spPr>
          <a:xfrm>
            <a:off x="749808" y="5824728"/>
            <a:ext cx="2286000" cy="292608"/>
          </a:xfrm>
          <a:prstGeom prst="rect">
            <a:avLst/>
          </a:prstGeom>
          <a:noFill/>
          <a:ln/>
        </p:spPr>
        <p:txBody>
          <a:bodyPr wrap="square" lIns="0" tIns="0" rIns="0" bIns="0" rtlCol="0" anchor="ctr"/>
          <a:lstStyle/>
          <a:p>
            <a:pPr indent="0" marL="0">
              <a:buNone/>
            </a:pPr>
            <a:r>
              <a:rPr lang="en-US" sz="1400" b="1" dirty="0">
                <a:solidFill>
                  <a:srgbClr val="18C2B8"/>
                </a:solidFill>
                <a:latin typeface="Cambria" pitchFamily="34" charset="0"/>
                <a:ea typeface="Cambria" pitchFamily="34" charset="-122"/>
                <a:cs typeface="Cambria" pitchFamily="34" charset="-120"/>
              </a:rPr>
              <a:t>① Fill</a:t>
            </a:r>
            <a:endParaRPr lang="en-US" sz="1400" dirty="0"/>
          </a:p>
        </p:txBody>
      </p:sp>
      <p:sp>
        <p:nvSpPr>
          <p:cNvPr id="130" name="Text 128"/>
          <p:cNvSpPr/>
          <p:nvPr/>
        </p:nvSpPr>
        <p:spPr>
          <a:xfrm>
            <a:off x="749808" y="6135624"/>
            <a:ext cx="2286000" cy="365760"/>
          </a:xfrm>
          <a:prstGeom prst="rect">
            <a:avLst/>
          </a:prstGeom>
          <a:noFill/>
          <a:ln/>
        </p:spPr>
        <p:txBody>
          <a:bodyPr wrap="square" lIns="0" tIns="0" rIns="0" bIns="0" rtlCol="0" anchor="ctr"/>
          <a:lstStyle/>
          <a:p>
            <a:pPr indent="0" marL="0">
              <a:buNone/>
            </a:pPr>
            <a:r>
              <a:rPr lang="en-US" sz="1100" dirty="0">
                <a:solidFill>
                  <a:srgbClr val="C7D6E4"/>
                </a:solidFill>
                <a:latin typeface="Calibri" pitchFamily="34" charset="0"/>
                <a:ea typeface="Calibri" pitchFamily="34" charset="-122"/>
                <a:cs typeface="Calibri" pitchFamily="34" charset="-120"/>
              </a:rPr>
              <a:t>look-ahead loads bytes</a:t>
            </a:r>
            <a:endParaRPr lang="en-US" sz="1100" dirty="0"/>
          </a:p>
        </p:txBody>
      </p:sp>
      <p:sp>
        <p:nvSpPr>
          <p:cNvPr id="131" name="Shape 129"/>
          <p:cNvSpPr/>
          <p:nvPr/>
        </p:nvSpPr>
        <p:spPr>
          <a:xfrm>
            <a:off x="3346704" y="5715000"/>
            <a:ext cx="2651760" cy="868680"/>
          </a:xfrm>
          <a:prstGeom prst="roundRect">
            <a:avLst>
              <a:gd name="adj" fmla="val 10526"/>
            </a:avLst>
          </a:prstGeom>
          <a:solidFill>
            <a:srgbClr val="12283D"/>
          </a:solidFill>
          <a:ln w="12700">
            <a:solidFill>
              <a:srgbClr val="274863"/>
            </a:solidFill>
            <a:prstDash val="solid"/>
          </a:ln>
        </p:spPr>
      </p:sp>
      <p:sp>
        <p:nvSpPr>
          <p:cNvPr id="132" name="Text 130"/>
          <p:cNvSpPr/>
          <p:nvPr/>
        </p:nvSpPr>
        <p:spPr>
          <a:xfrm>
            <a:off x="3529584" y="5824728"/>
            <a:ext cx="2286000" cy="292608"/>
          </a:xfrm>
          <a:prstGeom prst="rect">
            <a:avLst/>
          </a:prstGeom>
          <a:noFill/>
          <a:ln/>
        </p:spPr>
        <p:txBody>
          <a:bodyPr wrap="square" lIns="0" tIns="0" rIns="0" bIns="0" rtlCol="0" anchor="ctr"/>
          <a:lstStyle/>
          <a:p>
            <a:pPr indent="0" marL="0">
              <a:buNone/>
            </a:pPr>
            <a:r>
              <a:rPr lang="en-US" sz="1400" b="1" dirty="0">
                <a:solidFill>
                  <a:srgbClr val="18C2B8"/>
                </a:solidFill>
                <a:latin typeface="Cambria" pitchFamily="34" charset="0"/>
                <a:ea typeface="Cambria" pitchFamily="34" charset="-122"/>
                <a:cs typeface="Cambria" pitchFamily="34" charset="-120"/>
              </a:rPr>
              <a:t>② Search</a:t>
            </a:r>
            <a:endParaRPr lang="en-US" sz="1400" dirty="0"/>
          </a:p>
        </p:txBody>
      </p:sp>
      <p:sp>
        <p:nvSpPr>
          <p:cNvPr id="133" name="Text 131"/>
          <p:cNvSpPr/>
          <p:nvPr/>
        </p:nvSpPr>
        <p:spPr>
          <a:xfrm>
            <a:off x="3529584" y="6135624"/>
            <a:ext cx="2286000" cy="365760"/>
          </a:xfrm>
          <a:prstGeom prst="rect">
            <a:avLst/>
          </a:prstGeom>
          <a:noFill/>
          <a:ln/>
        </p:spPr>
        <p:txBody>
          <a:bodyPr wrap="square" lIns="0" tIns="0" rIns="0" bIns="0" rtlCol="0" anchor="ctr"/>
          <a:lstStyle/>
          <a:p>
            <a:pPr indent="0" marL="0">
              <a:buNone/>
            </a:pPr>
            <a:r>
              <a:rPr lang="en-US" sz="1100" dirty="0">
                <a:solidFill>
                  <a:srgbClr val="C7D6E4"/>
                </a:solidFill>
                <a:latin typeface="Calibri" pitchFamily="34" charset="0"/>
                <a:ea typeface="Calibri" pitchFamily="34" charset="-122"/>
                <a:cs typeface="Calibri" pitchFamily="34" charset="-120"/>
              </a:rPr>
              <a:t>history scanned for match</a:t>
            </a:r>
            <a:endParaRPr lang="en-US" sz="1100" dirty="0"/>
          </a:p>
        </p:txBody>
      </p:sp>
      <p:sp>
        <p:nvSpPr>
          <p:cNvPr id="134" name="Shape 132"/>
          <p:cNvSpPr/>
          <p:nvPr/>
        </p:nvSpPr>
        <p:spPr>
          <a:xfrm>
            <a:off x="6126480" y="5715000"/>
            <a:ext cx="2651760" cy="868680"/>
          </a:xfrm>
          <a:prstGeom prst="roundRect">
            <a:avLst>
              <a:gd name="adj" fmla="val 10526"/>
            </a:avLst>
          </a:prstGeom>
          <a:solidFill>
            <a:srgbClr val="12283D"/>
          </a:solidFill>
          <a:ln w="12700">
            <a:solidFill>
              <a:srgbClr val="274863"/>
            </a:solidFill>
            <a:prstDash val="solid"/>
          </a:ln>
        </p:spPr>
      </p:sp>
      <p:sp>
        <p:nvSpPr>
          <p:cNvPr id="135" name="Text 133"/>
          <p:cNvSpPr/>
          <p:nvPr/>
        </p:nvSpPr>
        <p:spPr>
          <a:xfrm>
            <a:off x="6309360" y="5824728"/>
            <a:ext cx="2286000" cy="292608"/>
          </a:xfrm>
          <a:prstGeom prst="rect">
            <a:avLst/>
          </a:prstGeom>
          <a:noFill/>
          <a:ln/>
        </p:spPr>
        <p:txBody>
          <a:bodyPr wrap="square" lIns="0" tIns="0" rIns="0" bIns="0" rtlCol="0" anchor="ctr"/>
          <a:lstStyle/>
          <a:p>
            <a:pPr indent="0" marL="0">
              <a:buNone/>
            </a:pPr>
            <a:r>
              <a:rPr lang="en-US" sz="1400" b="1" dirty="0">
                <a:solidFill>
                  <a:srgbClr val="F4A825"/>
                </a:solidFill>
                <a:latin typeface="Cambria" pitchFamily="34" charset="0"/>
                <a:ea typeface="Cambria" pitchFamily="34" charset="-122"/>
                <a:cs typeface="Cambria" pitchFamily="34" charset="-120"/>
              </a:rPr>
              <a:t>③ Emit</a:t>
            </a:r>
            <a:endParaRPr lang="en-US" sz="1400" dirty="0"/>
          </a:p>
        </p:txBody>
      </p:sp>
      <p:sp>
        <p:nvSpPr>
          <p:cNvPr id="136" name="Text 134"/>
          <p:cNvSpPr/>
          <p:nvPr/>
        </p:nvSpPr>
        <p:spPr>
          <a:xfrm>
            <a:off x="6309360" y="6135624"/>
            <a:ext cx="2286000" cy="365760"/>
          </a:xfrm>
          <a:prstGeom prst="rect">
            <a:avLst/>
          </a:prstGeom>
          <a:noFill/>
          <a:ln/>
        </p:spPr>
        <p:txBody>
          <a:bodyPr wrap="square" lIns="0" tIns="0" rIns="0" bIns="0" rtlCol="0" anchor="ctr"/>
          <a:lstStyle/>
          <a:p>
            <a:pPr indent="0" marL="0">
              <a:buNone/>
            </a:pPr>
            <a:r>
              <a:rPr lang="en-US" sz="1100" dirty="0">
                <a:solidFill>
                  <a:srgbClr val="C7D6E4"/>
                </a:solidFill>
                <a:latin typeface="Calibri" pitchFamily="34" charset="0"/>
                <a:ea typeface="Calibri" pitchFamily="34" charset="-122"/>
                <a:cs typeface="Calibri" pitchFamily="34" charset="-120"/>
              </a:rPr>
              <a:t>offset · length · next_char</a:t>
            </a:r>
            <a:endParaRPr lang="en-US" sz="1100" dirty="0"/>
          </a:p>
        </p:txBody>
      </p:sp>
      <p:sp>
        <p:nvSpPr>
          <p:cNvPr id="137" name="Shape 135"/>
          <p:cNvSpPr/>
          <p:nvPr/>
        </p:nvSpPr>
        <p:spPr>
          <a:xfrm>
            <a:off x="8906256" y="5715000"/>
            <a:ext cx="2651760" cy="868680"/>
          </a:xfrm>
          <a:prstGeom prst="roundRect">
            <a:avLst>
              <a:gd name="adj" fmla="val 10526"/>
            </a:avLst>
          </a:prstGeom>
          <a:solidFill>
            <a:srgbClr val="12283D"/>
          </a:solidFill>
          <a:ln w="12700">
            <a:solidFill>
              <a:srgbClr val="274863"/>
            </a:solidFill>
            <a:prstDash val="solid"/>
          </a:ln>
        </p:spPr>
      </p:sp>
      <p:sp>
        <p:nvSpPr>
          <p:cNvPr id="138" name="Text 136"/>
          <p:cNvSpPr/>
          <p:nvPr/>
        </p:nvSpPr>
        <p:spPr>
          <a:xfrm>
            <a:off x="9089136" y="5824728"/>
            <a:ext cx="2286000" cy="292608"/>
          </a:xfrm>
          <a:prstGeom prst="rect">
            <a:avLst/>
          </a:prstGeom>
          <a:noFill/>
          <a:ln/>
        </p:spPr>
        <p:txBody>
          <a:bodyPr wrap="square" lIns="0" tIns="0" rIns="0" bIns="0" rtlCol="0" anchor="ctr"/>
          <a:lstStyle/>
          <a:p>
            <a:pPr indent="0" marL="0">
              <a:buNone/>
            </a:pPr>
            <a:r>
              <a:rPr lang="en-US" sz="1400" b="1" dirty="0">
                <a:solidFill>
                  <a:srgbClr val="E5635E"/>
                </a:solidFill>
                <a:latin typeface="Cambria" pitchFamily="34" charset="0"/>
                <a:ea typeface="Cambria" pitchFamily="34" charset="-122"/>
                <a:cs typeface="Cambria" pitchFamily="34" charset="-120"/>
              </a:rPr>
              <a:t>④ Last</a:t>
            </a:r>
            <a:endParaRPr lang="en-US" sz="1400" dirty="0"/>
          </a:p>
        </p:txBody>
      </p:sp>
      <p:sp>
        <p:nvSpPr>
          <p:cNvPr id="139" name="Text 137"/>
          <p:cNvSpPr/>
          <p:nvPr/>
        </p:nvSpPr>
        <p:spPr>
          <a:xfrm>
            <a:off x="9089136" y="6135624"/>
            <a:ext cx="2286000" cy="365760"/>
          </a:xfrm>
          <a:prstGeom prst="rect">
            <a:avLst/>
          </a:prstGeom>
          <a:noFill/>
          <a:ln/>
        </p:spPr>
        <p:txBody>
          <a:bodyPr wrap="square" lIns="0" tIns="0" rIns="0" bIns="0" rtlCol="0" anchor="ctr"/>
          <a:lstStyle/>
          <a:p>
            <a:pPr indent="0" marL="0">
              <a:buNone/>
            </a:pPr>
            <a:r>
              <a:rPr lang="en-US" sz="1100" dirty="0">
                <a:solidFill>
                  <a:srgbClr val="C7D6E4"/>
                </a:solidFill>
                <a:latin typeface="Calibri" pitchFamily="34" charset="0"/>
                <a:ea typeface="Calibri" pitchFamily="34" charset="-122"/>
                <a:cs typeface="Calibri" pitchFamily="34" charset="-120"/>
              </a:rPr>
              <a:t>end-of-stream flagged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THE BIG PICTURE</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Overall Project Flow</a:t>
            </a:r>
            <a:endParaRPr lang="en-US" sz="3100" dirty="0"/>
          </a:p>
        </p:txBody>
      </p:sp>
      <p:sp>
        <p:nvSpPr>
          <p:cNvPr id="5" name="Shape 3"/>
          <p:cNvSpPr/>
          <p:nvPr/>
        </p:nvSpPr>
        <p:spPr>
          <a:xfrm>
            <a:off x="4626864" y="1600200"/>
            <a:ext cx="2926080" cy="685800"/>
          </a:xfrm>
          <a:prstGeom prst="roundRect">
            <a:avLst>
              <a:gd name="adj" fmla="val 13333"/>
            </a:avLst>
          </a:prstGeom>
          <a:solidFill>
            <a:srgbClr val="1B3A5B"/>
          </a:solidFill>
          <a:ln/>
          <a:effectLst>
            <a:outerShdw sx="100000" sy="100000" kx="0" ky="0" algn="bl" rotWithShape="0" blurRad="114300" dist="38100" dir="5400000">
              <a:srgbClr val="1B3A5B">
                <a:alpha val="20000"/>
              </a:srgbClr>
            </a:outerShdw>
          </a:effectLst>
        </p:spPr>
      </p:sp>
      <p:sp>
        <p:nvSpPr>
          <p:cNvPr id="6" name="Text 4"/>
          <p:cNvSpPr/>
          <p:nvPr/>
        </p:nvSpPr>
        <p:spPr>
          <a:xfrm>
            <a:off x="4626864" y="1600200"/>
            <a:ext cx="29260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Input data stream</a:t>
            </a:r>
            <a:endParaRPr lang="en-US" sz="1400" dirty="0"/>
          </a:p>
        </p:txBody>
      </p:sp>
      <p:sp>
        <p:nvSpPr>
          <p:cNvPr id="7" name="Shape 5"/>
          <p:cNvSpPr/>
          <p:nvPr/>
        </p:nvSpPr>
        <p:spPr>
          <a:xfrm rot="5400000">
            <a:off x="5989320" y="2276856"/>
            <a:ext cx="201168" cy="201168"/>
          </a:xfrm>
          <a:prstGeom prst="rightArrow">
            <a:avLst/>
          </a:prstGeom>
          <a:solidFill>
            <a:srgbClr val="5A6B7B"/>
          </a:solidFill>
          <a:ln/>
        </p:spPr>
      </p:sp>
      <p:sp>
        <p:nvSpPr>
          <p:cNvPr id="8" name="Shape 6"/>
          <p:cNvSpPr/>
          <p:nvPr/>
        </p:nvSpPr>
        <p:spPr>
          <a:xfrm>
            <a:off x="4626864" y="2514600"/>
            <a:ext cx="2926080" cy="731520"/>
          </a:xfrm>
          <a:prstGeom prst="roundRect">
            <a:avLst>
              <a:gd name="adj" fmla="val 12500"/>
            </a:avLst>
          </a:prstGeom>
          <a:solidFill>
            <a:srgbClr val="14A8A0"/>
          </a:solidFill>
          <a:ln/>
          <a:effectLst>
            <a:outerShdw sx="100000" sy="100000" kx="0" ky="0" algn="bl" rotWithShape="0" blurRad="114300" dist="38100" dir="5400000">
              <a:srgbClr val="1B3A5B">
                <a:alpha val="20000"/>
              </a:srgbClr>
            </a:outerShdw>
          </a:effectLst>
        </p:spPr>
      </p:sp>
      <p:sp>
        <p:nvSpPr>
          <p:cNvPr id="9" name="Text 7"/>
          <p:cNvSpPr/>
          <p:nvPr/>
        </p:nvSpPr>
        <p:spPr>
          <a:xfrm>
            <a:off x="4626864" y="2624328"/>
            <a:ext cx="292608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Stream FIFO</a:t>
            </a:r>
            <a:endParaRPr lang="en-US" sz="1400" dirty="0"/>
          </a:p>
        </p:txBody>
      </p:sp>
      <p:sp>
        <p:nvSpPr>
          <p:cNvPr id="10" name="Text 8"/>
          <p:cNvSpPr/>
          <p:nvPr/>
        </p:nvSpPr>
        <p:spPr>
          <a:xfrm>
            <a:off x="4718304" y="2971800"/>
            <a:ext cx="2743200" cy="228600"/>
          </a:xfrm>
          <a:prstGeom prst="rect">
            <a:avLst/>
          </a:prstGeom>
          <a:noFill/>
          <a:ln/>
        </p:spPr>
        <p:txBody>
          <a:bodyPr wrap="square" lIns="0" tIns="0" rIns="0" bIns="0" rtlCol="0" anchor="t"/>
          <a:lstStyle/>
          <a:p>
            <a:pPr algn="ctr" indent="0" marL="0">
              <a:buNone/>
            </a:pPr>
            <a:r>
              <a:rPr lang="en-US" sz="950" dirty="0">
                <a:solidFill>
                  <a:srgbClr val="D6E5F0"/>
                </a:solidFill>
                <a:latin typeface="Calibri" pitchFamily="34" charset="0"/>
                <a:ea typeface="Calibri" pitchFamily="34" charset="-122"/>
                <a:cs typeface="Calibri" pitchFamily="34" charset="-120"/>
              </a:rPr>
              <a:t>valid / ready · last</a:t>
            </a:r>
            <a:endParaRPr lang="en-US" sz="950" dirty="0"/>
          </a:p>
        </p:txBody>
      </p:sp>
      <p:sp>
        <p:nvSpPr>
          <p:cNvPr id="11" name="Shape 9"/>
          <p:cNvSpPr/>
          <p:nvPr/>
        </p:nvSpPr>
        <p:spPr>
          <a:xfrm rot="5400000">
            <a:off x="5989320" y="3236976"/>
            <a:ext cx="201168" cy="201168"/>
          </a:xfrm>
          <a:prstGeom prst="rightArrow">
            <a:avLst/>
          </a:prstGeom>
          <a:solidFill>
            <a:srgbClr val="5A6B7B"/>
          </a:solidFill>
          <a:ln/>
        </p:spPr>
      </p:sp>
      <p:sp>
        <p:nvSpPr>
          <p:cNvPr id="12" name="Shape 10"/>
          <p:cNvSpPr/>
          <p:nvPr/>
        </p:nvSpPr>
        <p:spPr>
          <a:xfrm>
            <a:off x="4626864" y="3474720"/>
            <a:ext cx="2926080" cy="731520"/>
          </a:xfrm>
          <a:prstGeom prst="roundRect">
            <a:avLst>
              <a:gd name="adj" fmla="val 12500"/>
            </a:avLst>
          </a:prstGeom>
          <a:solidFill>
            <a:srgbClr val="1B3A5B"/>
          </a:solidFill>
          <a:ln/>
          <a:effectLst>
            <a:outerShdw sx="100000" sy="100000" kx="0" ky="0" algn="bl" rotWithShape="0" blurRad="114300" dist="38100" dir="5400000">
              <a:srgbClr val="1B3A5B">
                <a:alpha val="20000"/>
              </a:srgbClr>
            </a:outerShdw>
          </a:effectLst>
        </p:spPr>
      </p:sp>
      <p:sp>
        <p:nvSpPr>
          <p:cNvPr id="13" name="Text 11"/>
          <p:cNvSpPr/>
          <p:nvPr/>
        </p:nvSpPr>
        <p:spPr>
          <a:xfrm>
            <a:off x="4626864" y="3584448"/>
            <a:ext cx="292608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Sliding window</a:t>
            </a:r>
            <a:endParaRPr lang="en-US" sz="1400" dirty="0"/>
          </a:p>
        </p:txBody>
      </p:sp>
      <p:sp>
        <p:nvSpPr>
          <p:cNvPr id="14" name="Text 12"/>
          <p:cNvSpPr/>
          <p:nvPr/>
        </p:nvSpPr>
        <p:spPr>
          <a:xfrm>
            <a:off x="4718304" y="3931920"/>
            <a:ext cx="2743200" cy="228600"/>
          </a:xfrm>
          <a:prstGeom prst="rect">
            <a:avLst/>
          </a:prstGeom>
          <a:noFill/>
          <a:ln/>
        </p:spPr>
        <p:txBody>
          <a:bodyPr wrap="square" lIns="0" tIns="0" rIns="0" bIns="0" rtlCol="0" anchor="t"/>
          <a:lstStyle/>
          <a:p>
            <a:pPr algn="ctr" indent="0" marL="0">
              <a:buNone/>
            </a:pPr>
            <a:r>
              <a:rPr lang="en-US" sz="950" dirty="0">
                <a:solidFill>
                  <a:srgbClr val="D6E5F0"/>
                </a:solidFill>
                <a:latin typeface="Calibri" pitchFamily="34" charset="0"/>
                <a:ea typeface="Calibri" pitchFamily="34" charset="-122"/>
                <a:cs typeface="Calibri" pitchFamily="34" charset="-120"/>
              </a:rPr>
              <a:t>hist[ ] history  +  look[ ] ahead</a:t>
            </a:r>
            <a:endParaRPr lang="en-US" sz="950" dirty="0"/>
          </a:p>
        </p:txBody>
      </p:sp>
      <p:sp>
        <p:nvSpPr>
          <p:cNvPr id="15" name="Shape 13"/>
          <p:cNvSpPr/>
          <p:nvPr/>
        </p:nvSpPr>
        <p:spPr>
          <a:xfrm rot="5400000">
            <a:off x="5989320" y="4197096"/>
            <a:ext cx="201168" cy="201168"/>
          </a:xfrm>
          <a:prstGeom prst="rightArrow">
            <a:avLst/>
          </a:prstGeom>
          <a:solidFill>
            <a:srgbClr val="5A6B7B"/>
          </a:solidFill>
          <a:ln/>
        </p:spPr>
      </p:sp>
      <p:sp>
        <p:nvSpPr>
          <p:cNvPr id="16" name="Shape 14"/>
          <p:cNvSpPr/>
          <p:nvPr/>
        </p:nvSpPr>
        <p:spPr>
          <a:xfrm>
            <a:off x="4626864" y="4434840"/>
            <a:ext cx="2926080" cy="731520"/>
          </a:xfrm>
          <a:prstGeom prst="roundRect">
            <a:avLst>
              <a:gd name="adj" fmla="val 12500"/>
            </a:avLst>
          </a:prstGeom>
          <a:solidFill>
            <a:srgbClr val="14A8A0"/>
          </a:solidFill>
          <a:ln/>
          <a:effectLst>
            <a:outerShdw sx="100000" sy="100000" kx="0" ky="0" algn="bl" rotWithShape="0" blurRad="114300" dist="38100" dir="5400000">
              <a:srgbClr val="1B3A5B">
                <a:alpha val="20000"/>
              </a:srgbClr>
            </a:outerShdw>
          </a:effectLst>
        </p:spPr>
      </p:sp>
      <p:sp>
        <p:nvSpPr>
          <p:cNvPr id="17" name="Text 15"/>
          <p:cNvSpPr/>
          <p:nvPr/>
        </p:nvSpPr>
        <p:spPr>
          <a:xfrm>
            <a:off x="4626864" y="4544568"/>
            <a:ext cx="292608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mbria" pitchFamily="34" charset="0"/>
                <a:ea typeface="Cambria" pitchFamily="34" charset="-122"/>
                <a:cs typeface="Cambria" pitchFamily="34" charset="-120"/>
              </a:rPr>
              <a:t>Matching engine</a:t>
            </a:r>
            <a:endParaRPr lang="en-US" sz="1400" dirty="0"/>
          </a:p>
        </p:txBody>
      </p:sp>
      <p:sp>
        <p:nvSpPr>
          <p:cNvPr id="18" name="Text 16"/>
          <p:cNvSpPr/>
          <p:nvPr/>
        </p:nvSpPr>
        <p:spPr>
          <a:xfrm>
            <a:off x="4718304" y="4892040"/>
            <a:ext cx="2743200" cy="228600"/>
          </a:xfrm>
          <a:prstGeom prst="rect">
            <a:avLst/>
          </a:prstGeom>
          <a:noFill/>
          <a:ln/>
        </p:spPr>
        <p:txBody>
          <a:bodyPr wrap="square" lIns="0" tIns="0" rIns="0" bIns="0" rtlCol="0" anchor="t"/>
          <a:lstStyle/>
          <a:p>
            <a:pPr algn="ctr" indent="0" marL="0">
              <a:buNone/>
            </a:pPr>
            <a:r>
              <a:rPr lang="en-US" sz="950" dirty="0">
                <a:solidFill>
                  <a:srgbClr val="D6E5F0"/>
                </a:solidFill>
                <a:latin typeface="Calibri" pitchFamily="34" charset="0"/>
                <a:ea typeface="Calibri" pitchFamily="34" charset="-122"/>
                <a:cs typeface="Calibri" pitchFamily="34" charset="-120"/>
              </a:rPr>
              <a:t>longest prefix match</a:t>
            </a:r>
            <a:endParaRPr lang="en-US" sz="950" dirty="0"/>
          </a:p>
        </p:txBody>
      </p:sp>
      <p:sp>
        <p:nvSpPr>
          <p:cNvPr id="19" name="Shape 17"/>
          <p:cNvSpPr/>
          <p:nvPr/>
        </p:nvSpPr>
        <p:spPr>
          <a:xfrm flipH="1">
            <a:off x="3849624" y="5166360"/>
            <a:ext cx="2240280" cy="320040"/>
          </a:xfrm>
          <a:prstGeom prst="line">
            <a:avLst/>
          </a:prstGeom>
          <a:noFill/>
          <a:ln w="19050">
            <a:solidFill>
              <a:srgbClr val="5A6B7B"/>
            </a:solidFill>
            <a:prstDash val="solid"/>
            <a:tailEnd type="triangle"/>
          </a:ln>
        </p:spPr>
      </p:sp>
      <p:sp>
        <p:nvSpPr>
          <p:cNvPr id="20" name="Shape 18"/>
          <p:cNvSpPr/>
          <p:nvPr/>
        </p:nvSpPr>
        <p:spPr>
          <a:xfrm>
            <a:off x="2889504" y="5486400"/>
            <a:ext cx="1920240" cy="658368"/>
          </a:xfrm>
          <a:prstGeom prst="roundRect">
            <a:avLst>
              <a:gd name="adj" fmla="val 12500"/>
            </a:avLst>
          </a:prstGeom>
          <a:solidFill>
            <a:srgbClr val="F4A825"/>
          </a:solidFill>
          <a:ln/>
          <a:effectLst>
            <a:outerShdw sx="100000" sy="100000" kx="0" ky="0" algn="bl" rotWithShape="0" blurRad="114300" dist="38100" dir="5400000">
              <a:srgbClr val="1B3A5B">
                <a:alpha val="20000"/>
              </a:srgbClr>
            </a:outerShdw>
          </a:effectLst>
        </p:spPr>
      </p:sp>
      <p:sp>
        <p:nvSpPr>
          <p:cNvPr id="21" name="Text 19"/>
          <p:cNvSpPr/>
          <p:nvPr/>
        </p:nvSpPr>
        <p:spPr>
          <a:xfrm>
            <a:off x="2889504" y="5559552"/>
            <a:ext cx="1920240" cy="292608"/>
          </a:xfrm>
          <a:prstGeom prst="rect">
            <a:avLst/>
          </a:prstGeom>
          <a:noFill/>
          <a:ln/>
        </p:spPr>
        <p:txBody>
          <a:bodyPr wrap="square" lIns="0" tIns="0" rIns="0" bIns="0" rtlCol="0" anchor="ctr"/>
          <a:lstStyle/>
          <a:p>
            <a:pPr algn="ctr" indent="0" marL="0">
              <a:buNone/>
            </a:pPr>
            <a:r>
              <a:rPr lang="en-US" sz="1400" b="1" dirty="0">
                <a:solidFill>
                  <a:srgbClr val="16324F"/>
                </a:solidFill>
                <a:latin typeface="Courier New" pitchFamily="34" charset="0"/>
                <a:ea typeface="Courier New" pitchFamily="34" charset="-122"/>
                <a:cs typeface="Courier New" pitchFamily="34" charset="-120"/>
              </a:rPr>
              <a:t>offset</a:t>
            </a:r>
            <a:endParaRPr lang="en-US" sz="1400" dirty="0"/>
          </a:p>
        </p:txBody>
      </p:sp>
      <p:sp>
        <p:nvSpPr>
          <p:cNvPr id="22" name="Text 20"/>
          <p:cNvSpPr/>
          <p:nvPr/>
        </p:nvSpPr>
        <p:spPr>
          <a:xfrm>
            <a:off x="2889504" y="5852160"/>
            <a:ext cx="1920240" cy="256032"/>
          </a:xfrm>
          <a:prstGeom prst="rect">
            <a:avLst/>
          </a:prstGeom>
          <a:noFill/>
          <a:ln/>
        </p:spPr>
        <p:txBody>
          <a:bodyPr wrap="square" lIns="0" tIns="0" rIns="0" bIns="0" rtlCol="0" anchor="ctr"/>
          <a:lstStyle/>
          <a:p>
            <a:pPr algn="ctr" indent="0" marL="0">
              <a:buNone/>
            </a:pPr>
            <a:r>
              <a:rPr lang="en-US" sz="950" dirty="0">
                <a:solidFill>
                  <a:srgbClr val="6B5410"/>
                </a:solidFill>
                <a:latin typeface="Calibri" pitchFamily="34" charset="0"/>
                <a:ea typeface="Calibri" pitchFamily="34" charset="-122"/>
                <a:cs typeface="Calibri" pitchFamily="34" charset="-120"/>
              </a:rPr>
              <a:t>how far back</a:t>
            </a:r>
            <a:endParaRPr lang="en-US" sz="950" dirty="0"/>
          </a:p>
        </p:txBody>
      </p:sp>
      <p:sp>
        <p:nvSpPr>
          <p:cNvPr id="23" name="Shape 21"/>
          <p:cNvSpPr/>
          <p:nvPr/>
        </p:nvSpPr>
        <p:spPr>
          <a:xfrm flipH="1">
            <a:off x="6089904" y="5166360"/>
            <a:ext cx="0" cy="320040"/>
          </a:xfrm>
          <a:prstGeom prst="line">
            <a:avLst/>
          </a:prstGeom>
          <a:noFill/>
          <a:ln w="19050">
            <a:solidFill>
              <a:srgbClr val="5A6B7B"/>
            </a:solidFill>
            <a:prstDash val="solid"/>
            <a:tailEnd type="triangle"/>
          </a:ln>
        </p:spPr>
      </p:sp>
      <p:sp>
        <p:nvSpPr>
          <p:cNvPr id="24" name="Shape 22"/>
          <p:cNvSpPr/>
          <p:nvPr/>
        </p:nvSpPr>
        <p:spPr>
          <a:xfrm>
            <a:off x="5129784" y="5486400"/>
            <a:ext cx="1920240" cy="658368"/>
          </a:xfrm>
          <a:prstGeom prst="roundRect">
            <a:avLst>
              <a:gd name="adj" fmla="val 12500"/>
            </a:avLst>
          </a:prstGeom>
          <a:solidFill>
            <a:srgbClr val="F4A825"/>
          </a:solidFill>
          <a:ln/>
          <a:effectLst>
            <a:outerShdw sx="100000" sy="100000" kx="0" ky="0" algn="bl" rotWithShape="0" blurRad="114300" dist="38100" dir="5400000">
              <a:srgbClr val="1B3A5B">
                <a:alpha val="20000"/>
              </a:srgbClr>
            </a:outerShdw>
          </a:effectLst>
        </p:spPr>
      </p:sp>
      <p:sp>
        <p:nvSpPr>
          <p:cNvPr id="25" name="Text 23"/>
          <p:cNvSpPr/>
          <p:nvPr/>
        </p:nvSpPr>
        <p:spPr>
          <a:xfrm>
            <a:off x="5129784" y="5559552"/>
            <a:ext cx="1920240" cy="292608"/>
          </a:xfrm>
          <a:prstGeom prst="rect">
            <a:avLst/>
          </a:prstGeom>
          <a:noFill/>
          <a:ln/>
        </p:spPr>
        <p:txBody>
          <a:bodyPr wrap="square" lIns="0" tIns="0" rIns="0" bIns="0" rtlCol="0" anchor="ctr"/>
          <a:lstStyle/>
          <a:p>
            <a:pPr algn="ctr" indent="0" marL="0">
              <a:buNone/>
            </a:pPr>
            <a:r>
              <a:rPr lang="en-US" sz="1400" b="1" dirty="0">
                <a:solidFill>
                  <a:srgbClr val="16324F"/>
                </a:solidFill>
                <a:latin typeface="Courier New" pitchFamily="34" charset="0"/>
                <a:ea typeface="Courier New" pitchFamily="34" charset="-122"/>
                <a:cs typeface="Courier New" pitchFamily="34" charset="-120"/>
              </a:rPr>
              <a:t>length</a:t>
            </a:r>
            <a:endParaRPr lang="en-US" sz="1400" dirty="0"/>
          </a:p>
        </p:txBody>
      </p:sp>
      <p:sp>
        <p:nvSpPr>
          <p:cNvPr id="26" name="Text 24"/>
          <p:cNvSpPr/>
          <p:nvPr/>
        </p:nvSpPr>
        <p:spPr>
          <a:xfrm>
            <a:off x="5129784" y="5852160"/>
            <a:ext cx="1920240" cy="256032"/>
          </a:xfrm>
          <a:prstGeom prst="rect">
            <a:avLst/>
          </a:prstGeom>
          <a:noFill/>
          <a:ln/>
        </p:spPr>
        <p:txBody>
          <a:bodyPr wrap="square" lIns="0" tIns="0" rIns="0" bIns="0" rtlCol="0" anchor="ctr"/>
          <a:lstStyle/>
          <a:p>
            <a:pPr algn="ctr" indent="0" marL="0">
              <a:buNone/>
            </a:pPr>
            <a:r>
              <a:rPr lang="en-US" sz="950" dirty="0">
                <a:solidFill>
                  <a:srgbClr val="6B5410"/>
                </a:solidFill>
                <a:latin typeface="Calibri" pitchFamily="34" charset="0"/>
                <a:ea typeface="Calibri" pitchFamily="34" charset="-122"/>
                <a:cs typeface="Calibri" pitchFamily="34" charset="-120"/>
              </a:rPr>
              <a:t>how many bytes</a:t>
            </a:r>
            <a:endParaRPr lang="en-US" sz="950" dirty="0"/>
          </a:p>
        </p:txBody>
      </p:sp>
      <p:sp>
        <p:nvSpPr>
          <p:cNvPr id="27" name="Shape 25"/>
          <p:cNvSpPr/>
          <p:nvPr/>
        </p:nvSpPr>
        <p:spPr>
          <a:xfrm>
            <a:off x="6089904" y="5166360"/>
            <a:ext cx="2240280" cy="320040"/>
          </a:xfrm>
          <a:prstGeom prst="line">
            <a:avLst/>
          </a:prstGeom>
          <a:noFill/>
          <a:ln w="19050">
            <a:solidFill>
              <a:srgbClr val="5A6B7B"/>
            </a:solidFill>
            <a:prstDash val="solid"/>
            <a:tailEnd type="triangle"/>
          </a:ln>
        </p:spPr>
      </p:sp>
      <p:sp>
        <p:nvSpPr>
          <p:cNvPr id="28" name="Shape 26"/>
          <p:cNvSpPr/>
          <p:nvPr/>
        </p:nvSpPr>
        <p:spPr>
          <a:xfrm>
            <a:off x="7370064" y="5486400"/>
            <a:ext cx="1920240" cy="658368"/>
          </a:xfrm>
          <a:prstGeom prst="roundRect">
            <a:avLst>
              <a:gd name="adj" fmla="val 12500"/>
            </a:avLst>
          </a:prstGeom>
          <a:solidFill>
            <a:srgbClr val="F4A825"/>
          </a:solidFill>
          <a:ln/>
          <a:effectLst>
            <a:outerShdw sx="100000" sy="100000" kx="0" ky="0" algn="bl" rotWithShape="0" blurRad="114300" dist="38100" dir="5400000">
              <a:srgbClr val="1B3A5B">
                <a:alpha val="20000"/>
              </a:srgbClr>
            </a:outerShdw>
          </a:effectLst>
        </p:spPr>
      </p:sp>
      <p:sp>
        <p:nvSpPr>
          <p:cNvPr id="29" name="Text 27"/>
          <p:cNvSpPr/>
          <p:nvPr/>
        </p:nvSpPr>
        <p:spPr>
          <a:xfrm>
            <a:off x="7370064" y="5559552"/>
            <a:ext cx="1920240" cy="292608"/>
          </a:xfrm>
          <a:prstGeom prst="rect">
            <a:avLst/>
          </a:prstGeom>
          <a:noFill/>
          <a:ln/>
        </p:spPr>
        <p:txBody>
          <a:bodyPr wrap="square" lIns="0" tIns="0" rIns="0" bIns="0" rtlCol="0" anchor="ctr"/>
          <a:lstStyle/>
          <a:p>
            <a:pPr algn="ctr" indent="0" marL="0">
              <a:buNone/>
            </a:pPr>
            <a:r>
              <a:rPr lang="en-US" sz="1400" b="1" dirty="0">
                <a:solidFill>
                  <a:srgbClr val="16324F"/>
                </a:solidFill>
                <a:latin typeface="Courier New" pitchFamily="34" charset="0"/>
                <a:ea typeface="Courier New" pitchFamily="34" charset="-122"/>
                <a:cs typeface="Courier New" pitchFamily="34" charset="-120"/>
              </a:rPr>
              <a:t>next_char</a:t>
            </a:r>
            <a:endParaRPr lang="en-US" sz="1400" dirty="0"/>
          </a:p>
        </p:txBody>
      </p:sp>
      <p:sp>
        <p:nvSpPr>
          <p:cNvPr id="30" name="Text 28"/>
          <p:cNvSpPr/>
          <p:nvPr/>
        </p:nvSpPr>
        <p:spPr>
          <a:xfrm>
            <a:off x="7370064" y="5852160"/>
            <a:ext cx="1920240" cy="256032"/>
          </a:xfrm>
          <a:prstGeom prst="rect">
            <a:avLst/>
          </a:prstGeom>
          <a:noFill/>
          <a:ln/>
        </p:spPr>
        <p:txBody>
          <a:bodyPr wrap="square" lIns="0" tIns="0" rIns="0" bIns="0" rtlCol="0" anchor="ctr"/>
          <a:lstStyle/>
          <a:p>
            <a:pPr algn="ctr" indent="0" marL="0">
              <a:buNone/>
            </a:pPr>
            <a:r>
              <a:rPr lang="en-US" sz="950" dirty="0">
                <a:solidFill>
                  <a:srgbClr val="6B5410"/>
                </a:solidFill>
                <a:latin typeface="Calibri" pitchFamily="34" charset="0"/>
                <a:ea typeface="Calibri" pitchFamily="34" charset="-122"/>
                <a:cs typeface="Calibri" pitchFamily="34" charset="-120"/>
              </a:rPr>
              <a:t>breaking byte</a:t>
            </a:r>
            <a:endParaRPr lang="en-US" sz="950" dirty="0"/>
          </a:p>
        </p:txBody>
      </p:sp>
      <p:sp>
        <p:nvSpPr>
          <p:cNvPr id="31" name="Shape 29"/>
          <p:cNvSpPr/>
          <p:nvPr/>
        </p:nvSpPr>
        <p:spPr>
          <a:xfrm>
            <a:off x="566928" y="2514600"/>
            <a:ext cx="3566160" cy="2743200"/>
          </a:xfrm>
          <a:prstGeom prst="roundRect">
            <a:avLst>
              <a:gd name="adj" fmla="val 4000"/>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32" name="Text 30"/>
          <p:cNvSpPr/>
          <p:nvPr/>
        </p:nvSpPr>
        <p:spPr>
          <a:xfrm>
            <a:off x="777240" y="2651760"/>
            <a:ext cx="3200400" cy="274320"/>
          </a:xfrm>
          <a:prstGeom prst="rect">
            <a:avLst/>
          </a:prstGeom>
          <a:noFill/>
          <a:ln/>
        </p:spPr>
        <p:txBody>
          <a:bodyPr wrap="square" lIns="0" tIns="0" rIns="0" bIns="0" rtlCol="0" anchor="ctr"/>
          <a:lstStyle/>
          <a:p>
            <a:pPr indent="0" marL="0">
              <a:buNone/>
            </a:pPr>
            <a:r>
              <a:rPr lang="en-US" sz="1400" b="1" dirty="0">
                <a:solidFill>
                  <a:srgbClr val="0C7A76"/>
                </a:solidFill>
                <a:latin typeface="Cambria" pitchFamily="34" charset="0"/>
                <a:ea typeface="Cambria" pitchFamily="34" charset="-122"/>
                <a:cs typeface="Cambria" pitchFamily="34" charset="-120"/>
              </a:rPr>
              <a:t>Software layer (C)</a:t>
            </a:r>
            <a:endParaRPr lang="en-US" sz="1400" dirty="0"/>
          </a:p>
        </p:txBody>
      </p:sp>
      <p:sp>
        <p:nvSpPr>
          <p:cNvPr id="33" name="Text 31"/>
          <p:cNvSpPr/>
          <p:nvPr/>
        </p:nvSpPr>
        <p:spPr>
          <a:xfrm>
            <a:off x="777240" y="3017520"/>
            <a:ext cx="3154680" cy="2103120"/>
          </a:xfrm>
          <a:prstGeom prst="rect">
            <a:avLst/>
          </a:prstGeom>
          <a:noFill/>
          <a:ln/>
        </p:spPr>
        <p:txBody>
          <a:bodyPr wrap="square" lIns="0" tIns="0" rIns="0" bIns="0" rtlCol="0" anchor="ctr"/>
          <a:lstStyle/>
          <a:p>
            <a:pPr indent="0" marL="0">
              <a:lnSpc>
                <a:spcPct val="105000"/>
              </a:lnSpc>
              <a:buNone/>
            </a:pPr>
            <a:r>
              <a:rPr lang="en-US" sz="1200" dirty="0">
                <a:solidFill>
                  <a:srgbClr val="5A6B7B"/>
                </a:solidFill>
                <a:latin typeface="Calibri" pitchFamily="34" charset="0"/>
                <a:ea typeface="Calibri" pitchFamily="34" charset="-122"/>
                <a:cs typeface="Calibri" pitchFamily="34" charset="-120"/>
              </a:rPr>
              <a:t>Golden reference model.
</a:t>
            </a:r>
            <a:pPr indent="0" marL="0">
              <a:lnSpc>
                <a:spcPct val="105000"/>
              </a:lnSpc>
              <a:buNone/>
            </a:pPr>
            <a:r>
              <a:rPr lang="en-US" sz="1200" b="1" dirty="0">
                <a:solidFill>
                  <a:srgbClr val="16324F"/>
                </a:solidFill>
                <a:latin typeface="Courier New" pitchFamily="34" charset="0"/>
                <a:ea typeface="Courier New" pitchFamily="34" charset="-122"/>
                <a:cs typeface="Courier New" pitchFamily="34" charset="-120"/>
              </a:rPr>
              <a:t>lz77_robust.c</a:t>
            </a:r>
            <a:pPr indent="0" marL="0">
              <a:lnSpc>
                <a:spcPct val="105000"/>
              </a:lnSpc>
              <a:buNone/>
            </a:pPr>
            <a:r>
              <a:rPr lang="en-US" sz="1200" dirty="0">
                <a:solidFill>
                  <a:srgbClr val="5A6B7B"/>
                </a:solidFill>
                <a:latin typeface="Calibri" pitchFamily="34" charset="0"/>
                <a:ea typeface="Calibri" pitchFamily="34" charset="-122"/>
                <a:cs typeface="Calibri" pitchFamily="34" charset="-120"/>
              </a:rPr>
              <a:t> self-verifies via compress → decompress round-trips and defines the exact token grammar the RTL must match.</a:t>
            </a:r>
            <a:endParaRPr lang="en-US" sz="1200" dirty="0"/>
          </a:p>
        </p:txBody>
      </p:sp>
      <p:sp>
        <p:nvSpPr>
          <p:cNvPr id="34" name="Shape 32"/>
          <p:cNvSpPr/>
          <p:nvPr/>
        </p:nvSpPr>
        <p:spPr>
          <a:xfrm>
            <a:off x="8046720" y="2514600"/>
            <a:ext cx="3566160" cy="2743200"/>
          </a:xfrm>
          <a:prstGeom prst="roundRect">
            <a:avLst>
              <a:gd name="adj" fmla="val 4000"/>
            </a:avLst>
          </a:prstGeom>
          <a:solidFill>
            <a:srgbClr val="0D1B2A"/>
          </a:solidFill>
          <a:ln/>
          <a:effectLst>
            <a:outerShdw sx="100000" sy="100000" kx="0" ky="0" algn="bl" rotWithShape="0" blurRad="114300" dist="38100" dir="5400000">
              <a:srgbClr val="1B3A5B">
                <a:alpha val="20000"/>
              </a:srgbClr>
            </a:outerShdw>
          </a:effectLst>
        </p:spPr>
      </p:sp>
      <p:sp>
        <p:nvSpPr>
          <p:cNvPr id="35" name="Text 33"/>
          <p:cNvSpPr/>
          <p:nvPr/>
        </p:nvSpPr>
        <p:spPr>
          <a:xfrm>
            <a:off x="8257032" y="265176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Compressed output</a:t>
            </a:r>
            <a:endParaRPr lang="en-US" sz="1400" dirty="0"/>
          </a:p>
        </p:txBody>
      </p:sp>
      <p:sp>
        <p:nvSpPr>
          <p:cNvPr id="36" name="Text 34"/>
          <p:cNvSpPr/>
          <p:nvPr/>
        </p:nvSpPr>
        <p:spPr>
          <a:xfrm>
            <a:off x="8257032" y="3017520"/>
            <a:ext cx="3154680" cy="2103120"/>
          </a:xfrm>
          <a:prstGeom prst="rect">
            <a:avLst/>
          </a:prstGeom>
          <a:noFill/>
          <a:ln/>
        </p:spPr>
        <p:txBody>
          <a:bodyPr wrap="square" lIns="0" tIns="0" rIns="0" bIns="0" rtlCol="0" anchor="ctr"/>
          <a:lstStyle/>
          <a:p>
            <a:pPr indent="0" marL="0">
              <a:lnSpc>
                <a:spcPct val="105000"/>
              </a:lnSpc>
              <a:buNone/>
            </a:pPr>
            <a:r>
              <a:rPr lang="en-US" sz="1200" dirty="0">
                <a:solidFill>
                  <a:srgbClr val="C7D6E4"/>
                </a:solidFill>
                <a:latin typeface="Calibri" pitchFamily="34" charset="0"/>
                <a:ea typeface="Calibri" pitchFamily="34" charset="-122"/>
                <a:cs typeface="Calibri" pitchFamily="34" charset="-120"/>
              </a:rPr>
              <a:t>Classic codec stream:
</a:t>
            </a:r>
            <a:pPr indent="0" marL="0">
              <a:lnSpc>
                <a:spcPct val="105000"/>
              </a:lnSpc>
              <a:buNone/>
            </a:pPr>
            <a:r>
              <a:rPr lang="en-US" sz="1200" b="1" dirty="0">
                <a:solidFill>
                  <a:srgbClr val="18C2B8"/>
                </a:solidFill>
                <a:latin typeface="Courier New" pitchFamily="34" charset="0"/>
                <a:ea typeface="Courier New" pitchFamily="34" charset="-122"/>
                <a:cs typeface="Courier New" pitchFamily="34" charset="-120"/>
              </a:rPr>
              <a:t>[4-byte length]</a:t>
            </a:r>
            <a:pPr indent="0" marL="0">
              <a:lnSpc>
                <a:spcPct val="105000"/>
              </a:lnSpc>
              <a:buNone/>
            </a:pPr>
            <a:r>
              <a:rPr lang="en-US" sz="1200" dirty="0">
                <a:solidFill>
                  <a:srgbClr val="C7D6E4"/>
                </a:solidFill>
                <a:latin typeface="Calibri" pitchFamily="34" charset="0"/>
                <a:ea typeface="Calibri" pitchFamily="34" charset="-122"/>
                <a:cs typeface="Calibri" pitchFamily="34" charset="-120"/>
              </a:rPr>
              <a:t> then repeated </a:t>
            </a:r>
            <a:pPr indent="0" marL="0">
              <a:lnSpc>
                <a:spcPct val="105000"/>
              </a:lnSpc>
              <a:buNone/>
            </a:pPr>
            <a:r>
              <a:rPr lang="en-US" sz="1200" b="1" dirty="0">
                <a:solidFill>
                  <a:srgbClr val="F4A825"/>
                </a:solidFill>
                <a:latin typeface="Courier New" pitchFamily="34" charset="0"/>
                <a:ea typeface="Courier New" pitchFamily="34" charset="-122"/>
                <a:cs typeface="Courier New" pitchFamily="34" charset="-120"/>
              </a:rPr>
              <a:t>3-byte tokens</a:t>
            </a:r>
            <a:pPr indent="0" marL="0">
              <a:lnSpc>
                <a:spcPct val="105000"/>
              </a:lnSpc>
              <a:buNone/>
            </a:pPr>
            <a:r>
              <a:rPr lang="en-US" sz="1200" dirty="0">
                <a:solidFill>
                  <a:srgbClr val="C7D6E4"/>
                </a:solidFill>
                <a:latin typeface="Calibri" pitchFamily="34" charset="0"/>
                <a:ea typeface="Calibri" pitchFamily="34" charset="-122"/>
                <a:cs typeface="Calibri" pitchFamily="34" charset="-120"/>
              </a:rPr>
              <a:t>.</a:t>
            </a:r>
            <a:endParaRPr lang="en-US" sz="1200" dirty="0"/>
          </a:p>
          <a:p>
            <a:pPr indent="0" marL="0">
              <a:lnSpc>
                <a:spcPct val="105000"/>
              </a:lnSpc>
              <a:buNone/>
            </a:pPr>
            <a:endParaRPr lang="en-US" sz="1200" dirty="0"/>
          </a:p>
          <a:p>
            <a:pPr indent="0" marL="0">
              <a:lnSpc>
                <a:spcPct val="105000"/>
              </a:lnSpc>
              <a:buNone/>
            </a:pPr>
            <a:r>
              <a:rPr lang="en-US" sz="1200" dirty="0">
                <a:solidFill>
                  <a:srgbClr val="C7D6E4"/>
                </a:solidFill>
                <a:latin typeface="Calibri" pitchFamily="34" charset="0"/>
                <a:ea typeface="Calibri" pitchFamily="34" charset="-122"/>
                <a:cs typeface="Calibri" pitchFamily="34" charset="-120"/>
              </a:rPr>
              <a:t>Overlap (len &gt; offset) handled — decoder copies one byte per cycle.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OUTCOMES</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Results</a:t>
            </a:r>
            <a:endParaRPr lang="en-US" sz="3100" dirty="0"/>
          </a:p>
        </p:txBody>
      </p:sp>
      <p:sp>
        <p:nvSpPr>
          <p:cNvPr id="5" name="Shape 3"/>
          <p:cNvSpPr/>
          <p:nvPr/>
        </p:nvSpPr>
        <p:spPr>
          <a:xfrm>
            <a:off x="566928" y="1691640"/>
            <a:ext cx="3566160" cy="1600200"/>
          </a:xfrm>
          <a:prstGeom prst="roundRect">
            <a:avLst>
              <a:gd name="adj" fmla="val 685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6" name="Shape 4"/>
          <p:cNvSpPr/>
          <p:nvPr/>
        </p:nvSpPr>
        <p:spPr>
          <a:xfrm>
            <a:off x="841248" y="1965960"/>
            <a:ext cx="566928" cy="566928"/>
          </a:xfrm>
          <a:prstGeom prst="ellipse">
            <a:avLst/>
          </a:prstGeom>
          <a:solidFill>
            <a:srgbClr val="14A8A0"/>
          </a:solidFill>
          <a:ln/>
        </p:spPr>
      </p:sp>
      <p:sp>
        <p:nvSpPr>
          <p:cNvPr id="7" name="Text 5"/>
          <p:cNvSpPr/>
          <p:nvPr/>
        </p:nvSpPr>
        <p:spPr>
          <a:xfrm>
            <a:off x="841248" y="194767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Symbol" pitchFamily="34" charset="0"/>
                <a:ea typeface="Segoe UI Symbol" pitchFamily="34" charset="-122"/>
                <a:cs typeface="Segoe UI Symbol" pitchFamily="34" charset="-120"/>
              </a:rPr>
              <a:t>✓</a:t>
            </a:r>
            <a:endParaRPr lang="en-US" sz="2400" dirty="0"/>
          </a:p>
        </p:txBody>
      </p:sp>
      <p:sp>
        <p:nvSpPr>
          <p:cNvPr id="8" name="Text 6"/>
          <p:cNvSpPr/>
          <p:nvPr/>
        </p:nvSpPr>
        <p:spPr>
          <a:xfrm>
            <a:off x="1527048" y="1965960"/>
            <a:ext cx="2423160" cy="566928"/>
          </a:xfrm>
          <a:prstGeom prst="rect">
            <a:avLst/>
          </a:prstGeom>
          <a:noFill/>
          <a:ln/>
        </p:spPr>
        <p:txBody>
          <a:bodyPr wrap="square" lIns="0" tIns="0" rIns="0" bIns="0" rtlCol="0" anchor="ctr"/>
          <a:lstStyle/>
          <a:p>
            <a:pPr indent="0" marL="0">
              <a:buNone/>
            </a:pPr>
            <a:r>
              <a:rPr lang="en-US" sz="1450" b="1" dirty="0">
                <a:solidFill>
                  <a:srgbClr val="16324F"/>
                </a:solidFill>
                <a:latin typeface="Cambria" pitchFamily="34" charset="0"/>
                <a:ea typeface="Cambria" pitchFamily="34" charset="-122"/>
                <a:cs typeface="Cambria" pitchFamily="34" charset="-120"/>
              </a:rPr>
              <a:t>All FIFO modules verified</a:t>
            </a:r>
            <a:endParaRPr lang="en-US" sz="1450" dirty="0"/>
          </a:p>
        </p:txBody>
      </p:sp>
      <p:sp>
        <p:nvSpPr>
          <p:cNvPr id="9" name="Text 7"/>
          <p:cNvSpPr/>
          <p:nvPr/>
        </p:nvSpPr>
        <p:spPr>
          <a:xfrm>
            <a:off x="841248" y="2624328"/>
            <a:ext cx="3063240" cy="59436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sync, async, revised sync &amp; async — self-checking benches pass</a:t>
            </a:r>
            <a:endParaRPr lang="en-US" sz="1150" dirty="0"/>
          </a:p>
        </p:txBody>
      </p:sp>
      <p:sp>
        <p:nvSpPr>
          <p:cNvPr id="10" name="Shape 8"/>
          <p:cNvSpPr/>
          <p:nvPr/>
        </p:nvSpPr>
        <p:spPr>
          <a:xfrm>
            <a:off x="4389120" y="1691640"/>
            <a:ext cx="3566160" cy="1600200"/>
          </a:xfrm>
          <a:prstGeom prst="roundRect">
            <a:avLst>
              <a:gd name="adj" fmla="val 685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11" name="Shape 9"/>
          <p:cNvSpPr/>
          <p:nvPr/>
        </p:nvSpPr>
        <p:spPr>
          <a:xfrm>
            <a:off x="4663440" y="1965960"/>
            <a:ext cx="566928" cy="566928"/>
          </a:xfrm>
          <a:prstGeom prst="ellipse">
            <a:avLst/>
          </a:prstGeom>
          <a:solidFill>
            <a:srgbClr val="14A8A0"/>
          </a:solidFill>
          <a:ln/>
        </p:spPr>
      </p:sp>
      <p:sp>
        <p:nvSpPr>
          <p:cNvPr id="12" name="Text 10"/>
          <p:cNvSpPr/>
          <p:nvPr/>
        </p:nvSpPr>
        <p:spPr>
          <a:xfrm>
            <a:off x="4663440" y="194767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Symbol" pitchFamily="34" charset="0"/>
                <a:ea typeface="Segoe UI Symbol" pitchFamily="34" charset="-122"/>
                <a:cs typeface="Segoe UI Symbol" pitchFamily="34" charset="-120"/>
              </a:rPr>
              <a:t>✓</a:t>
            </a:r>
            <a:endParaRPr lang="en-US" sz="2400" dirty="0"/>
          </a:p>
        </p:txBody>
      </p:sp>
      <p:sp>
        <p:nvSpPr>
          <p:cNvPr id="13" name="Text 11"/>
          <p:cNvSpPr/>
          <p:nvPr/>
        </p:nvSpPr>
        <p:spPr>
          <a:xfrm>
            <a:off x="5349240" y="1965960"/>
            <a:ext cx="2423160" cy="566928"/>
          </a:xfrm>
          <a:prstGeom prst="rect">
            <a:avLst/>
          </a:prstGeom>
          <a:noFill/>
          <a:ln/>
        </p:spPr>
        <p:txBody>
          <a:bodyPr wrap="square" lIns="0" tIns="0" rIns="0" bIns="0" rtlCol="0" anchor="ctr"/>
          <a:lstStyle/>
          <a:p>
            <a:pPr indent="0" marL="0">
              <a:buNone/>
            </a:pPr>
            <a:r>
              <a:rPr lang="en-US" sz="1450" b="1" dirty="0">
                <a:solidFill>
                  <a:srgbClr val="16324F"/>
                </a:solidFill>
                <a:latin typeface="Cambria" pitchFamily="34" charset="0"/>
                <a:ea typeface="Cambria" pitchFamily="34" charset="-122"/>
                <a:cs typeface="Cambria" pitchFamily="34" charset="-120"/>
              </a:rPr>
              <a:t>Stream FIFO works</a:t>
            </a:r>
            <a:endParaRPr lang="en-US" sz="1450" dirty="0"/>
          </a:p>
        </p:txBody>
      </p:sp>
      <p:sp>
        <p:nvSpPr>
          <p:cNvPr id="14" name="Text 12"/>
          <p:cNvSpPr/>
          <p:nvPr/>
        </p:nvSpPr>
        <p:spPr>
          <a:xfrm>
            <a:off x="4663440" y="2624328"/>
            <a:ext cx="3063240" cy="59436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valid/ready + FWFT + last, with correct backpressure</a:t>
            </a:r>
            <a:endParaRPr lang="en-US" sz="1150" dirty="0"/>
          </a:p>
        </p:txBody>
      </p:sp>
      <p:sp>
        <p:nvSpPr>
          <p:cNvPr id="15" name="Shape 13"/>
          <p:cNvSpPr/>
          <p:nvPr/>
        </p:nvSpPr>
        <p:spPr>
          <a:xfrm>
            <a:off x="8211312" y="1691640"/>
            <a:ext cx="3566160" cy="1600200"/>
          </a:xfrm>
          <a:prstGeom prst="roundRect">
            <a:avLst>
              <a:gd name="adj" fmla="val 685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16" name="Shape 14"/>
          <p:cNvSpPr/>
          <p:nvPr/>
        </p:nvSpPr>
        <p:spPr>
          <a:xfrm>
            <a:off x="8485632" y="1965960"/>
            <a:ext cx="566928" cy="566928"/>
          </a:xfrm>
          <a:prstGeom prst="ellipse">
            <a:avLst/>
          </a:prstGeom>
          <a:solidFill>
            <a:srgbClr val="14A8A0"/>
          </a:solidFill>
          <a:ln/>
        </p:spPr>
      </p:sp>
      <p:sp>
        <p:nvSpPr>
          <p:cNvPr id="17" name="Text 15"/>
          <p:cNvSpPr/>
          <p:nvPr/>
        </p:nvSpPr>
        <p:spPr>
          <a:xfrm>
            <a:off x="8485632" y="194767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Symbol" pitchFamily="34" charset="0"/>
                <a:ea typeface="Segoe UI Symbol" pitchFamily="34" charset="-122"/>
                <a:cs typeface="Segoe UI Symbol" pitchFamily="34" charset="-120"/>
              </a:rPr>
              <a:t>✓</a:t>
            </a:r>
            <a:endParaRPr lang="en-US" sz="2400" dirty="0"/>
          </a:p>
        </p:txBody>
      </p:sp>
      <p:sp>
        <p:nvSpPr>
          <p:cNvPr id="18" name="Text 16"/>
          <p:cNvSpPr/>
          <p:nvPr/>
        </p:nvSpPr>
        <p:spPr>
          <a:xfrm>
            <a:off x="9171432" y="1965960"/>
            <a:ext cx="2423160" cy="566928"/>
          </a:xfrm>
          <a:prstGeom prst="rect">
            <a:avLst/>
          </a:prstGeom>
          <a:noFill/>
          <a:ln/>
        </p:spPr>
        <p:txBody>
          <a:bodyPr wrap="square" lIns="0" tIns="0" rIns="0" bIns="0" rtlCol="0" anchor="ctr"/>
          <a:lstStyle/>
          <a:p>
            <a:pPr indent="0" marL="0">
              <a:buNone/>
            </a:pPr>
            <a:r>
              <a:rPr lang="en-US" sz="1450" b="1" dirty="0">
                <a:solidFill>
                  <a:srgbClr val="16324F"/>
                </a:solidFill>
                <a:latin typeface="Cambria" pitchFamily="34" charset="0"/>
                <a:ea typeface="Cambria" pitchFamily="34" charset="-122"/>
                <a:cs typeface="Cambria" pitchFamily="34" charset="-120"/>
              </a:rPr>
              <a:t>LZ77 software verified</a:t>
            </a:r>
            <a:endParaRPr lang="en-US" sz="1450" dirty="0"/>
          </a:p>
        </p:txBody>
      </p:sp>
      <p:sp>
        <p:nvSpPr>
          <p:cNvPr id="19" name="Text 17"/>
          <p:cNvSpPr/>
          <p:nvPr/>
        </p:nvSpPr>
        <p:spPr>
          <a:xfrm>
            <a:off x="8485632" y="2624328"/>
            <a:ext cx="3063240" cy="59436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round-trip compress/decompress incl. overlap matches</a:t>
            </a:r>
            <a:endParaRPr lang="en-US" sz="1150" dirty="0"/>
          </a:p>
        </p:txBody>
      </p:sp>
      <p:sp>
        <p:nvSpPr>
          <p:cNvPr id="20" name="Shape 18"/>
          <p:cNvSpPr/>
          <p:nvPr/>
        </p:nvSpPr>
        <p:spPr>
          <a:xfrm>
            <a:off x="566928" y="3566160"/>
            <a:ext cx="3566160" cy="1600200"/>
          </a:xfrm>
          <a:prstGeom prst="roundRect">
            <a:avLst>
              <a:gd name="adj" fmla="val 685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21" name="Shape 19"/>
          <p:cNvSpPr/>
          <p:nvPr/>
        </p:nvSpPr>
        <p:spPr>
          <a:xfrm>
            <a:off x="841248" y="3840480"/>
            <a:ext cx="566928" cy="566928"/>
          </a:xfrm>
          <a:prstGeom prst="ellipse">
            <a:avLst/>
          </a:prstGeom>
          <a:solidFill>
            <a:srgbClr val="14A8A0"/>
          </a:solidFill>
          <a:ln/>
        </p:spPr>
      </p:sp>
      <p:sp>
        <p:nvSpPr>
          <p:cNvPr id="22" name="Text 20"/>
          <p:cNvSpPr/>
          <p:nvPr/>
        </p:nvSpPr>
        <p:spPr>
          <a:xfrm>
            <a:off x="841248" y="382219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Symbol" pitchFamily="34" charset="0"/>
                <a:ea typeface="Segoe UI Symbol" pitchFamily="34" charset="-122"/>
                <a:cs typeface="Segoe UI Symbol" pitchFamily="34" charset="-120"/>
              </a:rPr>
              <a:t>✓</a:t>
            </a:r>
            <a:endParaRPr lang="en-US" sz="2400" dirty="0"/>
          </a:p>
        </p:txBody>
      </p:sp>
      <p:sp>
        <p:nvSpPr>
          <p:cNvPr id="23" name="Text 21"/>
          <p:cNvSpPr/>
          <p:nvPr/>
        </p:nvSpPr>
        <p:spPr>
          <a:xfrm>
            <a:off x="1527048" y="3840480"/>
            <a:ext cx="2423160" cy="566928"/>
          </a:xfrm>
          <a:prstGeom prst="rect">
            <a:avLst/>
          </a:prstGeom>
          <a:noFill/>
          <a:ln/>
        </p:spPr>
        <p:txBody>
          <a:bodyPr wrap="square" lIns="0" tIns="0" rIns="0" bIns="0" rtlCol="0" anchor="ctr"/>
          <a:lstStyle/>
          <a:p>
            <a:pPr indent="0" marL="0">
              <a:buNone/>
            </a:pPr>
            <a:r>
              <a:rPr lang="en-US" sz="1450" b="1" dirty="0">
                <a:solidFill>
                  <a:srgbClr val="16324F"/>
                </a:solidFill>
                <a:latin typeface="Cambria" pitchFamily="34" charset="0"/>
                <a:ea typeface="Cambria" pitchFamily="34" charset="-122"/>
                <a:cs typeface="Cambria" pitchFamily="34" charset="-120"/>
              </a:rPr>
              <a:t>Hardware LZ77 verified</a:t>
            </a:r>
            <a:endParaRPr lang="en-US" sz="1450" dirty="0"/>
          </a:p>
        </p:txBody>
      </p:sp>
      <p:sp>
        <p:nvSpPr>
          <p:cNvPr id="24" name="Text 22"/>
          <p:cNvSpPr/>
          <p:nvPr/>
        </p:nvSpPr>
        <p:spPr>
          <a:xfrm>
            <a:off x="841248" y="4498848"/>
            <a:ext cx="3063240" cy="59436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classic + streaming codecs pass their testbenches</a:t>
            </a:r>
            <a:endParaRPr lang="en-US" sz="1150" dirty="0"/>
          </a:p>
        </p:txBody>
      </p:sp>
      <p:sp>
        <p:nvSpPr>
          <p:cNvPr id="25" name="Shape 23"/>
          <p:cNvSpPr/>
          <p:nvPr/>
        </p:nvSpPr>
        <p:spPr>
          <a:xfrm>
            <a:off x="4389120" y="3566160"/>
            <a:ext cx="3566160" cy="1600200"/>
          </a:xfrm>
          <a:prstGeom prst="roundRect">
            <a:avLst>
              <a:gd name="adj" fmla="val 685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26" name="Shape 24"/>
          <p:cNvSpPr/>
          <p:nvPr/>
        </p:nvSpPr>
        <p:spPr>
          <a:xfrm>
            <a:off x="4663440" y="3840480"/>
            <a:ext cx="566928" cy="566928"/>
          </a:xfrm>
          <a:prstGeom prst="ellipse">
            <a:avLst/>
          </a:prstGeom>
          <a:solidFill>
            <a:srgbClr val="14A8A0"/>
          </a:solidFill>
          <a:ln/>
        </p:spPr>
      </p:sp>
      <p:sp>
        <p:nvSpPr>
          <p:cNvPr id="27" name="Text 25"/>
          <p:cNvSpPr/>
          <p:nvPr/>
        </p:nvSpPr>
        <p:spPr>
          <a:xfrm>
            <a:off x="4663440" y="382219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Symbol" pitchFamily="34" charset="0"/>
                <a:ea typeface="Segoe UI Symbol" pitchFamily="34" charset="-122"/>
                <a:cs typeface="Segoe UI Symbol" pitchFamily="34" charset="-120"/>
              </a:rPr>
              <a:t>✓</a:t>
            </a:r>
            <a:endParaRPr lang="en-US" sz="2400" dirty="0"/>
          </a:p>
        </p:txBody>
      </p:sp>
      <p:sp>
        <p:nvSpPr>
          <p:cNvPr id="28" name="Text 26"/>
          <p:cNvSpPr/>
          <p:nvPr/>
        </p:nvSpPr>
        <p:spPr>
          <a:xfrm>
            <a:off x="5349240" y="3840480"/>
            <a:ext cx="2423160" cy="566928"/>
          </a:xfrm>
          <a:prstGeom prst="rect">
            <a:avLst/>
          </a:prstGeom>
          <a:noFill/>
          <a:ln/>
        </p:spPr>
        <p:txBody>
          <a:bodyPr wrap="square" lIns="0" tIns="0" rIns="0" bIns="0" rtlCol="0" anchor="ctr"/>
          <a:lstStyle/>
          <a:p>
            <a:pPr indent="0" marL="0">
              <a:buNone/>
            </a:pPr>
            <a:r>
              <a:rPr lang="en-US" sz="1450" b="1" dirty="0">
                <a:solidFill>
                  <a:srgbClr val="16324F"/>
                </a:solidFill>
                <a:latin typeface="Cambria" pitchFamily="34" charset="0"/>
                <a:ea typeface="Cambria" pitchFamily="34" charset="-122"/>
                <a:cs typeface="Cambria" pitchFamily="34" charset="-120"/>
              </a:rPr>
              <a:t>Byte-exact vs C model</a:t>
            </a:r>
            <a:endParaRPr lang="en-US" sz="1450" dirty="0"/>
          </a:p>
        </p:txBody>
      </p:sp>
      <p:sp>
        <p:nvSpPr>
          <p:cNvPr id="29" name="Text 27"/>
          <p:cNvSpPr/>
          <p:nvPr/>
        </p:nvSpPr>
        <p:spPr>
          <a:xfrm>
            <a:off x="4663440" y="4498848"/>
            <a:ext cx="3063240" cy="59436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classic RTL matches lz77_robust.c byte-for-byte</a:t>
            </a:r>
            <a:endParaRPr lang="en-US" sz="1150" dirty="0"/>
          </a:p>
        </p:txBody>
      </p:sp>
      <p:sp>
        <p:nvSpPr>
          <p:cNvPr id="30" name="Shape 28"/>
          <p:cNvSpPr/>
          <p:nvPr/>
        </p:nvSpPr>
        <p:spPr>
          <a:xfrm>
            <a:off x="8211312" y="3566160"/>
            <a:ext cx="3566160" cy="1600200"/>
          </a:xfrm>
          <a:prstGeom prst="roundRect">
            <a:avLst>
              <a:gd name="adj" fmla="val 685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31" name="Shape 29"/>
          <p:cNvSpPr/>
          <p:nvPr/>
        </p:nvSpPr>
        <p:spPr>
          <a:xfrm>
            <a:off x="8485632" y="3840480"/>
            <a:ext cx="566928" cy="566928"/>
          </a:xfrm>
          <a:prstGeom prst="ellipse">
            <a:avLst/>
          </a:prstGeom>
          <a:solidFill>
            <a:srgbClr val="14A8A0"/>
          </a:solidFill>
          <a:ln/>
        </p:spPr>
      </p:sp>
      <p:sp>
        <p:nvSpPr>
          <p:cNvPr id="32" name="Text 30"/>
          <p:cNvSpPr/>
          <p:nvPr/>
        </p:nvSpPr>
        <p:spPr>
          <a:xfrm>
            <a:off x="8485632" y="382219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Symbol" pitchFamily="34" charset="0"/>
                <a:ea typeface="Segoe UI Symbol" pitchFamily="34" charset="-122"/>
                <a:cs typeface="Segoe UI Symbol" pitchFamily="34" charset="-120"/>
              </a:rPr>
              <a:t>✓</a:t>
            </a:r>
            <a:endParaRPr lang="en-US" sz="2400" dirty="0"/>
          </a:p>
        </p:txBody>
      </p:sp>
      <p:sp>
        <p:nvSpPr>
          <p:cNvPr id="33" name="Text 31"/>
          <p:cNvSpPr/>
          <p:nvPr/>
        </p:nvSpPr>
        <p:spPr>
          <a:xfrm>
            <a:off x="9171432" y="3840480"/>
            <a:ext cx="2423160" cy="566928"/>
          </a:xfrm>
          <a:prstGeom prst="rect">
            <a:avLst/>
          </a:prstGeom>
          <a:noFill/>
          <a:ln/>
        </p:spPr>
        <p:txBody>
          <a:bodyPr wrap="square" lIns="0" tIns="0" rIns="0" bIns="0" rtlCol="0" anchor="ctr"/>
          <a:lstStyle/>
          <a:p>
            <a:pPr indent="0" marL="0">
              <a:buNone/>
            </a:pPr>
            <a:r>
              <a:rPr lang="en-US" sz="1450" b="1" dirty="0">
                <a:solidFill>
                  <a:srgbClr val="16324F"/>
                </a:solidFill>
                <a:latin typeface="Cambria" pitchFamily="34" charset="0"/>
                <a:ea typeface="Cambria" pitchFamily="34" charset="-122"/>
                <a:cs typeface="Cambria" pitchFamily="34" charset="-120"/>
              </a:rPr>
              <a:t>Continuous streaming</a:t>
            </a:r>
            <a:endParaRPr lang="en-US" sz="1450" dirty="0"/>
          </a:p>
        </p:txBody>
      </p:sp>
      <p:sp>
        <p:nvSpPr>
          <p:cNvPr id="34" name="Text 32"/>
          <p:cNvSpPr/>
          <p:nvPr/>
        </p:nvSpPr>
        <p:spPr>
          <a:xfrm>
            <a:off x="8485632" y="4498848"/>
            <a:ext cx="3063240" cy="59436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dataflow path chains stages with no frame buffering</a:t>
            </a:r>
            <a:endParaRPr lang="en-US" sz="1150" dirty="0"/>
          </a:p>
        </p:txBody>
      </p:sp>
      <p:sp>
        <p:nvSpPr>
          <p:cNvPr id="35" name="Shape 33"/>
          <p:cNvSpPr/>
          <p:nvPr/>
        </p:nvSpPr>
        <p:spPr>
          <a:xfrm>
            <a:off x="566928" y="5440680"/>
            <a:ext cx="11064240" cy="777240"/>
          </a:xfrm>
          <a:prstGeom prst="roundRect">
            <a:avLst>
              <a:gd name="adj" fmla="val 11765"/>
            </a:avLst>
          </a:prstGeom>
          <a:solidFill>
            <a:srgbClr val="0D1B2A"/>
          </a:solidFill>
          <a:ln/>
          <a:effectLst>
            <a:outerShdw sx="100000" sy="100000" kx="0" ky="0" algn="bl" rotWithShape="0" blurRad="114300" dist="38100" dir="5400000">
              <a:srgbClr val="1B3A5B">
                <a:alpha val="20000"/>
              </a:srgbClr>
            </a:outerShdw>
          </a:effectLst>
        </p:spPr>
      </p:sp>
      <p:sp>
        <p:nvSpPr>
          <p:cNvPr id="36" name="Text 34"/>
          <p:cNvSpPr/>
          <p:nvPr/>
        </p:nvSpPr>
        <p:spPr>
          <a:xfrm>
            <a:off x="822960" y="5440680"/>
            <a:ext cx="10515600" cy="777240"/>
          </a:xfrm>
          <a:prstGeom prst="rect">
            <a:avLst/>
          </a:prstGeom>
          <a:noFill/>
          <a:ln/>
        </p:spPr>
        <p:txBody>
          <a:bodyPr wrap="square" lIns="0" tIns="0" rIns="0" bIns="0" rtlCol="0" anchor="ctr"/>
          <a:lstStyle/>
          <a:p>
            <a:pPr algn="ctr" indent="0" marL="0">
              <a:buNone/>
            </a:pPr>
            <a:r>
              <a:rPr lang="en-US" sz="1600" b="1" dirty="0">
                <a:solidFill>
                  <a:srgbClr val="F4A825"/>
                </a:solidFill>
                <a:latin typeface="Courier New" pitchFamily="34" charset="0"/>
                <a:ea typeface="Courier New" pitchFamily="34" charset="-122"/>
                <a:cs typeface="Courier New" pitchFamily="34" charset="-120"/>
              </a:rPr>
              <a:t>make</a:t>
            </a:r>
            <a:pPr algn="ctr" indent="0" marL="0">
              <a:buNone/>
            </a:pPr>
            <a:r>
              <a:rPr lang="en-US" sz="1400" dirty="0">
                <a:solidFill>
                  <a:srgbClr val="C7D6E4"/>
                </a:solidFill>
                <a:latin typeface="Calibri" pitchFamily="34" charset="0"/>
                <a:ea typeface="Calibri" pitchFamily="34" charset="-122"/>
                <a:cs typeface="Calibri" pitchFamily="34" charset="-120"/>
              </a:rPr>
              <a:t>   →   builds 3 C models + runs all 5 testbenches   →   </a:t>
            </a:r>
            <a:pPr algn="ctr" indent="0" marL="0">
              <a:buNone/>
            </a:pPr>
            <a:r>
              <a:rPr lang="en-US" sz="1400" b="1" dirty="0">
                <a:solidFill>
                  <a:srgbClr val="3FD79A"/>
                </a:solidFill>
                <a:latin typeface="Courier New" pitchFamily="34" charset="0"/>
                <a:ea typeface="Courier New" pitchFamily="34" charset="-122"/>
                <a:cs typeface="Courier New" pitchFamily="34" charset="-120"/>
              </a:rPr>
              <a:t>PASS / ROUND-TRIP OK</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2A"/>
          </a:solidFill>
          <a:ln/>
        </p:spPr>
      </p:sp>
      <p:sp>
        <p:nvSpPr>
          <p:cNvPr id="3" name="Text 1"/>
          <p:cNvSpPr/>
          <p:nvPr/>
        </p:nvSpPr>
        <p:spPr>
          <a:xfrm>
            <a:off x="566928" y="502920"/>
            <a:ext cx="10515600" cy="292608"/>
          </a:xfrm>
          <a:prstGeom prst="rect">
            <a:avLst/>
          </a:prstGeom>
          <a:noFill/>
          <a:ln/>
        </p:spPr>
        <p:txBody>
          <a:bodyPr wrap="square" lIns="0" tIns="0" rIns="0" bIns="0" rtlCol="0" anchor="ctr"/>
          <a:lstStyle/>
          <a:p>
            <a:pPr indent="0" marL="0">
              <a:buNone/>
            </a:pPr>
            <a:r>
              <a:rPr lang="en-US" sz="1250" b="1" spc="250" kern="0" dirty="0">
                <a:solidFill>
                  <a:srgbClr val="18C2B8"/>
                </a:solidFill>
                <a:latin typeface="Calibri" pitchFamily="34" charset="0"/>
                <a:ea typeface="Calibri" pitchFamily="34" charset="-122"/>
                <a:cs typeface="Calibri" pitchFamily="34" charset="-120"/>
              </a:rPr>
              <a:t>IN SUMMARY</a:t>
            </a:r>
            <a:endParaRPr lang="en-US" sz="1250" dirty="0"/>
          </a:p>
        </p:txBody>
      </p:sp>
      <p:sp>
        <p:nvSpPr>
          <p:cNvPr id="4" name="Text 2"/>
          <p:cNvSpPr/>
          <p:nvPr/>
        </p:nvSpPr>
        <p:spPr>
          <a:xfrm>
            <a:off x="548640" y="822960"/>
            <a:ext cx="1106424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Conclusion</a:t>
            </a:r>
            <a:endParaRPr lang="en-US" sz="3800" dirty="0"/>
          </a:p>
        </p:txBody>
      </p:sp>
      <p:sp>
        <p:nvSpPr>
          <p:cNvPr id="5" name="Shape 3"/>
          <p:cNvSpPr/>
          <p:nvPr/>
        </p:nvSpPr>
        <p:spPr>
          <a:xfrm>
            <a:off x="9509760" y="658368"/>
            <a:ext cx="274320" cy="274320"/>
          </a:xfrm>
          <a:prstGeom prst="roundRect">
            <a:avLst>
              <a:gd name="adj" fmla="val 22000"/>
            </a:avLst>
          </a:prstGeom>
          <a:solidFill>
            <a:srgbClr val="18C2B8"/>
          </a:solidFill>
          <a:ln w="17780">
            <a:solidFill>
              <a:srgbClr val="18C2B8"/>
            </a:solidFill>
            <a:prstDash val="solid"/>
          </a:ln>
        </p:spPr>
      </p:sp>
      <p:sp>
        <p:nvSpPr>
          <p:cNvPr id="6" name="Shape 4"/>
          <p:cNvSpPr/>
          <p:nvPr/>
        </p:nvSpPr>
        <p:spPr>
          <a:xfrm>
            <a:off x="9893808" y="658368"/>
            <a:ext cx="274320" cy="274320"/>
          </a:xfrm>
          <a:prstGeom prst="roundRect">
            <a:avLst>
              <a:gd name="adj" fmla="val 22000"/>
            </a:avLst>
          </a:prstGeom>
          <a:solidFill>
            <a:srgbClr val="18C2B8"/>
          </a:solidFill>
          <a:ln w="17780">
            <a:solidFill>
              <a:srgbClr val="18C2B8"/>
            </a:solidFill>
            <a:prstDash val="solid"/>
          </a:ln>
        </p:spPr>
      </p:sp>
      <p:sp>
        <p:nvSpPr>
          <p:cNvPr id="7" name="Shape 5"/>
          <p:cNvSpPr/>
          <p:nvPr/>
        </p:nvSpPr>
        <p:spPr>
          <a:xfrm>
            <a:off x="10277856" y="658368"/>
            <a:ext cx="274320" cy="274320"/>
          </a:xfrm>
          <a:prstGeom prst="roundRect">
            <a:avLst>
              <a:gd name="adj" fmla="val 22000"/>
            </a:avLst>
          </a:prstGeom>
          <a:solidFill>
            <a:srgbClr val="18C2B8"/>
          </a:solidFill>
          <a:ln w="17780">
            <a:solidFill>
              <a:srgbClr val="18C2B8"/>
            </a:solidFill>
            <a:prstDash val="solid"/>
          </a:ln>
        </p:spPr>
      </p:sp>
      <p:sp>
        <p:nvSpPr>
          <p:cNvPr id="8" name="Shape 6"/>
          <p:cNvSpPr/>
          <p:nvPr/>
        </p:nvSpPr>
        <p:spPr>
          <a:xfrm>
            <a:off x="10661904" y="658368"/>
            <a:ext cx="274320" cy="274320"/>
          </a:xfrm>
          <a:prstGeom prst="roundRect">
            <a:avLst>
              <a:gd name="adj" fmla="val 22000"/>
            </a:avLst>
          </a:prstGeom>
          <a:solidFill>
            <a:srgbClr val="FFFFFF">
              <a:alpha val="0"/>
            </a:srgbClr>
          </a:solidFill>
          <a:ln w="17780">
            <a:solidFill>
              <a:srgbClr val="18C2B8"/>
            </a:solidFill>
            <a:prstDash val="solid"/>
          </a:ln>
        </p:spPr>
      </p:sp>
      <p:sp>
        <p:nvSpPr>
          <p:cNvPr id="9" name="Shape 7"/>
          <p:cNvSpPr/>
          <p:nvPr/>
        </p:nvSpPr>
        <p:spPr>
          <a:xfrm>
            <a:off x="11045952" y="658368"/>
            <a:ext cx="274320" cy="274320"/>
          </a:xfrm>
          <a:prstGeom prst="roundRect">
            <a:avLst>
              <a:gd name="adj" fmla="val 22000"/>
            </a:avLst>
          </a:prstGeom>
          <a:solidFill>
            <a:srgbClr val="FFFFFF">
              <a:alpha val="0"/>
            </a:srgbClr>
          </a:solidFill>
          <a:ln w="17780">
            <a:solidFill>
              <a:srgbClr val="18C2B8"/>
            </a:solidFill>
            <a:prstDash val="solid"/>
          </a:ln>
        </p:spPr>
      </p:sp>
      <p:sp>
        <p:nvSpPr>
          <p:cNvPr id="10" name="Shape 8"/>
          <p:cNvSpPr/>
          <p:nvPr/>
        </p:nvSpPr>
        <p:spPr>
          <a:xfrm>
            <a:off x="566928" y="1828800"/>
            <a:ext cx="5394960" cy="1828800"/>
          </a:xfrm>
          <a:prstGeom prst="roundRect">
            <a:avLst>
              <a:gd name="adj" fmla="val 6000"/>
            </a:avLst>
          </a:prstGeom>
          <a:solidFill>
            <a:srgbClr val="12283D"/>
          </a:solidFill>
          <a:ln w="12700">
            <a:solidFill>
              <a:srgbClr val="274863"/>
            </a:solidFill>
            <a:prstDash val="solid"/>
          </a:ln>
          <a:effectLst>
            <a:outerShdw sx="100000" sy="100000" kx="0" ky="0" algn="bl" rotWithShape="0" blurRad="127000" dist="38100" dir="5400000">
              <a:srgbClr val="000000">
                <a:alpha val="35000"/>
              </a:srgbClr>
            </a:outerShdw>
          </a:effectLst>
        </p:spPr>
      </p:sp>
      <p:sp>
        <p:nvSpPr>
          <p:cNvPr id="11" name="Shape 9"/>
          <p:cNvSpPr/>
          <p:nvPr/>
        </p:nvSpPr>
        <p:spPr>
          <a:xfrm>
            <a:off x="886968" y="2148840"/>
            <a:ext cx="502920" cy="502920"/>
          </a:xfrm>
          <a:prstGeom prst="ellipse">
            <a:avLst/>
          </a:prstGeom>
          <a:solidFill>
            <a:srgbClr val="14A8A0"/>
          </a:solidFill>
          <a:ln/>
        </p:spPr>
      </p:sp>
      <p:sp>
        <p:nvSpPr>
          <p:cNvPr id="12" name="Text 10"/>
          <p:cNvSpPr/>
          <p:nvPr/>
        </p:nvSpPr>
        <p:spPr>
          <a:xfrm>
            <a:off x="886968" y="213969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3" name="Text 11"/>
          <p:cNvSpPr/>
          <p:nvPr/>
        </p:nvSpPr>
        <p:spPr>
          <a:xfrm>
            <a:off x="1572768" y="2148840"/>
            <a:ext cx="4114800" cy="502920"/>
          </a:xfrm>
          <a:prstGeom prst="rect">
            <a:avLst/>
          </a:prstGeom>
          <a:noFill/>
          <a:ln/>
        </p:spPr>
        <p:txBody>
          <a:bodyPr wrap="square" lIns="0" tIns="0" rIns="0" bIns="0" rtlCol="0" anchor="ctr"/>
          <a:lstStyle/>
          <a:p>
            <a:pPr indent="0" marL="0">
              <a:buNone/>
            </a:pPr>
            <a:r>
              <a:rPr lang="en-US" sz="1600" b="1" dirty="0">
                <a:solidFill>
                  <a:srgbClr val="F4A825"/>
                </a:solidFill>
                <a:latin typeface="Cambria" pitchFamily="34" charset="0"/>
                <a:ea typeface="Cambria" pitchFamily="34" charset="-122"/>
                <a:cs typeface="Cambria" pitchFamily="34" charset="-120"/>
              </a:rPr>
              <a:t>A reusable FIFO library</a:t>
            </a:r>
            <a:endParaRPr lang="en-US" sz="1600" dirty="0"/>
          </a:p>
        </p:txBody>
      </p:sp>
      <p:sp>
        <p:nvSpPr>
          <p:cNvPr id="14" name="Text 12"/>
          <p:cNvSpPr/>
          <p:nvPr/>
        </p:nvSpPr>
        <p:spPr>
          <a:xfrm>
            <a:off x="932688" y="2788920"/>
            <a:ext cx="4663440" cy="777240"/>
          </a:xfrm>
          <a:prstGeom prst="rect">
            <a:avLst/>
          </a:prstGeom>
          <a:noFill/>
          <a:ln/>
        </p:spPr>
        <p:txBody>
          <a:bodyPr wrap="square" lIns="0" tIns="0" rIns="0" bIns="0" rtlCol="0" anchor="ctr"/>
          <a:lstStyle/>
          <a:p>
            <a:pPr indent="0" marL="0">
              <a:buNone/>
            </a:pPr>
            <a:r>
              <a:rPr lang="en-US" sz="1250" dirty="0">
                <a:solidFill>
                  <a:srgbClr val="C7D6E4"/>
                </a:solidFill>
                <a:latin typeface="Calibri" pitchFamily="34" charset="0"/>
                <a:ea typeface="Calibri" pitchFamily="34" charset="-122"/>
                <a:cs typeface="Calibri" pitchFamily="34" charset="-120"/>
              </a:rPr>
              <a:t>Synchronous, asynchronous (CDC), revised arbitrary-depth, and streaming FIFOs — each self-verified.</a:t>
            </a:r>
            <a:endParaRPr lang="en-US" sz="1250" dirty="0"/>
          </a:p>
        </p:txBody>
      </p:sp>
      <p:sp>
        <p:nvSpPr>
          <p:cNvPr id="15" name="Shape 13"/>
          <p:cNvSpPr/>
          <p:nvPr/>
        </p:nvSpPr>
        <p:spPr>
          <a:xfrm>
            <a:off x="6236208" y="1828800"/>
            <a:ext cx="5394960" cy="1828800"/>
          </a:xfrm>
          <a:prstGeom prst="roundRect">
            <a:avLst>
              <a:gd name="adj" fmla="val 6000"/>
            </a:avLst>
          </a:prstGeom>
          <a:solidFill>
            <a:srgbClr val="12283D"/>
          </a:solidFill>
          <a:ln w="12700">
            <a:solidFill>
              <a:srgbClr val="274863"/>
            </a:solidFill>
            <a:prstDash val="solid"/>
          </a:ln>
          <a:effectLst>
            <a:outerShdw sx="100000" sy="100000" kx="0" ky="0" algn="bl" rotWithShape="0" blurRad="127000" dist="38100" dir="5400000">
              <a:srgbClr val="000000">
                <a:alpha val="35000"/>
              </a:srgbClr>
            </a:outerShdw>
          </a:effectLst>
        </p:spPr>
      </p:sp>
      <p:sp>
        <p:nvSpPr>
          <p:cNvPr id="16" name="Shape 14"/>
          <p:cNvSpPr/>
          <p:nvPr/>
        </p:nvSpPr>
        <p:spPr>
          <a:xfrm>
            <a:off x="6556248" y="2148840"/>
            <a:ext cx="502920" cy="502920"/>
          </a:xfrm>
          <a:prstGeom prst="ellipse">
            <a:avLst/>
          </a:prstGeom>
          <a:solidFill>
            <a:srgbClr val="14A8A0"/>
          </a:solidFill>
          <a:ln/>
        </p:spPr>
      </p:sp>
      <p:sp>
        <p:nvSpPr>
          <p:cNvPr id="17" name="Text 15"/>
          <p:cNvSpPr/>
          <p:nvPr/>
        </p:nvSpPr>
        <p:spPr>
          <a:xfrm>
            <a:off x="6556248" y="213969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8" name="Text 16"/>
          <p:cNvSpPr/>
          <p:nvPr/>
        </p:nvSpPr>
        <p:spPr>
          <a:xfrm>
            <a:off x="7242048" y="2148840"/>
            <a:ext cx="4114800" cy="502920"/>
          </a:xfrm>
          <a:prstGeom prst="rect">
            <a:avLst/>
          </a:prstGeom>
          <a:noFill/>
          <a:ln/>
        </p:spPr>
        <p:txBody>
          <a:bodyPr wrap="square" lIns="0" tIns="0" rIns="0" bIns="0" rtlCol="0" anchor="ctr"/>
          <a:lstStyle/>
          <a:p>
            <a:pPr indent="0" marL="0">
              <a:buNone/>
            </a:pPr>
            <a:r>
              <a:rPr lang="en-US" sz="1600" b="1" dirty="0">
                <a:solidFill>
                  <a:srgbClr val="F4A825"/>
                </a:solidFill>
                <a:latin typeface="Cambria" pitchFamily="34" charset="0"/>
                <a:ea typeface="Cambria" pitchFamily="34" charset="-122"/>
                <a:cs typeface="Cambria" pitchFamily="34" charset="-120"/>
              </a:rPr>
              <a:t>A software golden model</a:t>
            </a:r>
            <a:endParaRPr lang="en-US" sz="1600" dirty="0"/>
          </a:p>
        </p:txBody>
      </p:sp>
      <p:sp>
        <p:nvSpPr>
          <p:cNvPr id="19" name="Text 17"/>
          <p:cNvSpPr/>
          <p:nvPr/>
        </p:nvSpPr>
        <p:spPr>
          <a:xfrm>
            <a:off x="6601968" y="2788920"/>
            <a:ext cx="4663440" cy="777240"/>
          </a:xfrm>
          <a:prstGeom prst="rect">
            <a:avLst/>
          </a:prstGeom>
          <a:noFill/>
          <a:ln/>
        </p:spPr>
        <p:txBody>
          <a:bodyPr wrap="square" lIns="0" tIns="0" rIns="0" bIns="0" rtlCol="0" anchor="ctr"/>
          <a:lstStyle/>
          <a:p>
            <a:pPr indent="0" marL="0">
              <a:buNone/>
            </a:pPr>
            <a:r>
              <a:rPr lang="en-US" sz="1250" dirty="0">
                <a:solidFill>
                  <a:srgbClr val="C7D6E4"/>
                </a:solidFill>
                <a:latin typeface="Calibri" pitchFamily="34" charset="0"/>
                <a:ea typeface="Calibri" pitchFamily="34" charset="-122"/>
                <a:cs typeface="Calibri" pitchFamily="34" charset="-120"/>
              </a:rPr>
              <a:t>LZ77 in C that pins the token grammar and self-checks via round-trips.</a:t>
            </a:r>
            <a:endParaRPr lang="en-US" sz="1250" dirty="0"/>
          </a:p>
        </p:txBody>
      </p:sp>
      <p:sp>
        <p:nvSpPr>
          <p:cNvPr id="20" name="Shape 18"/>
          <p:cNvSpPr/>
          <p:nvPr/>
        </p:nvSpPr>
        <p:spPr>
          <a:xfrm>
            <a:off x="566928" y="3931920"/>
            <a:ext cx="5394960" cy="1828800"/>
          </a:xfrm>
          <a:prstGeom prst="roundRect">
            <a:avLst>
              <a:gd name="adj" fmla="val 6000"/>
            </a:avLst>
          </a:prstGeom>
          <a:solidFill>
            <a:srgbClr val="12283D"/>
          </a:solidFill>
          <a:ln w="12700">
            <a:solidFill>
              <a:srgbClr val="274863"/>
            </a:solidFill>
            <a:prstDash val="solid"/>
          </a:ln>
          <a:effectLst>
            <a:outerShdw sx="100000" sy="100000" kx="0" ky="0" algn="bl" rotWithShape="0" blurRad="127000" dist="38100" dir="5400000">
              <a:srgbClr val="000000">
                <a:alpha val="35000"/>
              </a:srgbClr>
            </a:outerShdw>
          </a:effectLst>
        </p:spPr>
      </p:sp>
      <p:sp>
        <p:nvSpPr>
          <p:cNvPr id="21" name="Shape 19"/>
          <p:cNvSpPr/>
          <p:nvPr/>
        </p:nvSpPr>
        <p:spPr>
          <a:xfrm>
            <a:off x="886968" y="4251960"/>
            <a:ext cx="502920" cy="502920"/>
          </a:xfrm>
          <a:prstGeom prst="ellipse">
            <a:avLst/>
          </a:prstGeom>
          <a:solidFill>
            <a:srgbClr val="14A8A0"/>
          </a:solidFill>
          <a:ln/>
        </p:spPr>
      </p:sp>
      <p:sp>
        <p:nvSpPr>
          <p:cNvPr id="22" name="Text 20"/>
          <p:cNvSpPr/>
          <p:nvPr/>
        </p:nvSpPr>
        <p:spPr>
          <a:xfrm>
            <a:off x="886968" y="42428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Text 21"/>
          <p:cNvSpPr/>
          <p:nvPr/>
        </p:nvSpPr>
        <p:spPr>
          <a:xfrm>
            <a:off x="1572768" y="4251960"/>
            <a:ext cx="4114800" cy="502920"/>
          </a:xfrm>
          <a:prstGeom prst="rect">
            <a:avLst/>
          </a:prstGeom>
          <a:noFill/>
          <a:ln/>
        </p:spPr>
        <p:txBody>
          <a:bodyPr wrap="square" lIns="0" tIns="0" rIns="0" bIns="0" rtlCol="0" anchor="ctr"/>
          <a:lstStyle/>
          <a:p>
            <a:pPr indent="0" marL="0">
              <a:buNone/>
            </a:pPr>
            <a:r>
              <a:rPr lang="en-US" sz="1600" b="1" dirty="0">
                <a:solidFill>
                  <a:srgbClr val="F4A825"/>
                </a:solidFill>
                <a:latin typeface="Cambria" pitchFamily="34" charset="0"/>
                <a:ea typeface="Cambria" pitchFamily="34" charset="-122"/>
                <a:cs typeface="Cambria" pitchFamily="34" charset="-120"/>
              </a:rPr>
              <a:t>Synthesizable LZ77 in Verilog</a:t>
            </a:r>
            <a:endParaRPr lang="en-US" sz="1600" dirty="0"/>
          </a:p>
        </p:txBody>
      </p:sp>
      <p:sp>
        <p:nvSpPr>
          <p:cNvPr id="24" name="Text 22"/>
          <p:cNvSpPr/>
          <p:nvPr/>
        </p:nvSpPr>
        <p:spPr>
          <a:xfrm>
            <a:off x="932688" y="4892040"/>
            <a:ext cx="4663440" cy="777240"/>
          </a:xfrm>
          <a:prstGeom prst="rect">
            <a:avLst/>
          </a:prstGeom>
          <a:noFill/>
          <a:ln/>
        </p:spPr>
        <p:txBody>
          <a:bodyPr wrap="square" lIns="0" tIns="0" rIns="0" bIns="0" rtlCol="0" anchor="ctr"/>
          <a:lstStyle/>
          <a:p>
            <a:pPr indent="0" marL="0">
              <a:buNone/>
            </a:pPr>
            <a:r>
              <a:rPr lang="en-US" sz="1250" dirty="0">
                <a:solidFill>
                  <a:srgbClr val="C7D6E4"/>
                </a:solidFill>
                <a:latin typeface="Calibri" pitchFamily="34" charset="0"/>
                <a:ea typeface="Calibri" pitchFamily="34" charset="-122"/>
                <a:cs typeface="Calibri" pitchFamily="34" charset="-120"/>
              </a:rPr>
              <a:t>Block (memory-mapped) and streaming (handshake) codecs, byte-exact to the C reference.</a:t>
            </a:r>
            <a:endParaRPr lang="en-US" sz="1250" dirty="0"/>
          </a:p>
        </p:txBody>
      </p:sp>
      <p:sp>
        <p:nvSpPr>
          <p:cNvPr id="25" name="Shape 23"/>
          <p:cNvSpPr/>
          <p:nvPr/>
        </p:nvSpPr>
        <p:spPr>
          <a:xfrm>
            <a:off x="6236208" y="3931920"/>
            <a:ext cx="5394960" cy="1828800"/>
          </a:xfrm>
          <a:prstGeom prst="roundRect">
            <a:avLst>
              <a:gd name="adj" fmla="val 6000"/>
            </a:avLst>
          </a:prstGeom>
          <a:solidFill>
            <a:srgbClr val="12283D"/>
          </a:solidFill>
          <a:ln w="12700">
            <a:solidFill>
              <a:srgbClr val="274863"/>
            </a:solidFill>
            <a:prstDash val="solid"/>
          </a:ln>
          <a:effectLst>
            <a:outerShdw sx="100000" sy="100000" kx="0" ky="0" algn="bl" rotWithShape="0" blurRad="127000" dist="38100" dir="5400000">
              <a:srgbClr val="000000">
                <a:alpha val="35000"/>
              </a:srgbClr>
            </a:outerShdw>
          </a:effectLst>
        </p:spPr>
      </p:sp>
      <p:sp>
        <p:nvSpPr>
          <p:cNvPr id="26" name="Shape 24"/>
          <p:cNvSpPr/>
          <p:nvPr/>
        </p:nvSpPr>
        <p:spPr>
          <a:xfrm>
            <a:off x="6556248" y="4251960"/>
            <a:ext cx="502920" cy="502920"/>
          </a:xfrm>
          <a:prstGeom prst="ellipse">
            <a:avLst/>
          </a:prstGeom>
          <a:solidFill>
            <a:srgbClr val="14A8A0"/>
          </a:solidFill>
          <a:ln/>
        </p:spPr>
      </p:sp>
      <p:sp>
        <p:nvSpPr>
          <p:cNvPr id="27" name="Text 25"/>
          <p:cNvSpPr/>
          <p:nvPr/>
        </p:nvSpPr>
        <p:spPr>
          <a:xfrm>
            <a:off x="6556248" y="42428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Text 26"/>
          <p:cNvSpPr/>
          <p:nvPr/>
        </p:nvSpPr>
        <p:spPr>
          <a:xfrm>
            <a:off x="7242048" y="4251960"/>
            <a:ext cx="4114800" cy="502920"/>
          </a:xfrm>
          <a:prstGeom prst="rect">
            <a:avLst/>
          </a:prstGeom>
          <a:noFill/>
          <a:ln/>
        </p:spPr>
        <p:txBody>
          <a:bodyPr wrap="square" lIns="0" tIns="0" rIns="0" bIns="0" rtlCol="0" anchor="ctr"/>
          <a:lstStyle/>
          <a:p>
            <a:pPr indent="0" marL="0">
              <a:buNone/>
            </a:pPr>
            <a:r>
              <a:rPr lang="en-US" sz="1600" b="1" dirty="0">
                <a:solidFill>
                  <a:srgbClr val="F4A825"/>
                </a:solidFill>
                <a:latin typeface="Cambria" pitchFamily="34" charset="0"/>
                <a:ea typeface="Cambria" pitchFamily="34" charset="-122"/>
                <a:cs typeface="Cambria" pitchFamily="34" charset="-120"/>
              </a:rPr>
              <a:t>Fully verified end-to-end</a:t>
            </a:r>
            <a:endParaRPr lang="en-US" sz="1600" dirty="0"/>
          </a:p>
        </p:txBody>
      </p:sp>
      <p:sp>
        <p:nvSpPr>
          <p:cNvPr id="29" name="Text 27"/>
          <p:cNvSpPr/>
          <p:nvPr/>
        </p:nvSpPr>
        <p:spPr>
          <a:xfrm>
            <a:off x="6601968" y="4892040"/>
            <a:ext cx="4663440" cy="777240"/>
          </a:xfrm>
          <a:prstGeom prst="rect">
            <a:avLst/>
          </a:prstGeom>
          <a:noFill/>
          <a:ln/>
        </p:spPr>
        <p:txBody>
          <a:bodyPr wrap="square" lIns="0" tIns="0" rIns="0" bIns="0" rtlCol="0" anchor="ctr"/>
          <a:lstStyle/>
          <a:p>
            <a:pPr indent="0" marL="0">
              <a:buNone/>
            </a:pPr>
            <a:r>
              <a:rPr lang="en-US" sz="1250" dirty="0">
                <a:solidFill>
                  <a:srgbClr val="C7D6E4"/>
                </a:solidFill>
                <a:latin typeface="Calibri" pitchFamily="34" charset="0"/>
                <a:ea typeface="Calibri" pitchFamily="34" charset="-122"/>
                <a:cs typeface="Calibri" pitchFamily="34" charset="-120"/>
              </a:rPr>
              <a:t>Every FIFO and codec ships with a self-checking bench; one make validates the whole design.</a:t>
            </a:r>
            <a:endParaRPr lang="en-US" sz="1250" dirty="0"/>
          </a:p>
        </p:txBody>
      </p:sp>
      <p:sp>
        <p:nvSpPr>
          <p:cNvPr id="30" name="Text 28"/>
          <p:cNvSpPr/>
          <p:nvPr/>
        </p:nvSpPr>
        <p:spPr>
          <a:xfrm>
            <a:off x="566928" y="5989320"/>
            <a:ext cx="11064240" cy="457200"/>
          </a:xfrm>
          <a:prstGeom prst="rect">
            <a:avLst/>
          </a:prstGeom>
          <a:noFill/>
          <a:ln/>
        </p:spPr>
        <p:txBody>
          <a:bodyPr wrap="square" lIns="0" tIns="0" rIns="0" bIns="0" rtlCol="0" anchor="ctr"/>
          <a:lstStyle/>
          <a:p>
            <a:pPr algn="ctr" indent="0" marL="0">
              <a:buNone/>
            </a:pPr>
            <a:r>
              <a:rPr lang="en-US" sz="1500" b="1" i="1" dirty="0">
                <a:solidFill>
                  <a:srgbClr val="18C2B8"/>
                </a:solidFill>
                <a:latin typeface="Cambria" pitchFamily="34" charset="0"/>
                <a:ea typeface="Cambria" pitchFamily="34" charset="-122"/>
                <a:cs typeface="Cambria" pitchFamily="34" charset="-120"/>
              </a:rPr>
              <a:t>The sliding window is a FIFO — so a well-built FIFO library is the whole engine of an LZ77 compressor.</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566928" y="384048"/>
            <a:ext cx="10515600" cy="274320"/>
          </a:xfrm>
          <a:prstGeom prst="rect">
            <a:avLst/>
          </a:prstGeom>
          <a:noFill/>
          <a:ln/>
        </p:spPr>
        <p:txBody>
          <a:bodyPr wrap="square" lIns="0" tIns="0" rIns="0" bIns="0" rtlCol="0" anchor="ctr"/>
          <a:lstStyle/>
          <a:p>
            <a:pPr algn="l" indent="0" marL="0">
              <a:buNone/>
            </a:pPr>
            <a:r>
              <a:rPr lang="en-US" sz="1200" b="1" spc="200" kern="0" dirty="0">
                <a:solidFill>
                  <a:srgbClr val="14A8A0"/>
                </a:solidFill>
                <a:latin typeface="Calibri" pitchFamily="34" charset="0"/>
                <a:ea typeface="Calibri" pitchFamily="34" charset="-122"/>
                <a:cs typeface="Calibri" pitchFamily="34" charset="-120"/>
              </a:rPr>
              <a:t>WHAT'S NEXT</a:t>
            </a:r>
            <a:endParaRPr lang="en-US" sz="1200" dirty="0"/>
          </a:p>
        </p:txBody>
      </p:sp>
      <p:sp>
        <p:nvSpPr>
          <p:cNvPr id="4" name="Text 2"/>
          <p:cNvSpPr/>
          <p:nvPr/>
        </p:nvSpPr>
        <p:spPr>
          <a:xfrm>
            <a:off x="548640" y="640080"/>
            <a:ext cx="11064240" cy="658368"/>
          </a:xfrm>
          <a:prstGeom prst="rect">
            <a:avLst/>
          </a:prstGeom>
          <a:noFill/>
          <a:ln/>
        </p:spPr>
        <p:txBody>
          <a:bodyPr wrap="square" lIns="0" tIns="0" rIns="0" bIns="0" rtlCol="0" anchor="ctr"/>
          <a:lstStyle/>
          <a:p>
            <a:pPr algn="l" indent="0" marL="0">
              <a:buNone/>
            </a:pPr>
            <a:r>
              <a:rPr lang="en-US" sz="3100" b="1" dirty="0">
                <a:solidFill>
                  <a:srgbClr val="16324F"/>
                </a:solidFill>
                <a:latin typeface="Cambria" pitchFamily="34" charset="0"/>
                <a:ea typeface="Cambria" pitchFamily="34" charset="-122"/>
                <a:cs typeface="Cambria" pitchFamily="34" charset="-120"/>
              </a:rPr>
              <a:t>Future Scope</a:t>
            </a:r>
            <a:endParaRPr lang="en-US" sz="3100" dirty="0"/>
          </a:p>
        </p:txBody>
      </p:sp>
      <p:sp>
        <p:nvSpPr>
          <p:cNvPr id="5" name="Shape 3"/>
          <p:cNvSpPr/>
          <p:nvPr/>
        </p:nvSpPr>
        <p:spPr>
          <a:xfrm>
            <a:off x="566928" y="1645920"/>
            <a:ext cx="3566160" cy="4434840"/>
          </a:xfrm>
          <a:prstGeom prst="roundRect">
            <a:avLst>
              <a:gd name="adj" fmla="val 307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6" name="Shape 4"/>
          <p:cNvSpPr/>
          <p:nvPr/>
        </p:nvSpPr>
        <p:spPr>
          <a:xfrm>
            <a:off x="566928" y="1645920"/>
            <a:ext cx="3566160" cy="685800"/>
          </a:xfrm>
          <a:prstGeom prst="roundRect">
            <a:avLst>
              <a:gd name="adj" fmla="val 16000"/>
            </a:avLst>
          </a:prstGeom>
          <a:solidFill>
            <a:srgbClr val="14A8A0"/>
          </a:solidFill>
          <a:ln/>
        </p:spPr>
      </p:sp>
      <p:sp>
        <p:nvSpPr>
          <p:cNvPr id="7" name="Shape 5"/>
          <p:cNvSpPr/>
          <p:nvPr/>
        </p:nvSpPr>
        <p:spPr>
          <a:xfrm>
            <a:off x="566928" y="2011680"/>
            <a:ext cx="3566160" cy="320040"/>
          </a:xfrm>
          <a:prstGeom prst="rect">
            <a:avLst/>
          </a:prstGeom>
          <a:solidFill>
            <a:srgbClr val="14A8A0"/>
          </a:solidFill>
          <a:ln/>
        </p:spPr>
      </p:sp>
      <p:sp>
        <p:nvSpPr>
          <p:cNvPr id="8" name="Text 6"/>
          <p:cNvSpPr/>
          <p:nvPr/>
        </p:nvSpPr>
        <p:spPr>
          <a:xfrm>
            <a:off x="841248" y="1645920"/>
            <a:ext cx="3017520" cy="6858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Performance</a:t>
            </a:r>
            <a:endParaRPr lang="en-US" sz="1700" dirty="0"/>
          </a:p>
        </p:txBody>
      </p:sp>
      <p:sp>
        <p:nvSpPr>
          <p:cNvPr id="9" name="Shape 7"/>
          <p:cNvSpPr/>
          <p:nvPr/>
        </p:nvSpPr>
        <p:spPr>
          <a:xfrm>
            <a:off x="859536" y="2615184"/>
            <a:ext cx="237744" cy="237744"/>
          </a:xfrm>
          <a:prstGeom prst="ellipse">
            <a:avLst/>
          </a:prstGeom>
          <a:solidFill>
            <a:srgbClr val="14A8A0"/>
          </a:solidFill>
          <a:ln/>
        </p:spPr>
      </p:sp>
      <p:sp>
        <p:nvSpPr>
          <p:cNvPr id="10" name="Text 8"/>
          <p:cNvSpPr/>
          <p:nvPr/>
        </p:nvSpPr>
        <p:spPr>
          <a:xfrm>
            <a:off x="859536" y="259689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1225296" y="2560320"/>
            <a:ext cx="2651760" cy="292608"/>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Pipeline the matching engine</a:t>
            </a:r>
            <a:endParaRPr lang="en-US" sz="1300" dirty="0"/>
          </a:p>
        </p:txBody>
      </p:sp>
      <p:sp>
        <p:nvSpPr>
          <p:cNvPr id="12" name="Text 10"/>
          <p:cNvSpPr/>
          <p:nvPr/>
        </p:nvSpPr>
        <p:spPr>
          <a:xfrm>
            <a:off x="1225296" y="2834640"/>
            <a:ext cx="265176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overlap search &amp; emit for higher throughput</a:t>
            </a:r>
            <a:endParaRPr lang="en-US" sz="1050" dirty="0"/>
          </a:p>
        </p:txBody>
      </p:sp>
      <p:sp>
        <p:nvSpPr>
          <p:cNvPr id="13" name="Shape 11"/>
          <p:cNvSpPr/>
          <p:nvPr/>
        </p:nvSpPr>
        <p:spPr>
          <a:xfrm>
            <a:off x="859536" y="3483864"/>
            <a:ext cx="237744" cy="237744"/>
          </a:xfrm>
          <a:prstGeom prst="ellipse">
            <a:avLst/>
          </a:prstGeom>
          <a:solidFill>
            <a:srgbClr val="14A8A0"/>
          </a:solidFill>
          <a:ln/>
        </p:spPr>
      </p:sp>
      <p:sp>
        <p:nvSpPr>
          <p:cNvPr id="14" name="Text 12"/>
          <p:cNvSpPr/>
          <p:nvPr/>
        </p:nvSpPr>
        <p:spPr>
          <a:xfrm>
            <a:off x="859536" y="346557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1225296" y="3429000"/>
            <a:ext cx="2651760" cy="292608"/>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Parallel matching units</a:t>
            </a:r>
            <a:endParaRPr lang="en-US" sz="1300" dirty="0"/>
          </a:p>
        </p:txBody>
      </p:sp>
      <p:sp>
        <p:nvSpPr>
          <p:cNvPr id="16" name="Text 14"/>
          <p:cNvSpPr/>
          <p:nvPr/>
        </p:nvSpPr>
        <p:spPr>
          <a:xfrm>
            <a:off x="1225296" y="3703320"/>
            <a:ext cx="265176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compare many offsets per cycle</a:t>
            </a:r>
            <a:endParaRPr lang="en-US" sz="1050" dirty="0"/>
          </a:p>
        </p:txBody>
      </p:sp>
      <p:sp>
        <p:nvSpPr>
          <p:cNvPr id="17" name="Shape 15"/>
          <p:cNvSpPr/>
          <p:nvPr/>
        </p:nvSpPr>
        <p:spPr>
          <a:xfrm>
            <a:off x="859536" y="4352544"/>
            <a:ext cx="237744" cy="237744"/>
          </a:xfrm>
          <a:prstGeom prst="ellipse">
            <a:avLst/>
          </a:prstGeom>
          <a:solidFill>
            <a:srgbClr val="14A8A0"/>
          </a:solidFill>
          <a:ln/>
        </p:spPr>
      </p:sp>
      <p:sp>
        <p:nvSpPr>
          <p:cNvPr id="18" name="Text 16"/>
          <p:cNvSpPr/>
          <p:nvPr/>
        </p:nvSpPr>
        <p:spPr>
          <a:xfrm>
            <a:off x="859536" y="433425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225296" y="4297680"/>
            <a:ext cx="2651760" cy="292608"/>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Real-time high-speed compression</a:t>
            </a:r>
            <a:endParaRPr lang="en-US" sz="1300" dirty="0"/>
          </a:p>
        </p:txBody>
      </p:sp>
      <p:sp>
        <p:nvSpPr>
          <p:cNvPr id="20" name="Text 18"/>
          <p:cNvSpPr/>
          <p:nvPr/>
        </p:nvSpPr>
        <p:spPr>
          <a:xfrm>
            <a:off x="1225296" y="4572000"/>
            <a:ext cx="265176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sustain line-rate on fast links</a:t>
            </a:r>
            <a:endParaRPr lang="en-US" sz="1050" dirty="0"/>
          </a:p>
        </p:txBody>
      </p:sp>
      <p:sp>
        <p:nvSpPr>
          <p:cNvPr id="21" name="Shape 19"/>
          <p:cNvSpPr/>
          <p:nvPr/>
        </p:nvSpPr>
        <p:spPr>
          <a:xfrm>
            <a:off x="4389120" y="1645920"/>
            <a:ext cx="3566160" cy="4434840"/>
          </a:xfrm>
          <a:prstGeom prst="roundRect">
            <a:avLst>
              <a:gd name="adj" fmla="val 307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22" name="Shape 20"/>
          <p:cNvSpPr/>
          <p:nvPr/>
        </p:nvSpPr>
        <p:spPr>
          <a:xfrm>
            <a:off x="4389120" y="1645920"/>
            <a:ext cx="3566160" cy="685800"/>
          </a:xfrm>
          <a:prstGeom prst="roundRect">
            <a:avLst>
              <a:gd name="adj" fmla="val 16000"/>
            </a:avLst>
          </a:prstGeom>
          <a:solidFill>
            <a:srgbClr val="F4A825"/>
          </a:solidFill>
          <a:ln/>
        </p:spPr>
      </p:sp>
      <p:sp>
        <p:nvSpPr>
          <p:cNvPr id="23" name="Shape 21"/>
          <p:cNvSpPr/>
          <p:nvPr/>
        </p:nvSpPr>
        <p:spPr>
          <a:xfrm>
            <a:off x="4389120" y="2011680"/>
            <a:ext cx="3566160" cy="320040"/>
          </a:xfrm>
          <a:prstGeom prst="rect">
            <a:avLst/>
          </a:prstGeom>
          <a:solidFill>
            <a:srgbClr val="F4A825"/>
          </a:solidFill>
          <a:ln/>
        </p:spPr>
      </p:sp>
      <p:sp>
        <p:nvSpPr>
          <p:cNvPr id="24" name="Text 22"/>
          <p:cNvSpPr/>
          <p:nvPr/>
        </p:nvSpPr>
        <p:spPr>
          <a:xfrm>
            <a:off x="4663440" y="1645920"/>
            <a:ext cx="3017520" cy="685800"/>
          </a:xfrm>
          <a:prstGeom prst="rect">
            <a:avLst/>
          </a:prstGeom>
          <a:noFill/>
          <a:ln/>
        </p:spPr>
        <p:txBody>
          <a:bodyPr wrap="square" lIns="0" tIns="0" rIns="0" bIns="0" rtlCol="0" anchor="ctr"/>
          <a:lstStyle/>
          <a:p>
            <a:pPr indent="0" marL="0">
              <a:buNone/>
            </a:pPr>
            <a:r>
              <a:rPr lang="en-US" sz="1700" b="1" dirty="0">
                <a:solidFill>
                  <a:srgbClr val="16324F"/>
                </a:solidFill>
                <a:latin typeface="Cambria" pitchFamily="34" charset="0"/>
                <a:ea typeface="Cambria" pitchFamily="34" charset="-122"/>
                <a:cs typeface="Cambria" pitchFamily="34" charset="-120"/>
              </a:rPr>
              <a:t>Compression ratio</a:t>
            </a:r>
            <a:endParaRPr lang="en-US" sz="1700" dirty="0"/>
          </a:p>
        </p:txBody>
      </p:sp>
      <p:sp>
        <p:nvSpPr>
          <p:cNvPr id="25" name="Shape 23"/>
          <p:cNvSpPr/>
          <p:nvPr/>
        </p:nvSpPr>
        <p:spPr>
          <a:xfrm>
            <a:off x="4681728" y="2615184"/>
            <a:ext cx="237744" cy="237744"/>
          </a:xfrm>
          <a:prstGeom prst="ellipse">
            <a:avLst/>
          </a:prstGeom>
          <a:solidFill>
            <a:srgbClr val="F4A825"/>
          </a:solidFill>
          <a:ln/>
        </p:spPr>
      </p:sp>
      <p:sp>
        <p:nvSpPr>
          <p:cNvPr id="26" name="Text 24"/>
          <p:cNvSpPr/>
          <p:nvPr/>
        </p:nvSpPr>
        <p:spPr>
          <a:xfrm>
            <a:off x="4681728" y="2596896"/>
            <a:ext cx="237744" cy="237744"/>
          </a:xfrm>
          <a:prstGeom prst="rect">
            <a:avLst/>
          </a:prstGeom>
          <a:noFill/>
          <a:ln/>
        </p:spPr>
        <p:txBody>
          <a:bodyPr wrap="square" lIns="0" tIns="0" rIns="0" bIns="0" rtlCol="0" anchor="ctr"/>
          <a:lstStyle/>
          <a:p>
            <a:pPr algn="ctr" indent="0" marL="0">
              <a:buNone/>
            </a:pPr>
            <a:r>
              <a:rPr lang="en-US" sz="1100" b="1" dirty="0">
                <a:solidFill>
                  <a:srgbClr val="16324F"/>
                </a:solidFill>
                <a:latin typeface="Calibri" pitchFamily="34" charset="0"/>
                <a:ea typeface="Calibri" pitchFamily="34" charset="-122"/>
                <a:cs typeface="Calibri" pitchFamily="34" charset="-120"/>
              </a:rPr>
              <a:t>1</a:t>
            </a:r>
            <a:endParaRPr lang="en-US" sz="1100" dirty="0"/>
          </a:p>
        </p:txBody>
      </p:sp>
      <p:sp>
        <p:nvSpPr>
          <p:cNvPr id="27" name="Text 25"/>
          <p:cNvSpPr/>
          <p:nvPr/>
        </p:nvSpPr>
        <p:spPr>
          <a:xfrm>
            <a:off x="5047488" y="2560320"/>
            <a:ext cx="2651760" cy="292608"/>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Larger search buffer</a:t>
            </a:r>
            <a:endParaRPr lang="en-US" sz="1300" dirty="0"/>
          </a:p>
        </p:txBody>
      </p:sp>
      <p:sp>
        <p:nvSpPr>
          <p:cNvPr id="28" name="Text 26"/>
          <p:cNvSpPr/>
          <p:nvPr/>
        </p:nvSpPr>
        <p:spPr>
          <a:xfrm>
            <a:off x="5047488" y="2834640"/>
            <a:ext cx="265176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find longer / farther-back matches</a:t>
            </a:r>
            <a:endParaRPr lang="en-US" sz="1050" dirty="0"/>
          </a:p>
        </p:txBody>
      </p:sp>
      <p:sp>
        <p:nvSpPr>
          <p:cNvPr id="29" name="Shape 27"/>
          <p:cNvSpPr/>
          <p:nvPr/>
        </p:nvSpPr>
        <p:spPr>
          <a:xfrm>
            <a:off x="4681728" y="3483864"/>
            <a:ext cx="237744" cy="237744"/>
          </a:xfrm>
          <a:prstGeom prst="ellipse">
            <a:avLst/>
          </a:prstGeom>
          <a:solidFill>
            <a:srgbClr val="F4A825"/>
          </a:solidFill>
          <a:ln/>
        </p:spPr>
      </p:sp>
      <p:sp>
        <p:nvSpPr>
          <p:cNvPr id="30" name="Text 28"/>
          <p:cNvSpPr/>
          <p:nvPr/>
        </p:nvSpPr>
        <p:spPr>
          <a:xfrm>
            <a:off x="4681728" y="3465576"/>
            <a:ext cx="237744" cy="237744"/>
          </a:xfrm>
          <a:prstGeom prst="rect">
            <a:avLst/>
          </a:prstGeom>
          <a:noFill/>
          <a:ln/>
        </p:spPr>
        <p:txBody>
          <a:bodyPr wrap="square" lIns="0" tIns="0" rIns="0" bIns="0" rtlCol="0" anchor="ctr"/>
          <a:lstStyle/>
          <a:p>
            <a:pPr algn="ctr" indent="0" marL="0">
              <a:buNone/>
            </a:pPr>
            <a:r>
              <a:rPr lang="en-US" sz="1100" b="1" dirty="0">
                <a:solidFill>
                  <a:srgbClr val="16324F"/>
                </a:solidFill>
                <a:latin typeface="Calibri" pitchFamily="34" charset="0"/>
                <a:ea typeface="Calibri" pitchFamily="34" charset="-122"/>
                <a:cs typeface="Calibri" pitchFamily="34" charset="-120"/>
              </a:rPr>
              <a:t>2</a:t>
            </a:r>
            <a:endParaRPr lang="en-US" sz="1100" dirty="0"/>
          </a:p>
        </p:txBody>
      </p:sp>
      <p:sp>
        <p:nvSpPr>
          <p:cNvPr id="31" name="Text 29"/>
          <p:cNvSpPr/>
          <p:nvPr/>
        </p:nvSpPr>
        <p:spPr>
          <a:xfrm>
            <a:off x="5047488" y="3429000"/>
            <a:ext cx="2651760" cy="292608"/>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Huffman back-end</a:t>
            </a:r>
            <a:endParaRPr lang="en-US" sz="1300" dirty="0"/>
          </a:p>
        </p:txBody>
      </p:sp>
      <p:sp>
        <p:nvSpPr>
          <p:cNvPr id="32" name="Text 30"/>
          <p:cNvSpPr/>
          <p:nvPr/>
        </p:nvSpPr>
        <p:spPr>
          <a:xfrm>
            <a:off x="5047488" y="3703320"/>
            <a:ext cx="265176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entropy-code the token stream (→ DEFLATE-like)</a:t>
            </a:r>
            <a:endParaRPr lang="en-US" sz="1050" dirty="0"/>
          </a:p>
        </p:txBody>
      </p:sp>
      <p:sp>
        <p:nvSpPr>
          <p:cNvPr id="33" name="Shape 31"/>
          <p:cNvSpPr/>
          <p:nvPr/>
        </p:nvSpPr>
        <p:spPr>
          <a:xfrm>
            <a:off x="4681728" y="4352544"/>
            <a:ext cx="237744" cy="237744"/>
          </a:xfrm>
          <a:prstGeom prst="ellipse">
            <a:avLst/>
          </a:prstGeom>
          <a:solidFill>
            <a:srgbClr val="F4A825"/>
          </a:solidFill>
          <a:ln/>
        </p:spPr>
      </p:sp>
      <p:sp>
        <p:nvSpPr>
          <p:cNvPr id="34" name="Text 32"/>
          <p:cNvSpPr/>
          <p:nvPr/>
        </p:nvSpPr>
        <p:spPr>
          <a:xfrm>
            <a:off x="4681728" y="4334256"/>
            <a:ext cx="237744" cy="237744"/>
          </a:xfrm>
          <a:prstGeom prst="rect">
            <a:avLst/>
          </a:prstGeom>
          <a:noFill/>
          <a:ln/>
        </p:spPr>
        <p:txBody>
          <a:bodyPr wrap="square" lIns="0" tIns="0" rIns="0" bIns="0" rtlCol="0" anchor="ctr"/>
          <a:lstStyle/>
          <a:p>
            <a:pPr algn="ctr" indent="0" marL="0">
              <a:buNone/>
            </a:pPr>
            <a:r>
              <a:rPr lang="en-US" sz="1100" b="1" dirty="0">
                <a:solidFill>
                  <a:srgbClr val="16324F"/>
                </a:solidFill>
                <a:latin typeface="Calibri" pitchFamily="34" charset="0"/>
                <a:ea typeface="Calibri" pitchFamily="34" charset="-122"/>
                <a:cs typeface="Calibri" pitchFamily="34" charset="-120"/>
              </a:rPr>
              <a:t>3</a:t>
            </a:r>
            <a:endParaRPr lang="en-US" sz="1100" dirty="0"/>
          </a:p>
        </p:txBody>
      </p:sp>
      <p:sp>
        <p:nvSpPr>
          <p:cNvPr id="35" name="Text 33"/>
          <p:cNvSpPr/>
          <p:nvPr/>
        </p:nvSpPr>
        <p:spPr>
          <a:xfrm>
            <a:off x="5047488" y="4297680"/>
            <a:ext cx="2651760" cy="292608"/>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Higher compression ratio</a:t>
            </a:r>
            <a:endParaRPr lang="en-US" sz="1300" dirty="0"/>
          </a:p>
        </p:txBody>
      </p:sp>
      <p:sp>
        <p:nvSpPr>
          <p:cNvPr id="36" name="Text 34"/>
          <p:cNvSpPr/>
          <p:nvPr/>
        </p:nvSpPr>
        <p:spPr>
          <a:xfrm>
            <a:off x="5047488" y="4572000"/>
            <a:ext cx="265176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tune window &amp; match limits</a:t>
            </a:r>
            <a:endParaRPr lang="en-US" sz="1050" dirty="0"/>
          </a:p>
        </p:txBody>
      </p:sp>
      <p:sp>
        <p:nvSpPr>
          <p:cNvPr id="37" name="Shape 35"/>
          <p:cNvSpPr/>
          <p:nvPr/>
        </p:nvSpPr>
        <p:spPr>
          <a:xfrm>
            <a:off x="8211312" y="1645920"/>
            <a:ext cx="3566160" cy="4434840"/>
          </a:xfrm>
          <a:prstGeom prst="roundRect">
            <a:avLst>
              <a:gd name="adj" fmla="val 3077"/>
            </a:avLst>
          </a:prstGeom>
          <a:solidFill>
            <a:srgbClr val="F1F5F9"/>
          </a:solidFill>
          <a:ln w="12700">
            <a:solidFill>
              <a:srgbClr val="D3DEE8"/>
            </a:solidFill>
            <a:prstDash val="solid"/>
          </a:ln>
          <a:effectLst>
            <a:outerShdw sx="100000" sy="100000" kx="0" ky="0" algn="bl" rotWithShape="0" blurRad="114300" dist="38100" dir="5400000">
              <a:srgbClr val="1B3A5B">
                <a:alpha val="20000"/>
              </a:srgbClr>
            </a:outerShdw>
          </a:effectLst>
        </p:spPr>
      </p:sp>
      <p:sp>
        <p:nvSpPr>
          <p:cNvPr id="38" name="Shape 36"/>
          <p:cNvSpPr/>
          <p:nvPr/>
        </p:nvSpPr>
        <p:spPr>
          <a:xfrm>
            <a:off x="8211312" y="1645920"/>
            <a:ext cx="3566160" cy="685800"/>
          </a:xfrm>
          <a:prstGeom prst="roundRect">
            <a:avLst>
              <a:gd name="adj" fmla="val 16000"/>
            </a:avLst>
          </a:prstGeom>
          <a:solidFill>
            <a:srgbClr val="1B3A5B"/>
          </a:solidFill>
          <a:ln/>
        </p:spPr>
      </p:sp>
      <p:sp>
        <p:nvSpPr>
          <p:cNvPr id="39" name="Shape 37"/>
          <p:cNvSpPr/>
          <p:nvPr/>
        </p:nvSpPr>
        <p:spPr>
          <a:xfrm>
            <a:off x="8211312" y="2011680"/>
            <a:ext cx="3566160" cy="320040"/>
          </a:xfrm>
          <a:prstGeom prst="rect">
            <a:avLst/>
          </a:prstGeom>
          <a:solidFill>
            <a:srgbClr val="1B3A5B"/>
          </a:solidFill>
          <a:ln/>
        </p:spPr>
      </p:sp>
      <p:sp>
        <p:nvSpPr>
          <p:cNvPr id="40" name="Text 38"/>
          <p:cNvSpPr/>
          <p:nvPr/>
        </p:nvSpPr>
        <p:spPr>
          <a:xfrm>
            <a:off x="8485632" y="1645920"/>
            <a:ext cx="3017520" cy="6858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Silicon path</a:t>
            </a:r>
            <a:endParaRPr lang="en-US" sz="1700" dirty="0"/>
          </a:p>
        </p:txBody>
      </p:sp>
      <p:sp>
        <p:nvSpPr>
          <p:cNvPr id="41" name="Shape 39"/>
          <p:cNvSpPr/>
          <p:nvPr/>
        </p:nvSpPr>
        <p:spPr>
          <a:xfrm>
            <a:off x="8503920" y="2615184"/>
            <a:ext cx="237744" cy="237744"/>
          </a:xfrm>
          <a:prstGeom prst="ellipse">
            <a:avLst/>
          </a:prstGeom>
          <a:solidFill>
            <a:srgbClr val="1B3A5B"/>
          </a:solidFill>
          <a:ln/>
        </p:spPr>
      </p:sp>
      <p:sp>
        <p:nvSpPr>
          <p:cNvPr id="42" name="Text 40"/>
          <p:cNvSpPr/>
          <p:nvPr/>
        </p:nvSpPr>
        <p:spPr>
          <a:xfrm>
            <a:off x="8503920" y="259689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3" name="Text 41"/>
          <p:cNvSpPr/>
          <p:nvPr/>
        </p:nvSpPr>
        <p:spPr>
          <a:xfrm>
            <a:off x="8869680" y="2560320"/>
            <a:ext cx="2651760" cy="292608"/>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FPGA implementation</a:t>
            </a:r>
            <a:endParaRPr lang="en-US" sz="1300" dirty="0"/>
          </a:p>
        </p:txBody>
      </p:sp>
      <p:sp>
        <p:nvSpPr>
          <p:cNvPr id="44" name="Text 42"/>
          <p:cNvSpPr/>
          <p:nvPr/>
        </p:nvSpPr>
        <p:spPr>
          <a:xfrm>
            <a:off x="8869680" y="2834640"/>
            <a:ext cx="265176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synthesize, place &amp; route, measure Fmax / LUTs</a:t>
            </a:r>
            <a:endParaRPr lang="en-US" sz="1050" dirty="0"/>
          </a:p>
        </p:txBody>
      </p:sp>
      <p:sp>
        <p:nvSpPr>
          <p:cNvPr id="45" name="Shape 43"/>
          <p:cNvSpPr/>
          <p:nvPr/>
        </p:nvSpPr>
        <p:spPr>
          <a:xfrm>
            <a:off x="8503920" y="3483864"/>
            <a:ext cx="237744" cy="237744"/>
          </a:xfrm>
          <a:prstGeom prst="ellipse">
            <a:avLst/>
          </a:prstGeom>
          <a:solidFill>
            <a:srgbClr val="1B3A5B"/>
          </a:solidFill>
          <a:ln/>
        </p:spPr>
      </p:sp>
      <p:sp>
        <p:nvSpPr>
          <p:cNvPr id="46" name="Text 44"/>
          <p:cNvSpPr/>
          <p:nvPr/>
        </p:nvSpPr>
        <p:spPr>
          <a:xfrm>
            <a:off x="8503920" y="346557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7" name="Text 45"/>
          <p:cNvSpPr/>
          <p:nvPr/>
        </p:nvSpPr>
        <p:spPr>
          <a:xfrm>
            <a:off x="8869680" y="3429000"/>
            <a:ext cx="2651760" cy="292608"/>
          </a:xfrm>
          <a:prstGeom prst="rect">
            <a:avLst/>
          </a:prstGeom>
          <a:noFill/>
          <a:ln/>
        </p:spPr>
        <p:txBody>
          <a:bodyPr wrap="square" lIns="0" tIns="0" rIns="0" bIns="0" rtlCol="0" anchor="ctr"/>
          <a:lstStyle/>
          <a:p>
            <a:pPr indent="0" marL="0">
              <a:buNone/>
            </a:pPr>
            <a:r>
              <a:rPr lang="en-US" sz="1300" b="1" dirty="0">
                <a:solidFill>
                  <a:srgbClr val="16324F"/>
                </a:solidFill>
                <a:latin typeface="Cambria" pitchFamily="34" charset="0"/>
                <a:ea typeface="Cambria" pitchFamily="34" charset="-122"/>
                <a:cs typeface="Cambria" pitchFamily="34" charset="-120"/>
              </a:rPr>
              <a:t>ASIC design</a:t>
            </a:r>
            <a:endParaRPr lang="en-US" sz="1300" dirty="0"/>
          </a:p>
        </p:txBody>
      </p:sp>
      <p:sp>
        <p:nvSpPr>
          <p:cNvPr id="48" name="Text 46"/>
          <p:cNvSpPr/>
          <p:nvPr/>
        </p:nvSpPr>
        <p:spPr>
          <a:xfrm>
            <a:off x="8869680" y="3703320"/>
            <a:ext cx="2651760" cy="45720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push toward a hardened compression block</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2026-07-09T19:11:45Z</dcterms:created>
  <dcterms:modified xsi:type="dcterms:W3CDTF">2026-07-09T19:11:45Z</dcterms:modified>
</cp:coreProperties>
</file>